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5" r:id="rId3"/>
    <p:sldId id="266" r:id="rId4"/>
    <p:sldId id="278" r:id="rId5"/>
    <p:sldId id="264" r:id="rId6"/>
    <p:sldId id="274" r:id="rId7"/>
    <p:sldId id="267" r:id="rId8"/>
    <p:sldId id="273" r:id="rId9"/>
    <p:sldId id="269" r:id="rId10"/>
    <p:sldId id="275" r:id="rId11"/>
    <p:sldId id="270"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1" autoAdjust="0"/>
    <p:restoredTop sz="94660"/>
  </p:normalViewPr>
  <p:slideViewPr>
    <p:cSldViewPr snapToGrid="0">
      <p:cViewPr varScale="1">
        <p:scale>
          <a:sx n="107" d="100"/>
          <a:sy n="107"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75DB-0F04-4DF4-96D0-A19B4AE086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2F227B-E3AE-4FF8-B4E8-24F09A4A67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5F04AB-A636-45C0-94F1-63DDA6026B23}"/>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1C167E2A-0CB9-44F4-8C8A-621FD82AE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69156-0E25-4195-A560-49CE88D179B7}"/>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2742256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F1E0-9F32-4001-A840-113CD3981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E0BAA3-4E17-43E2-B255-84E0C85644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E083D-082C-43FA-A836-DA56639DEA57}"/>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0F733E16-9AE1-4B02-A53F-B0402E3179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4E818-F6C4-46F9-ABD5-8E10265FBB93}"/>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375369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04A7B-186B-4ABD-9389-66726D5A53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D95830-4DF1-4F51-BCB0-720B4AB6A5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E6727E-5022-4F80-9FD3-DD14C87ED2F2}"/>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A0BDB58F-97FE-4DA9-BB7D-F5B0D9D7E2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B8B090-C238-4FF0-8352-23C91EEFD7D6}"/>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2403137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E5D0-1C37-4AFC-B98C-8913B79FF8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EB5D41-23AD-4ED6-92ED-D53645D06C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8DE6B8-F792-4D18-A0F7-E9596F8910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31BF06-BF12-43E5-B5BF-82EDD3A61BB7}"/>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6" name="Footer Placeholder 5">
            <a:extLst>
              <a:ext uri="{FF2B5EF4-FFF2-40B4-BE49-F238E27FC236}">
                <a16:creationId xmlns:a16="http://schemas.microsoft.com/office/drawing/2014/main" id="{07C41E99-DCBA-416D-B7CB-6EC69E2B2D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DFA20-8E56-4FCD-A3AB-40CBC3C492F1}"/>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1914062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C8CD-01DB-4A61-8057-7C80051F26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37ACB2-D7D1-45F7-A77C-963EA9BB0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C400AF-28EF-4107-A828-3AC3EB604C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152BEA-94ED-4833-9139-3FC934DD3F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AC9BCD-804C-4A4E-BE15-A76CE7DBF0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6B9E7D-EA72-4C7D-BB90-082B6305E6ED}"/>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8" name="Footer Placeholder 7">
            <a:extLst>
              <a:ext uri="{FF2B5EF4-FFF2-40B4-BE49-F238E27FC236}">
                <a16:creationId xmlns:a16="http://schemas.microsoft.com/office/drawing/2014/main" id="{8EBCB0BE-87C1-4A03-A08D-ED80AE376B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0C91F5-0341-47EA-934D-6294B4978A85}"/>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2801156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72925-74FB-49C2-965E-E930691161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8059B1-F9F6-4C62-983E-BF399A778214}"/>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4" name="Footer Placeholder 3">
            <a:extLst>
              <a:ext uri="{FF2B5EF4-FFF2-40B4-BE49-F238E27FC236}">
                <a16:creationId xmlns:a16="http://schemas.microsoft.com/office/drawing/2014/main" id="{CEA14EAD-4A63-410A-A7E8-B2E09F4D9D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9B78A5-0566-4BD0-A0F8-76D4CABBB354}"/>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1914514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44D12B-4029-4129-A6C4-1A070D9F7E62}"/>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3" name="Footer Placeholder 2">
            <a:extLst>
              <a:ext uri="{FF2B5EF4-FFF2-40B4-BE49-F238E27FC236}">
                <a16:creationId xmlns:a16="http://schemas.microsoft.com/office/drawing/2014/main" id="{9C7D9FA2-FA98-49A8-AEC5-F4599044FC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8245B7-9B23-464F-B08C-D46EFEDB9B03}"/>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291744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C2FE-DCD9-424C-9682-CD53F1C64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B36659-4DCC-43D8-A532-B8BA360209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656556-C82E-4CA7-8995-A8EE8D614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D79C07-7E84-45C6-AF1D-44D247FF7063}"/>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6" name="Footer Placeholder 5">
            <a:extLst>
              <a:ext uri="{FF2B5EF4-FFF2-40B4-BE49-F238E27FC236}">
                <a16:creationId xmlns:a16="http://schemas.microsoft.com/office/drawing/2014/main" id="{2CD6614B-30C3-4CE2-8FB1-3A770DA4F7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A0C75-A43E-4072-BEF9-C88FC06F3E40}"/>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3178959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0A7A-2486-41E8-96A4-669DD0B49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153653-75D5-44FF-978D-91142ED7D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4BEE7E-DDF7-437B-A488-91A97D107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987C85-9229-4E4D-A640-0C3D945CB67E}"/>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6" name="Footer Placeholder 5">
            <a:extLst>
              <a:ext uri="{FF2B5EF4-FFF2-40B4-BE49-F238E27FC236}">
                <a16:creationId xmlns:a16="http://schemas.microsoft.com/office/drawing/2014/main" id="{EB93B9CB-4C8E-42AA-A277-5603F77579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D133B3-CD19-4897-90C0-EFA0BBA49A8E}"/>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790894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8367F-ADC6-4F9F-BC83-3528A7182A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EC6678-B65B-4C8E-B708-32C1881633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F477C1-ED1F-47AE-BCAD-C166D9A7BFDF}"/>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F8CF8A34-6498-4B1C-812F-7A1E13C1E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D1CC5-26C8-4AB6-B3D9-A0F9159842D2}"/>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1848787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FDCA4D-1B0F-4023-815A-2E4FCB88C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FB3DF-05BA-4EFE-B3ED-85EDA307A5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28CC6-DE4F-4C38-9B8A-F87840B6C6E7}"/>
              </a:ext>
            </a:extLst>
          </p:cNvPr>
          <p:cNvSpPr>
            <a:spLocks noGrp="1"/>
          </p:cNvSpPr>
          <p:nvPr>
            <p:ph type="dt" sz="half" idx="10"/>
          </p:nvPr>
        </p:nvSpPr>
        <p:spPr/>
        <p:txBody>
          <a:body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3442E0DD-3325-4CFF-BCB2-5F0CD0D25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9FDF-AE59-4F9C-8AC2-604D54AAAA9F}"/>
              </a:ext>
            </a:extLst>
          </p:cNvPr>
          <p:cNvSpPr>
            <a:spLocks noGrp="1"/>
          </p:cNvSpPr>
          <p:nvPr>
            <p:ph type="sldNum" sz="quarter" idx="12"/>
          </p:nvPr>
        </p:nvSpPr>
        <p:spPr/>
        <p:txBody>
          <a:bodyPr/>
          <a:lstStyle/>
          <a:p>
            <a:fld id="{17DF9047-F57E-40FE-9247-DF9D55398FDC}" type="slidenum">
              <a:rPr lang="en-US" smtClean="0"/>
              <a:t>‹#›</a:t>
            </a:fld>
            <a:endParaRPr lang="en-US"/>
          </a:p>
        </p:txBody>
      </p:sp>
    </p:spTree>
    <p:extLst>
      <p:ext uri="{BB962C8B-B14F-4D97-AF65-F5344CB8AC3E}">
        <p14:creationId xmlns:p14="http://schemas.microsoft.com/office/powerpoint/2010/main" val="2834249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C0E647-313A-44A7-9824-D3AA9F2C51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C2F79F-63FA-41E9-BFA4-D14AE5C93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3DC346-B610-4E37-91B7-1BE8EE1A3F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37F397-1389-439D-B506-690C1B916339}" type="datetimeFigureOut">
              <a:rPr lang="en-US" smtClean="0"/>
              <a:t>10/23/2025</a:t>
            </a:fld>
            <a:endParaRPr lang="en-US"/>
          </a:p>
        </p:txBody>
      </p:sp>
      <p:sp>
        <p:nvSpPr>
          <p:cNvPr id="5" name="Footer Placeholder 4">
            <a:extLst>
              <a:ext uri="{FF2B5EF4-FFF2-40B4-BE49-F238E27FC236}">
                <a16:creationId xmlns:a16="http://schemas.microsoft.com/office/drawing/2014/main" id="{05104429-A5D7-411B-BAE7-7335430B63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FF7257-9A59-4756-BFCE-73C05DD20C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DF9047-F57E-40FE-9247-DF9D55398FDC}" type="slidenum">
              <a:rPr lang="en-US" smtClean="0"/>
              <a:t>‹#›</a:t>
            </a:fld>
            <a:endParaRPr lang="en-US"/>
          </a:p>
        </p:txBody>
      </p:sp>
    </p:spTree>
    <p:extLst>
      <p:ext uri="{BB962C8B-B14F-4D97-AF65-F5344CB8AC3E}">
        <p14:creationId xmlns:p14="http://schemas.microsoft.com/office/powerpoint/2010/main" val="2939566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C59BB89-CC9B-43DC-AFD9-68C399F93DE1}"/>
              </a:ext>
            </a:extLst>
          </p:cNvPr>
          <p:cNvPicPr>
            <a:picLocks noChangeAspect="1"/>
          </p:cNvPicPr>
          <p:nvPr/>
        </p:nvPicPr>
        <p:blipFill rotWithShape="1">
          <a:blip r:embed="rId2"/>
          <a:srcRect t="13655" b="2075"/>
          <a:stretch/>
        </p:blipFill>
        <p:spPr>
          <a:xfrm>
            <a:off x="-3047" y="8888"/>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7019B4-C2E4-49A3-B57E-E87B03073215}"/>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dirty="0" err="1">
                <a:solidFill>
                  <a:srgbClr val="FFFFFF"/>
                </a:solidFill>
              </a:rPr>
              <a:t>splitEvensOdds</a:t>
            </a:r>
            <a:r>
              <a:rPr lang="en-US" sz="5200" dirty="0">
                <a:solidFill>
                  <a:srgbClr val="FFFFFF"/>
                </a:solidFill>
              </a:rPr>
              <a:t> Example</a:t>
            </a:r>
          </a:p>
        </p:txBody>
      </p:sp>
      <p:sp>
        <p:nvSpPr>
          <p:cNvPr id="3" name="Subtitle 2">
            <a:extLst>
              <a:ext uri="{FF2B5EF4-FFF2-40B4-BE49-F238E27FC236}">
                <a16:creationId xmlns:a16="http://schemas.microsoft.com/office/drawing/2014/main" id="{42277DF4-29AA-4F25-A0BC-5CD2E5E64168}"/>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dirty="0">
                <a:solidFill>
                  <a:srgbClr val="FFFFFF"/>
                </a:solidFill>
              </a:rPr>
              <a:t>Linked Lists</a:t>
            </a:r>
          </a:p>
        </p:txBody>
      </p:sp>
    </p:spTree>
    <p:extLst>
      <p:ext uri="{BB962C8B-B14F-4D97-AF65-F5344CB8AC3E}">
        <p14:creationId xmlns:p14="http://schemas.microsoft.com/office/powerpoint/2010/main" val="318009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96E4-382B-4BAC-A046-DA42BB9A9E44}"/>
              </a:ext>
            </a:extLst>
          </p:cNvPr>
          <p:cNvSpPr>
            <a:spLocks noGrp="1"/>
          </p:cNvSpPr>
          <p:nvPr>
            <p:ph type="title"/>
          </p:nvPr>
        </p:nvSpPr>
        <p:spPr>
          <a:xfrm>
            <a:off x="402673" y="301536"/>
            <a:ext cx="4339656" cy="2163757"/>
          </a:xfrm>
        </p:spPr>
        <p:txBody>
          <a:bodyPr>
            <a:normAutofit/>
          </a:bodyPr>
          <a:lstStyle/>
          <a:p>
            <a:r>
              <a:rPr lang="en-US" dirty="0"/>
              <a:t>Pseudocode Algorithm for </a:t>
            </a:r>
            <a:r>
              <a:rPr lang="en-US" dirty="0" err="1"/>
              <a:t>split_even_odd</a:t>
            </a:r>
            <a:r>
              <a:rPr lang="en-US" dirty="0"/>
              <a:t>()</a:t>
            </a:r>
          </a:p>
        </p:txBody>
      </p:sp>
      <p:sp>
        <p:nvSpPr>
          <p:cNvPr id="3" name="Content Placeholder 2">
            <a:extLst>
              <a:ext uri="{FF2B5EF4-FFF2-40B4-BE49-F238E27FC236}">
                <a16:creationId xmlns:a16="http://schemas.microsoft.com/office/drawing/2014/main" id="{C330831E-9288-4A9C-9D16-588CB7263E04}"/>
              </a:ext>
            </a:extLst>
          </p:cNvPr>
          <p:cNvSpPr>
            <a:spLocks noGrp="1"/>
          </p:cNvSpPr>
          <p:nvPr>
            <p:ph sz="half" idx="1"/>
          </p:nvPr>
        </p:nvSpPr>
        <p:spPr>
          <a:xfrm>
            <a:off x="311064" y="2623287"/>
            <a:ext cx="4648722" cy="3866831"/>
          </a:xfrm>
        </p:spPr>
        <p:txBody>
          <a:bodyPr>
            <a:noAutofit/>
          </a:bodyPr>
          <a:lstStyle/>
          <a:p>
            <a:pPr marL="0" indent="0">
              <a:buNone/>
            </a:pPr>
            <a:r>
              <a:rPr lang="en-US" sz="2400" dirty="0"/>
              <a:t>Assume </a:t>
            </a:r>
            <a:r>
              <a:rPr lang="en-US" sz="2200" b="1" dirty="0">
                <a:latin typeface="Courier New" panose="02070309020205020404" pitchFamily="49" charset="0"/>
                <a:cs typeface="Courier New" panose="02070309020205020404" pitchFamily="49" charset="0"/>
              </a:rPr>
              <a:t>list</a:t>
            </a:r>
            <a:r>
              <a:rPr lang="en-US" sz="2400" dirty="0"/>
              <a:t> is the original list and the </a:t>
            </a:r>
            <a:r>
              <a:rPr lang="en-US" sz="2200" b="1" dirty="0" err="1">
                <a:latin typeface="Courier New" panose="02070309020205020404" pitchFamily="49" charset="0"/>
                <a:cs typeface="Courier New" panose="02070309020205020404" pitchFamily="49" charset="0"/>
              </a:rPr>
              <a:t>evensList</a:t>
            </a:r>
            <a:r>
              <a:rPr lang="en-US" sz="2400" dirty="0"/>
              <a:t> and </a:t>
            </a:r>
            <a:r>
              <a:rPr lang="en-US" sz="2200" b="1" dirty="0" err="1">
                <a:latin typeface="Courier New" panose="02070309020205020404" pitchFamily="49" charset="0"/>
                <a:cs typeface="Courier New" panose="02070309020205020404" pitchFamily="49" charset="0"/>
              </a:rPr>
              <a:t>oddsList</a:t>
            </a:r>
            <a:r>
              <a:rPr lang="en-US" sz="2400" dirty="0"/>
              <a:t> are returned from the function</a:t>
            </a:r>
          </a:p>
          <a:p>
            <a:pPr marL="0" indent="0">
              <a:buNone/>
            </a:pPr>
            <a:r>
              <a:rPr lang="en-US" sz="2200" b="1" dirty="0">
                <a:latin typeface="Courier New" panose="02070309020205020404" pitchFamily="49" charset="0"/>
                <a:cs typeface="Courier New" panose="02070309020205020404" pitchFamily="49" charset="0"/>
              </a:rPr>
              <a:t>evens, odds = </a:t>
            </a:r>
            <a:r>
              <a:rPr lang="en-US" sz="2200" b="1" dirty="0" err="1">
                <a:latin typeface="Courier New" panose="02070309020205020404" pitchFamily="49" charset="0"/>
                <a:cs typeface="Courier New" panose="02070309020205020404" pitchFamily="49" charset="0"/>
              </a:rPr>
              <a:t>list.split_even_odd</a:t>
            </a:r>
            <a:r>
              <a:rPr lang="en-US" sz="2200" b="1" dirty="0">
                <a:latin typeface="Courier New" panose="02070309020205020404" pitchFamily="49" charset="0"/>
                <a:cs typeface="Courier New" panose="02070309020205020404" pitchFamily="49" charset="0"/>
              </a:rPr>
              <a:t>()</a:t>
            </a:r>
          </a:p>
          <a:p>
            <a:pPr marL="0" indent="0">
              <a:spcAft>
                <a:spcPts val="600"/>
              </a:spcAft>
              <a:buNone/>
            </a:pPr>
            <a:r>
              <a:rPr lang="en-US" sz="2200" dirty="0">
                <a:cs typeface="Courier New" panose="02070309020205020404" pitchFamily="49" charset="0"/>
              </a:rPr>
              <a:t>In actual code:</a:t>
            </a:r>
          </a:p>
          <a:p>
            <a:pPr>
              <a:spcBef>
                <a:spcPts val="0"/>
              </a:spcBef>
            </a:pPr>
            <a:r>
              <a:rPr lang="en-US" sz="2200" dirty="0">
                <a:cs typeface="Courier New" panose="02070309020205020404" pitchFamily="49" charset="0"/>
              </a:rPr>
              <a:t>replace </a:t>
            </a:r>
            <a:r>
              <a:rPr lang="en-US" sz="2200" i="1" dirty="0">
                <a:cs typeface="Courier New" panose="02070309020205020404" pitchFamily="49" charset="0"/>
              </a:rPr>
              <a:t>list.</a:t>
            </a:r>
            <a:r>
              <a:rPr lang="en-US" sz="2200" dirty="0">
                <a:cs typeface="Courier New" panose="02070309020205020404" pitchFamily="49" charset="0"/>
              </a:rPr>
              <a:t> with </a:t>
            </a:r>
            <a:r>
              <a:rPr lang="en-US" sz="2200" i="1" dirty="0">
                <a:cs typeface="Courier New" panose="02070309020205020404" pitchFamily="49" charset="0"/>
              </a:rPr>
              <a:t>self.</a:t>
            </a:r>
            <a:r>
              <a:rPr lang="en-US" sz="2200" dirty="0">
                <a:cs typeface="Courier New" panose="02070309020205020404" pitchFamily="49" charset="0"/>
              </a:rPr>
              <a:t> </a:t>
            </a:r>
          </a:p>
          <a:p>
            <a:pPr>
              <a:spcBef>
                <a:spcPts val="0"/>
              </a:spcBef>
            </a:pPr>
            <a:r>
              <a:rPr lang="en-US" sz="2200" dirty="0" err="1">
                <a:cs typeface="Courier New" panose="02070309020205020404" pitchFamily="49" charset="0"/>
              </a:rPr>
              <a:t>even_list.</a:t>
            </a:r>
            <a:r>
              <a:rPr lang="en-US" sz="2200" i="1" dirty="0" err="1">
                <a:cs typeface="Courier New" panose="02070309020205020404" pitchFamily="49" charset="0"/>
              </a:rPr>
              <a:t>field</a:t>
            </a:r>
            <a:r>
              <a:rPr lang="en-US" sz="2200" dirty="0">
                <a:cs typeface="Courier New" panose="02070309020205020404" pitchFamily="49" charset="0"/>
              </a:rPr>
              <a:t> with </a:t>
            </a:r>
            <a:r>
              <a:rPr lang="en-US" sz="2200" dirty="0" err="1">
                <a:cs typeface="Courier New" panose="02070309020205020404" pitchFamily="49" charset="0"/>
              </a:rPr>
              <a:t>even_list.</a:t>
            </a:r>
            <a:r>
              <a:rPr lang="en-US" sz="2200" i="1" dirty="0" err="1">
                <a:cs typeface="Courier New" panose="02070309020205020404" pitchFamily="49" charset="0"/>
              </a:rPr>
              <a:t>_field</a:t>
            </a:r>
            <a:endParaRPr lang="en-US" sz="2200" i="1" dirty="0">
              <a:cs typeface="Courier New" panose="02070309020205020404" pitchFamily="49" charset="0"/>
            </a:endParaRPr>
          </a:p>
          <a:p>
            <a:pPr>
              <a:spcBef>
                <a:spcPts val="0"/>
              </a:spcBef>
            </a:pPr>
            <a:r>
              <a:rPr lang="en-US" sz="2200" dirty="0" err="1">
                <a:cs typeface="Courier New" panose="02070309020205020404" pitchFamily="49" charset="0"/>
              </a:rPr>
              <a:t>odd_list.</a:t>
            </a:r>
            <a:r>
              <a:rPr lang="en-US" sz="2200" i="1" dirty="0" err="1">
                <a:cs typeface="Courier New" panose="02070309020205020404" pitchFamily="49" charset="0"/>
              </a:rPr>
              <a:t>field</a:t>
            </a:r>
            <a:r>
              <a:rPr lang="en-US" sz="2200" dirty="0">
                <a:cs typeface="Courier New" panose="02070309020205020404" pitchFamily="49" charset="0"/>
              </a:rPr>
              <a:t> with </a:t>
            </a:r>
            <a:r>
              <a:rPr lang="en-US" sz="2200" dirty="0" err="1">
                <a:cs typeface="Courier New" panose="02070309020205020404" pitchFamily="49" charset="0"/>
              </a:rPr>
              <a:t>odd_list</a:t>
            </a:r>
            <a:r>
              <a:rPr lang="en-US" sz="2200" i="1" dirty="0" err="1">
                <a:cs typeface="Courier New" panose="02070309020205020404" pitchFamily="49" charset="0"/>
              </a:rPr>
              <a:t>._field</a:t>
            </a:r>
            <a:endParaRPr lang="en-US" sz="2200" i="1" dirty="0">
              <a:cs typeface="Courier New" panose="02070309020205020404" pitchFamily="49" charset="0"/>
            </a:endParaRPr>
          </a:p>
        </p:txBody>
      </p:sp>
      <p:sp>
        <p:nvSpPr>
          <p:cNvPr id="4" name="Content Placeholder 3">
            <a:extLst>
              <a:ext uri="{FF2B5EF4-FFF2-40B4-BE49-F238E27FC236}">
                <a16:creationId xmlns:a16="http://schemas.microsoft.com/office/drawing/2014/main" id="{A605E773-FA2A-45DF-BBE1-A044B0053719}"/>
              </a:ext>
            </a:extLst>
          </p:cNvPr>
          <p:cNvSpPr>
            <a:spLocks noGrp="1"/>
          </p:cNvSpPr>
          <p:nvPr>
            <p:ph sz="half" idx="2"/>
          </p:nvPr>
        </p:nvSpPr>
        <p:spPr>
          <a:xfrm>
            <a:off x="5414682" y="257728"/>
            <a:ext cx="6262413" cy="6342544"/>
          </a:xfrm>
        </p:spPr>
        <p:txBody>
          <a:bodyPr>
            <a:normAutofit/>
          </a:bodyPr>
          <a:lstStyle/>
          <a:p>
            <a:pPr marL="0" indent="0">
              <a:lnSpc>
                <a:spcPct val="110000"/>
              </a:lnSpc>
              <a:spcBef>
                <a:spcPts val="0"/>
              </a:spcBef>
              <a:buNone/>
            </a:pPr>
            <a:r>
              <a:rPr lang="en-US" sz="2000" dirty="0"/>
              <a:t>Raise exception if list is empty.</a:t>
            </a:r>
          </a:p>
          <a:p>
            <a:pPr marL="0" indent="0">
              <a:lnSpc>
                <a:spcPct val="110000"/>
              </a:lnSpc>
              <a:spcBef>
                <a:spcPts val="0"/>
              </a:spcBef>
              <a:buNone/>
            </a:pPr>
            <a:r>
              <a:rPr lang="en-US" sz="2000" dirty="0"/>
              <a:t>Create </a:t>
            </a:r>
            <a:r>
              <a:rPr lang="en-US" sz="2000" dirty="0" err="1"/>
              <a:t>even_list</a:t>
            </a:r>
            <a:r>
              <a:rPr lang="en-US" sz="2000" dirty="0"/>
              <a:t> and </a:t>
            </a:r>
            <a:r>
              <a:rPr lang="en-US" sz="2000" dirty="0" err="1"/>
              <a:t>odd_list</a:t>
            </a:r>
            <a:r>
              <a:rPr lang="en-US" sz="2000" dirty="0"/>
              <a:t> as </a:t>
            </a:r>
            <a:r>
              <a:rPr lang="en-US" sz="2000" dirty="0" err="1"/>
              <a:t>SinglyLinkedList</a:t>
            </a:r>
            <a:r>
              <a:rPr lang="en-US" sz="2000" dirty="0"/>
              <a:t> objects</a:t>
            </a:r>
          </a:p>
          <a:p>
            <a:pPr marL="0" indent="0">
              <a:lnSpc>
                <a:spcPct val="110000"/>
              </a:lnSpc>
              <a:spcBef>
                <a:spcPts val="0"/>
              </a:spcBef>
              <a:buNone/>
            </a:pPr>
            <a:r>
              <a:rPr lang="en-US" sz="2000" dirty="0"/>
              <a:t>Assign current cursor to </a:t>
            </a:r>
            <a:r>
              <a:rPr lang="en-US" sz="2000" dirty="0" err="1"/>
              <a:t>list.head</a:t>
            </a:r>
            <a:endParaRPr lang="en-US" sz="2000" dirty="0"/>
          </a:p>
          <a:p>
            <a:pPr marL="0" indent="0">
              <a:lnSpc>
                <a:spcPct val="110000"/>
              </a:lnSpc>
              <a:spcBef>
                <a:spcPts val="0"/>
              </a:spcBef>
              <a:buNone/>
            </a:pPr>
            <a:r>
              <a:rPr lang="en-US" sz="2000" dirty="0"/>
              <a:t>Clear original list (</a:t>
            </a:r>
            <a:r>
              <a:rPr lang="en-US" sz="2000" dirty="0" err="1"/>
              <a:t>list.head</a:t>
            </a:r>
            <a:r>
              <a:rPr lang="en-US" sz="2000" dirty="0"/>
              <a:t>, </a:t>
            </a:r>
            <a:r>
              <a:rPr lang="en-US" sz="2000" dirty="0" err="1"/>
              <a:t>list.tail</a:t>
            </a:r>
            <a:r>
              <a:rPr lang="en-US" sz="2000" dirty="0"/>
              <a:t> = None, count = 0)</a:t>
            </a:r>
          </a:p>
          <a:p>
            <a:pPr marL="0" indent="0">
              <a:lnSpc>
                <a:spcPct val="110000"/>
              </a:lnSpc>
              <a:spcBef>
                <a:spcPts val="0"/>
              </a:spcBef>
              <a:buNone/>
            </a:pPr>
            <a:r>
              <a:rPr lang="en-US" sz="2000" dirty="0"/>
              <a:t>while (more nodes):</a:t>
            </a:r>
          </a:p>
          <a:p>
            <a:pPr marL="0" indent="0">
              <a:lnSpc>
                <a:spcPct val="110000"/>
              </a:lnSpc>
              <a:spcBef>
                <a:spcPts val="0"/>
              </a:spcBef>
              <a:buNone/>
            </a:pPr>
            <a:r>
              <a:rPr lang="en-US" sz="2000" dirty="0"/>
              <a:t>     </a:t>
            </a:r>
            <a:r>
              <a:rPr lang="en-US" sz="2000" dirty="0" err="1"/>
              <a:t>next_node</a:t>
            </a:r>
            <a:r>
              <a:rPr lang="en-US" sz="2000" dirty="0"/>
              <a:t> = </a:t>
            </a:r>
            <a:r>
              <a:rPr lang="en-US" sz="2000" dirty="0" err="1"/>
              <a:t>current.next</a:t>
            </a:r>
            <a:endParaRPr lang="en-US" sz="2000" dirty="0"/>
          </a:p>
          <a:p>
            <a:pPr marL="0" indent="0">
              <a:lnSpc>
                <a:spcPct val="110000"/>
              </a:lnSpc>
              <a:spcBef>
                <a:spcPts val="0"/>
              </a:spcBef>
              <a:buNone/>
            </a:pPr>
            <a:r>
              <a:rPr lang="en-US" sz="2000" dirty="0"/>
              <a:t>     </a:t>
            </a:r>
            <a:r>
              <a:rPr lang="en-US" sz="2000" dirty="0" err="1"/>
              <a:t>current.next</a:t>
            </a:r>
            <a:r>
              <a:rPr lang="en-US" sz="2000" dirty="0"/>
              <a:t> = None (disconnect node from original list)</a:t>
            </a:r>
          </a:p>
          <a:p>
            <a:pPr marL="0" indent="0">
              <a:lnSpc>
                <a:spcPct val="110000"/>
              </a:lnSpc>
              <a:spcBef>
                <a:spcPts val="0"/>
              </a:spcBef>
              <a:buNone/>
            </a:pPr>
            <a:r>
              <a:rPr lang="en-US" sz="2000" dirty="0"/>
              <a:t>     if </a:t>
            </a:r>
            <a:r>
              <a:rPr lang="en-US" sz="2000" dirty="0" err="1"/>
              <a:t>current.data</a:t>
            </a:r>
            <a:r>
              <a:rPr lang="en-US" sz="2000" dirty="0"/>
              <a:t> is even:</a:t>
            </a:r>
          </a:p>
          <a:p>
            <a:pPr marL="0" indent="0">
              <a:lnSpc>
                <a:spcPct val="110000"/>
              </a:lnSpc>
              <a:spcBef>
                <a:spcPts val="0"/>
              </a:spcBef>
              <a:buNone/>
            </a:pPr>
            <a:r>
              <a:rPr lang="en-US" sz="2000" dirty="0"/>
              <a:t>          if </a:t>
            </a:r>
            <a:r>
              <a:rPr lang="en-US" sz="2000" dirty="0" err="1"/>
              <a:t>even_list.tail</a:t>
            </a:r>
            <a:r>
              <a:rPr lang="en-US" sz="2000" dirty="0"/>
              <a:t> is None:</a:t>
            </a:r>
          </a:p>
          <a:p>
            <a:pPr marL="0" indent="0">
              <a:lnSpc>
                <a:spcPct val="110000"/>
              </a:lnSpc>
              <a:spcBef>
                <a:spcPts val="0"/>
              </a:spcBef>
              <a:buNone/>
            </a:pPr>
            <a:r>
              <a:rPr lang="en-US" sz="2000" dirty="0"/>
              <a:t>               </a:t>
            </a:r>
            <a:r>
              <a:rPr lang="en-US" sz="2000" dirty="0" err="1"/>
              <a:t>even_list.head</a:t>
            </a:r>
            <a:r>
              <a:rPr lang="en-US" sz="2000" dirty="0"/>
              <a:t> = </a:t>
            </a:r>
            <a:r>
              <a:rPr lang="en-US" sz="2000" dirty="0" err="1"/>
              <a:t>even_list.tail</a:t>
            </a:r>
            <a:r>
              <a:rPr lang="en-US" sz="2000" dirty="0"/>
              <a:t> = current</a:t>
            </a:r>
          </a:p>
          <a:p>
            <a:pPr marL="0" indent="0">
              <a:lnSpc>
                <a:spcPct val="110000"/>
              </a:lnSpc>
              <a:spcBef>
                <a:spcPts val="0"/>
              </a:spcBef>
              <a:buNone/>
            </a:pPr>
            <a:r>
              <a:rPr lang="en-US" sz="2000" dirty="0"/>
              <a:t>          else:</a:t>
            </a:r>
          </a:p>
          <a:p>
            <a:pPr marL="0" indent="0">
              <a:lnSpc>
                <a:spcPct val="110000"/>
              </a:lnSpc>
              <a:spcBef>
                <a:spcPts val="0"/>
              </a:spcBef>
              <a:buNone/>
            </a:pPr>
            <a:r>
              <a:rPr lang="en-US" sz="2000" dirty="0"/>
              <a:t>               </a:t>
            </a:r>
            <a:r>
              <a:rPr lang="en-US" sz="2000" dirty="0" err="1"/>
              <a:t>even_list.tail.next</a:t>
            </a:r>
            <a:r>
              <a:rPr lang="en-US" sz="2000" dirty="0"/>
              <a:t> = current</a:t>
            </a:r>
          </a:p>
          <a:p>
            <a:pPr marL="0" indent="0">
              <a:lnSpc>
                <a:spcPct val="110000"/>
              </a:lnSpc>
              <a:spcBef>
                <a:spcPts val="0"/>
              </a:spcBef>
              <a:buNone/>
            </a:pPr>
            <a:r>
              <a:rPr lang="en-US" sz="2000" dirty="0"/>
              <a:t>               </a:t>
            </a:r>
            <a:r>
              <a:rPr lang="en-US" sz="2000" dirty="0" err="1"/>
              <a:t>even_list.tail</a:t>
            </a:r>
            <a:r>
              <a:rPr lang="en-US" sz="2000" dirty="0"/>
              <a:t> = current</a:t>
            </a:r>
          </a:p>
          <a:p>
            <a:pPr marL="0" indent="0">
              <a:lnSpc>
                <a:spcPct val="110000"/>
              </a:lnSpc>
              <a:spcBef>
                <a:spcPts val="0"/>
              </a:spcBef>
              <a:buNone/>
            </a:pPr>
            <a:r>
              <a:rPr lang="en-US" sz="2000" dirty="0"/>
              <a:t>          </a:t>
            </a:r>
            <a:r>
              <a:rPr lang="en-US" sz="2000" dirty="0" err="1"/>
              <a:t>even_list.count</a:t>
            </a:r>
            <a:r>
              <a:rPr lang="en-US" sz="2000" dirty="0"/>
              <a:t> += 1</a:t>
            </a:r>
          </a:p>
          <a:p>
            <a:pPr marL="0" indent="0">
              <a:lnSpc>
                <a:spcPct val="110000"/>
              </a:lnSpc>
              <a:spcBef>
                <a:spcPts val="0"/>
              </a:spcBef>
              <a:buNone/>
            </a:pPr>
            <a:r>
              <a:rPr lang="en-US" sz="2000" dirty="0"/>
              <a:t>     else:   # Node value is odd</a:t>
            </a:r>
          </a:p>
          <a:p>
            <a:pPr marL="0" indent="0">
              <a:lnSpc>
                <a:spcPct val="110000"/>
              </a:lnSpc>
              <a:spcBef>
                <a:spcPts val="0"/>
              </a:spcBef>
              <a:buNone/>
            </a:pPr>
            <a:r>
              <a:rPr lang="en-US" sz="2000" dirty="0"/>
              <a:t>          # Repeat above code for </a:t>
            </a:r>
            <a:r>
              <a:rPr lang="en-US" sz="2000" dirty="0" err="1"/>
              <a:t>odd_list</a:t>
            </a:r>
            <a:endParaRPr lang="en-US" sz="2000" dirty="0"/>
          </a:p>
          <a:p>
            <a:pPr marL="0" indent="0">
              <a:lnSpc>
                <a:spcPct val="110000"/>
              </a:lnSpc>
              <a:spcBef>
                <a:spcPts val="0"/>
              </a:spcBef>
              <a:buNone/>
            </a:pPr>
            <a:r>
              <a:rPr lang="en-US" sz="2000" dirty="0"/>
              <a:t>     current = </a:t>
            </a:r>
            <a:r>
              <a:rPr lang="en-US" sz="2000" dirty="0" err="1"/>
              <a:t>next_node</a:t>
            </a:r>
            <a:endParaRPr lang="en-US" sz="2000" dirty="0"/>
          </a:p>
          <a:p>
            <a:pPr marL="0" indent="0">
              <a:lnSpc>
                <a:spcPct val="110000"/>
              </a:lnSpc>
              <a:spcBef>
                <a:spcPts val="0"/>
              </a:spcBef>
              <a:buNone/>
            </a:pPr>
            <a:r>
              <a:rPr lang="en-US" sz="2000" dirty="0"/>
              <a:t>Return </a:t>
            </a:r>
            <a:r>
              <a:rPr lang="en-US" sz="2000" dirty="0" err="1"/>
              <a:t>even_list</a:t>
            </a:r>
            <a:r>
              <a:rPr lang="en-US" sz="2000" dirty="0"/>
              <a:t> and </a:t>
            </a:r>
            <a:r>
              <a:rPr lang="en-US" sz="2000" dirty="0" err="1"/>
              <a:t>odd_list</a:t>
            </a:r>
            <a:endParaRPr lang="en-US" sz="2000" dirty="0"/>
          </a:p>
        </p:txBody>
      </p:sp>
    </p:spTree>
    <p:extLst>
      <p:ext uri="{BB962C8B-B14F-4D97-AF65-F5344CB8AC3E}">
        <p14:creationId xmlns:p14="http://schemas.microsoft.com/office/powerpoint/2010/main" val="2134120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0A43C8-E96E-441A-8830-39627DE60E9A}"/>
              </a:ext>
            </a:extLst>
          </p:cNvPr>
          <p:cNvSpPr txBox="1"/>
          <p:nvPr/>
        </p:nvSpPr>
        <p:spPr>
          <a:xfrm>
            <a:off x="2332139" y="1744910"/>
            <a:ext cx="454612" cy="369332"/>
          </a:xfrm>
          <a:prstGeom prst="rect">
            <a:avLst/>
          </a:prstGeom>
          <a:noFill/>
        </p:spPr>
        <p:txBody>
          <a:bodyPr wrap="none" rtlCol="0">
            <a:spAutoFit/>
          </a:bodyPr>
          <a:lstStyle/>
          <a:p>
            <a:r>
              <a:rPr lang="en-US" dirty="0"/>
              <a:t>list</a:t>
            </a:r>
          </a:p>
        </p:txBody>
      </p:sp>
      <p:sp>
        <p:nvSpPr>
          <p:cNvPr id="6" name="TextBox 5" descr="This object visualizes a singly linked list object as a box with fields head, tail, and count inside. The top box represents the list, the middle box represents the evensList and the last box represents the oddsList. &#10;This slide represents the initial conditions before the list is split into evens and odds. The original list has a node count of 4; the head pointer points the node with 10 (the first node in the list); the tail pointer points to the node with 18 (the last pointer in the list). The evensList is empty which is symbolized by the both the head and tail fields point to the None object, and the count being 0. The same is true of the oddsList. ">
            <a:extLst>
              <a:ext uri="{FF2B5EF4-FFF2-40B4-BE49-F238E27FC236}">
                <a16:creationId xmlns:a16="http://schemas.microsoft.com/office/drawing/2014/main" id="{033B5871-6062-4F05-95A2-8047052A5AC9}"/>
              </a:ext>
            </a:extLst>
          </p:cNvPr>
          <p:cNvSpPr txBox="1"/>
          <p:nvPr/>
        </p:nvSpPr>
        <p:spPr>
          <a:xfrm>
            <a:off x="3313651" y="1652577"/>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4 </a:t>
            </a:r>
          </a:p>
        </p:txBody>
      </p:sp>
      <p:grpSp>
        <p:nvGrpSpPr>
          <p:cNvPr id="9" name="Group 8" descr="This object represents a node. This node has the value 10 and is the first node in the list. Its next pointer is pointing to the node with the value 13. This particular node also has a cursor called current pointing to it. ">
            <a:extLst>
              <a:ext uri="{FF2B5EF4-FFF2-40B4-BE49-F238E27FC236}">
                <a16:creationId xmlns:a16="http://schemas.microsoft.com/office/drawing/2014/main" id="{5DD54024-0FA6-4B0A-80C0-89C1918A30D1}"/>
              </a:ext>
            </a:extLst>
          </p:cNvPr>
          <p:cNvGrpSpPr/>
          <p:nvPr/>
        </p:nvGrpSpPr>
        <p:grpSpPr>
          <a:xfrm>
            <a:off x="5330413" y="2025298"/>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is object represents a node. This node has the value 13. It is an interior node and is pointed to by the node 10. Its next pointer is pointing to the node with the value 14. ">
            <a:extLst>
              <a:ext uri="{FF2B5EF4-FFF2-40B4-BE49-F238E27FC236}">
                <a16:creationId xmlns:a16="http://schemas.microsoft.com/office/drawing/2014/main" id="{4666D4FE-5B5C-4459-A6CC-4806EAED419B}"/>
              </a:ext>
            </a:extLst>
          </p:cNvPr>
          <p:cNvGrpSpPr/>
          <p:nvPr/>
        </p:nvGrpSpPr>
        <p:grpSpPr>
          <a:xfrm>
            <a:off x="6683829" y="2034073"/>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This node has the value 14. It is an interior node and is pointed to by the node 13. Its next pointer is pointing to the node with the value 18. ">
            <a:extLst>
              <a:ext uri="{FF2B5EF4-FFF2-40B4-BE49-F238E27FC236}">
                <a16:creationId xmlns:a16="http://schemas.microsoft.com/office/drawing/2014/main" id="{78FAFC49-D14E-4702-91EB-44670C059031}"/>
              </a:ext>
            </a:extLst>
          </p:cNvPr>
          <p:cNvGrpSpPr/>
          <p:nvPr/>
        </p:nvGrpSpPr>
        <p:grpSpPr>
          <a:xfrm>
            <a:off x="8095908" y="2034073"/>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9E3FC32-555C-4B78-9715-447585AEDDBB}"/>
              </a:ext>
            </a:extLst>
          </p:cNvPr>
          <p:cNvSpPr/>
          <p:nvPr/>
        </p:nvSpPr>
        <p:spPr>
          <a:xfrm>
            <a:off x="3584285" y="2021909"/>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2E4AEA-41E6-4371-991A-E1B9BFF03A8B}"/>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9162661" y="25759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4D5886A-ECC6-4FA1-BB93-37EF6BB659D6}"/>
              </a:ext>
            </a:extLst>
          </p:cNvPr>
          <p:cNvSpPr/>
          <p:nvPr/>
        </p:nvSpPr>
        <p:spPr>
          <a:xfrm>
            <a:off x="3681589" y="1775320"/>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C96B87C0-423C-4948-A04D-50FDF8815266}"/>
              </a:ext>
            </a:extLst>
          </p:cNvPr>
          <p:cNvCxnSpPr>
            <a:stCxn id="5" idx="3"/>
            <a:endCxn id="6" idx="1"/>
          </p:cNvCxnSpPr>
          <p:nvPr/>
        </p:nvCxnSpPr>
        <p:spPr>
          <a:xfrm>
            <a:off x="2786751" y="1929576"/>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descr="This object visualizes a singly linked list object as a box with fields head, tail, and count inside. The top box represents the list, the middle box represents the evensList and the last box represents the oddsList. &#10;This slide represents the initial conditions before the list is split into evens and odds. The original list has a node count of 4; the head pointer points the node with 10 (the first node in the list); the tail pointer points to the node with 18 (the last pointer in the list). The evensList is empty which is symbolized by the both the head and tail fields point to the None object, and the count being 0. The same is true of the oddsList. ">
            <a:extLst>
              <a:ext uri="{FF2B5EF4-FFF2-40B4-BE49-F238E27FC236}">
                <a16:creationId xmlns:a16="http://schemas.microsoft.com/office/drawing/2014/main" id="{5B7DF3C0-759F-4156-9C70-2495727DD711}"/>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visualizes a singly linked list object as a box with fields head, tail, and count inside. The top box represents the list, the middle box represents the evensList and the last box represents the oddsList. &#10;This slide represents the initial conditions before the list is split into evens and odds. The original list has a node count of 4; the head pointer points the node with 10 (the first node in the list); the tail pointer points to the node with 18 (the last pointer in the list). The evensList is empty which is symbolized by the both the head and tail fields point to the None object, and the count being 0. The same is true of the oddsList. ">
            <a:extLst>
              <a:ext uri="{FF2B5EF4-FFF2-40B4-BE49-F238E27FC236}">
                <a16:creationId xmlns:a16="http://schemas.microsoft.com/office/drawing/2014/main" id="{B026C760-1433-4994-951F-A89EE9F55E5F}"/>
              </a:ext>
            </a:extLst>
          </p:cNvPr>
          <p:cNvSpPr txBox="1"/>
          <p:nvPr/>
        </p:nvSpPr>
        <p:spPr>
          <a:xfrm>
            <a:off x="3313651" y="4505625"/>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698779" y="4782624"/>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5044241" y="1169535"/>
            <a:ext cx="873637" cy="369332"/>
          </a:xfrm>
          <a:prstGeom prst="rect">
            <a:avLst/>
          </a:prstGeom>
          <a:noFill/>
        </p:spPr>
        <p:txBody>
          <a:bodyPr wrap="none" rtlCol="0">
            <a:spAutoFit/>
          </a:bodyPr>
          <a:lstStyle/>
          <a:p>
            <a:r>
              <a:rPr lang="en-US" dirty="0"/>
              <a:t>current</a:t>
            </a:r>
          </a:p>
        </p:txBody>
      </p:sp>
      <p:cxnSp>
        <p:nvCxnSpPr>
          <p:cNvPr id="58" name="Straight Arrow Connector 57">
            <a:extLst>
              <a:ext uri="{FF2B5EF4-FFF2-40B4-BE49-F238E27FC236}">
                <a16:creationId xmlns:a16="http://schemas.microsoft.com/office/drawing/2014/main" id="{3BED915F-60A0-480B-A1A5-A8D9CE23C21C}"/>
              </a:ext>
            </a:extLst>
          </p:cNvPr>
          <p:cNvCxnSpPr>
            <a:cxnSpLocks/>
            <a:stCxn id="56" idx="2"/>
          </p:cNvCxnSpPr>
          <p:nvPr/>
        </p:nvCxnSpPr>
        <p:spPr>
          <a:xfrm>
            <a:off x="5481060" y="1538867"/>
            <a:ext cx="335380" cy="44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9F930EE-F7DF-4445-93A2-B64172472586}"/>
              </a:ext>
            </a:extLst>
          </p:cNvPr>
          <p:cNvSpPr/>
          <p:nvPr/>
        </p:nvSpPr>
        <p:spPr>
          <a:xfrm>
            <a:off x="3634321" y="3171434"/>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2B4E316-46E9-40F5-A68E-C79A22B98903}"/>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Connector: Elbow 68">
            <a:extLst>
              <a:ext uri="{FF2B5EF4-FFF2-40B4-BE49-F238E27FC236}">
                <a16:creationId xmlns:a16="http://schemas.microsoft.com/office/drawing/2014/main" id="{93551D30-F9A7-4D7D-9254-15DF7A307587}"/>
              </a:ext>
            </a:extLst>
          </p:cNvPr>
          <p:cNvCxnSpPr>
            <a:cxnSpLocks/>
            <a:endCxn id="7" idx="0"/>
          </p:cNvCxnSpPr>
          <p:nvPr/>
        </p:nvCxnSpPr>
        <p:spPr>
          <a:xfrm>
            <a:off x="3926048" y="1839344"/>
            <a:ext cx="1613717" cy="1859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087D46C9-5C6A-4B11-9279-8275D2A4482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859813" y="550506"/>
            <a:ext cx="2291012" cy="461665"/>
          </a:xfrm>
          <a:prstGeom prst="rect">
            <a:avLst/>
          </a:prstGeom>
          <a:noFill/>
        </p:spPr>
        <p:txBody>
          <a:bodyPr wrap="none" rtlCol="0">
            <a:spAutoFit/>
          </a:bodyPr>
          <a:lstStyle/>
          <a:p>
            <a:r>
              <a:rPr lang="en-US" sz="2400" dirty="0"/>
              <a:t>Initial Conditions</a:t>
            </a:r>
          </a:p>
        </p:txBody>
      </p:sp>
      <p:grpSp>
        <p:nvGrpSpPr>
          <p:cNvPr id="57" name="Group 56" descr="This object represents a node. This node has the value 18. It is pointed to by the node with 14. It's next pointer is pointing to the None object meaning there is no following node. The tail pointer of the list is also pointing to this node indicating that this is the end of the list. ">
            <a:extLst>
              <a:ext uri="{FF2B5EF4-FFF2-40B4-BE49-F238E27FC236}">
                <a16:creationId xmlns:a16="http://schemas.microsoft.com/office/drawing/2014/main" id="{9E0AED43-7C17-4C80-A567-137193B013AA}"/>
              </a:ext>
            </a:extLst>
          </p:cNvPr>
          <p:cNvGrpSpPr/>
          <p:nvPr/>
        </p:nvGrpSpPr>
        <p:grpSpPr>
          <a:xfrm>
            <a:off x="9457614" y="2036455"/>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519170" y="223328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86E77C6B-884D-40CA-899F-81B5C689F01F}"/>
              </a:ext>
            </a:extLst>
          </p:cNvPr>
          <p:cNvSpPr/>
          <p:nvPr/>
        </p:nvSpPr>
        <p:spPr>
          <a:xfrm>
            <a:off x="4382946" y="569196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7BB6EDF5-2771-4DA5-B52B-FECB57DC0C06}"/>
              </a:ext>
            </a:extLst>
          </p:cNvPr>
          <p:cNvCxnSpPr>
            <a:cxnSpLocks/>
            <a:endCxn id="63" idx="1"/>
          </p:cNvCxnSpPr>
          <p:nvPr/>
        </p:nvCxnSpPr>
        <p:spPr>
          <a:xfrm flipV="1">
            <a:off x="8788128" y="2221121"/>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64DD92AC-9A34-4304-98DC-441B5C1CC3B2}"/>
              </a:ext>
            </a:extLst>
          </p:cNvPr>
          <p:cNvCxnSpPr>
            <a:endCxn id="64" idx="2"/>
          </p:cNvCxnSpPr>
          <p:nvPr/>
        </p:nvCxnSpPr>
        <p:spPr>
          <a:xfrm>
            <a:off x="3926048" y="2114242"/>
            <a:ext cx="6159622" cy="291545"/>
          </a:xfrm>
          <a:prstGeom prst="bentConnector4">
            <a:avLst>
              <a:gd name="adj1" fmla="val 14525"/>
              <a:gd name="adj2" fmla="val 24171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4FFF95E-572C-470B-BB6B-88A22D2EE9EE}"/>
              </a:ext>
            </a:extLst>
          </p:cNvPr>
          <p:cNvCxnSpPr>
            <a:cxnSpLocks/>
            <a:endCxn id="11" idx="1"/>
          </p:cNvCxnSpPr>
          <p:nvPr/>
        </p:nvCxnSpPr>
        <p:spPr>
          <a:xfrm>
            <a:off x="6037717" y="2217864"/>
            <a:ext cx="646112" cy="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D578ED-225D-40EA-8C88-64B1E5FDA8E2}"/>
              </a:ext>
            </a:extLst>
          </p:cNvPr>
          <p:cNvCxnSpPr>
            <a:stCxn id="12" idx="3"/>
            <a:endCxn id="14" idx="1"/>
          </p:cNvCxnSpPr>
          <p:nvPr/>
        </p:nvCxnSpPr>
        <p:spPr>
          <a:xfrm>
            <a:off x="7521237" y="2218739"/>
            <a:ext cx="5746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18534" y="4967290"/>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DD6B1DD-7A5F-4B33-905B-798A3C0F0BDC}"/>
              </a:ext>
            </a:extLst>
          </p:cNvPr>
          <p:cNvCxnSpPr>
            <a:cxnSpLocks/>
            <a:stCxn id="61" idx="3"/>
          </p:cNvCxnSpPr>
          <p:nvPr/>
        </p:nvCxnSpPr>
        <p:spPr>
          <a:xfrm>
            <a:off x="3818534" y="3263767"/>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descr="This objcet visualizes a singly linked list object as a box with fields head, tail, and count inside. The top box represents the list, the middle box represents the evensList and the last box represents the oddsList. &#10;This slide represents the initial conditions before the list is split into evens and odds. The original list has a node count of 4; the head pointer points the node with 10 (the first node in the list); the tail pointer points to the node with 18 (the last pointer in the list). The evensList is empty which is symbolized by the both the head and tail fields point to the None object, and the count being 0. The same is true of the oddsList. ">
            <a:extLst>
              <a:ext uri="{FF2B5EF4-FFF2-40B4-BE49-F238E27FC236}">
                <a16:creationId xmlns:a16="http://schemas.microsoft.com/office/drawing/2014/main" id="{3BE48372-EE6F-4E7F-9445-E2C16889E2D5}"/>
              </a:ext>
            </a:extLst>
          </p:cNvPr>
          <p:cNvCxnSpPr>
            <a:cxnSpLocks/>
            <a:stCxn id="62" idx="3"/>
          </p:cNvCxnSpPr>
          <p:nvPr/>
        </p:nvCxnSpPr>
        <p:spPr>
          <a:xfrm>
            <a:off x="3818534" y="3540766"/>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0C017C4-0DF5-480D-B39D-14B1DFD8E9C6}"/>
              </a:ext>
            </a:extLst>
          </p:cNvPr>
          <p:cNvCxnSpPr>
            <a:cxnSpLocks/>
            <a:stCxn id="75" idx="3"/>
          </p:cNvCxnSpPr>
          <p:nvPr/>
        </p:nvCxnSpPr>
        <p:spPr>
          <a:xfrm>
            <a:off x="3818534" y="4697969"/>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297FA3E-CFD4-3A65-F8AF-36503E26FFB2}"/>
              </a:ext>
            </a:extLst>
          </p:cNvPr>
          <p:cNvGrpSpPr/>
          <p:nvPr/>
        </p:nvGrpSpPr>
        <p:grpSpPr>
          <a:xfrm>
            <a:off x="6452510" y="3732330"/>
            <a:ext cx="4542908" cy="1651931"/>
            <a:chOff x="6761586" y="4075863"/>
            <a:chExt cx="4542908" cy="1651931"/>
          </a:xfrm>
        </p:grpSpPr>
        <p:grpSp>
          <p:nvGrpSpPr>
            <p:cNvPr id="86" name="Group 85">
              <a:extLst>
                <a:ext uri="{FF2B5EF4-FFF2-40B4-BE49-F238E27FC236}">
                  <a16:creationId xmlns:a16="http://schemas.microsoft.com/office/drawing/2014/main" id="{898CF9B6-CEEB-1823-CD26-986FED57536B}"/>
                </a:ext>
              </a:extLst>
            </p:cNvPr>
            <p:cNvGrpSpPr/>
            <p:nvPr/>
          </p:nvGrpSpPr>
          <p:grpSpPr>
            <a:xfrm>
              <a:off x="8289319" y="4537322"/>
              <a:ext cx="1168295" cy="314215"/>
              <a:chOff x="391415" y="5929131"/>
              <a:chExt cx="1030162" cy="314215"/>
            </a:xfrm>
          </p:grpSpPr>
          <p:sp>
            <p:nvSpPr>
              <p:cNvPr id="83" name="TextBox 82">
                <a:extLst>
                  <a:ext uri="{FF2B5EF4-FFF2-40B4-BE49-F238E27FC236}">
                    <a16:creationId xmlns:a16="http://schemas.microsoft.com/office/drawing/2014/main" id="{1917FBD0-616A-7159-7C34-FC94890E17AF}"/>
                  </a:ext>
                </a:extLst>
              </p:cNvPr>
              <p:cNvSpPr txBox="1"/>
              <p:nvPr/>
            </p:nvSpPr>
            <p:spPr>
              <a:xfrm>
                <a:off x="391415" y="5929131"/>
                <a:ext cx="516295" cy="307777"/>
              </a:xfrm>
              <a:prstGeom prst="rect">
                <a:avLst/>
              </a:prstGeom>
              <a:noFill/>
              <a:ln>
                <a:solidFill>
                  <a:schemeClr val="accent1"/>
                </a:solidFill>
              </a:ln>
            </p:spPr>
            <p:txBody>
              <a:bodyPr wrap="none" rtlCol="0">
                <a:spAutoFit/>
              </a:bodyPr>
              <a:lstStyle/>
              <a:p>
                <a:r>
                  <a:rPr lang="en-US" sz="1400" b="1" dirty="0"/>
                  <a:t>data</a:t>
                </a:r>
              </a:p>
            </p:txBody>
          </p:sp>
          <p:sp>
            <p:nvSpPr>
              <p:cNvPr id="85" name="TextBox 84">
                <a:extLst>
                  <a:ext uri="{FF2B5EF4-FFF2-40B4-BE49-F238E27FC236}">
                    <a16:creationId xmlns:a16="http://schemas.microsoft.com/office/drawing/2014/main" id="{4EBDA6A5-6417-610A-54D3-EF274D00F8E3}"/>
                  </a:ext>
                </a:extLst>
              </p:cNvPr>
              <p:cNvSpPr txBox="1"/>
              <p:nvPr/>
            </p:nvSpPr>
            <p:spPr>
              <a:xfrm>
                <a:off x="909514" y="5935569"/>
                <a:ext cx="512063" cy="307777"/>
              </a:xfrm>
              <a:prstGeom prst="rect">
                <a:avLst/>
              </a:prstGeom>
              <a:noFill/>
              <a:ln>
                <a:solidFill>
                  <a:schemeClr val="accent1"/>
                </a:solidFill>
              </a:ln>
            </p:spPr>
            <p:txBody>
              <a:bodyPr wrap="square" rtlCol="0">
                <a:spAutoFit/>
              </a:bodyPr>
              <a:lstStyle/>
              <a:p>
                <a:r>
                  <a:rPr lang="en-US" sz="1400" b="1" dirty="0"/>
                  <a:t>next</a:t>
                </a:r>
              </a:p>
            </p:txBody>
          </p:sp>
        </p:grpSp>
        <p:sp>
          <p:nvSpPr>
            <p:cNvPr id="88" name="TextBox 87">
              <a:extLst>
                <a:ext uri="{FF2B5EF4-FFF2-40B4-BE49-F238E27FC236}">
                  <a16:creationId xmlns:a16="http://schemas.microsoft.com/office/drawing/2014/main" id="{38C975FE-6F80-1547-D703-65BDBBF0EB37}"/>
                </a:ext>
              </a:extLst>
            </p:cNvPr>
            <p:cNvSpPr txBox="1"/>
            <p:nvPr/>
          </p:nvSpPr>
          <p:spPr>
            <a:xfrm>
              <a:off x="8369162" y="4085855"/>
              <a:ext cx="845103" cy="369332"/>
            </a:xfrm>
            <a:prstGeom prst="rect">
              <a:avLst/>
            </a:prstGeom>
            <a:noFill/>
          </p:spPr>
          <p:txBody>
            <a:bodyPr wrap="none" rtlCol="0">
              <a:spAutoFit/>
            </a:bodyPr>
            <a:lstStyle/>
            <a:p>
              <a:r>
                <a:rPr lang="en-US" dirty="0"/>
                <a:t>Nodes:</a:t>
              </a:r>
            </a:p>
          </p:txBody>
        </p:sp>
        <p:sp>
          <p:nvSpPr>
            <p:cNvPr id="89" name="TextBox 88">
              <a:extLst>
                <a:ext uri="{FF2B5EF4-FFF2-40B4-BE49-F238E27FC236}">
                  <a16:creationId xmlns:a16="http://schemas.microsoft.com/office/drawing/2014/main" id="{DD1AB26B-4CAC-0CE2-A591-F41A672A81B1}"/>
                </a:ext>
              </a:extLst>
            </p:cNvPr>
            <p:cNvSpPr txBox="1"/>
            <p:nvPr/>
          </p:nvSpPr>
          <p:spPr>
            <a:xfrm>
              <a:off x="6910237" y="4889842"/>
              <a:ext cx="4194808" cy="646331"/>
            </a:xfrm>
            <a:prstGeom prst="rect">
              <a:avLst/>
            </a:prstGeom>
            <a:noFill/>
          </p:spPr>
          <p:txBody>
            <a:bodyPr wrap="square" rtlCol="0">
              <a:spAutoFit/>
            </a:bodyPr>
            <a:lstStyle/>
            <a:p>
              <a:r>
                <a:rPr lang="en-US" dirty="0"/>
                <a:t>data - Reference to an integer object</a:t>
              </a:r>
            </a:p>
            <a:p>
              <a:r>
                <a:rPr lang="en-US" dirty="0"/>
                <a:t>next – Reference to a node object or None</a:t>
              </a:r>
            </a:p>
          </p:txBody>
        </p:sp>
        <p:sp>
          <p:nvSpPr>
            <p:cNvPr id="90" name="Rectangle 89">
              <a:extLst>
                <a:ext uri="{FF2B5EF4-FFF2-40B4-BE49-F238E27FC236}">
                  <a16:creationId xmlns:a16="http://schemas.microsoft.com/office/drawing/2014/main" id="{1F27A920-7C61-3E92-4E17-CD4DFCC9059D}"/>
                </a:ext>
              </a:extLst>
            </p:cNvPr>
            <p:cNvSpPr/>
            <p:nvPr/>
          </p:nvSpPr>
          <p:spPr>
            <a:xfrm>
              <a:off x="6761586" y="4075863"/>
              <a:ext cx="4542908" cy="1651931"/>
            </a:xfrm>
            <a:custGeom>
              <a:avLst/>
              <a:gdLst>
                <a:gd name="connsiteX0" fmla="*/ 0 w 4542908"/>
                <a:gd name="connsiteY0" fmla="*/ 0 h 1651931"/>
                <a:gd name="connsiteX1" fmla="*/ 522434 w 4542908"/>
                <a:gd name="connsiteY1" fmla="*/ 0 h 1651931"/>
                <a:gd name="connsiteX2" fmla="*/ 954011 w 4542908"/>
                <a:gd name="connsiteY2" fmla="*/ 0 h 1651931"/>
                <a:gd name="connsiteX3" fmla="*/ 1612732 w 4542908"/>
                <a:gd name="connsiteY3" fmla="*/ 0 h 1651931"/>
                <a:gd name="connsiteX4" fmla="*/ 2135167 w 4542908"/>
                <a:gd name="connsiteY4" fmla="*/ 0 h 1651931"/>
                <a:gd name="connsiteX5" fmla="*/ 2657601 w 4542908"/>
                <a:gd name="connsiteY5" fmla="*/ 0 h 1651931"/>
                <a:gd name="connsiteX6" fmla="*/ 3316323 w 4542908"/>
                <a:gd name="connsiteY6" fmla="*/ 0 h 1651931"/>
                <a:gd name="connsiteX7" fmla="*/ 3793328 w 4542908"/>
                <a:gd name="connsiteY7" fmla="*/ 0 h 1651931"/>
                <a:gd name="connsiteX8" fmla="*/ 4542908 w 4542908"/>
                <a:gd name="connsiteY8" fmla="*/ 0 h 1651931"/>
                <a:gd name="connsiteX9" fmla="*/ 4542908 w 4542908"/>
                <a:gd name="connsiteY9" fmla="*/ 583682 h 1651931"/>
                <a:gd name="connsiteX10" fmla="*/ 4542908 w 4542908"/>
                <a:gd name="connsiteY10" fmla="*/ 1101287 h 1651931"/>
                <a:gd name="connsiteX11" fmla="*/ 4542908 w 4542908"/>
                <a:gd name="connsiteY11" fmla="*/ 1651931 h 1651931"/>
                <a:gd name="connsiteX12" fmla="*/ 3929615 w 4542908"/>
                <a:gd name="connsiteY12" fmla="*/ 1651931 h 1651931"/>
                <a:gd name="connsiteX13" fmla="*/ 3270894 w 4542908"/>
                <a:gd name="connsiteY13" fmla="*/ 1651931 h 1651931"/>
                <a:gd name="connsiteX14" fmla="*/ 2612172 w 4542908"/>
                <a:gd name="connsiteY14" fmla="*/ 1651931 h 1651931"/>
                <a:gd name="connsiteX15" fmla="*/ 2135167 w 4542908"/>
                <a:gd name="connsiteY15" fmla="*/ 1651931 h 1651931"/>
                <a:gd name="connsiteX16" fmla="*/ 1567303 w 4542908"/>
                <a:gd name="connsiteY16" fmla="*/ 1651931 h 1651931"/>
                <a:gd name="connsiteX17" fmla="*/ 908582 w 4542908"/>
                <a:gd name="connsiteY17" fmla="*/ 1651931 h 1651931"/>
                <a:gd name="connsiteX18" fmla="*/ 0 w 4542908"/>
                <a:gd name="connsiteY18" fmla="*/ 1651931 h 1651931"/>
                <a:gd name="connsiteX19" fmla="*/ 0 w 4542908"/>
                <a:gd name="connsiteY19" fmla="*/ 1150845 h 1651931"/>
                <a:gd name="connsiteX20" fmla="*/ 0 w 4542908"/>
                <a:gd name="connsiteY20" fmla="*/ 633240 h 1651931"/>
                <a:gd name="connsiteX21" fmla="*/ 0 w 4542908"/>
                <a:gd name="connsiteY21" fmla="*/ 0 h 16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42908" h="1651931" extrusionOk="0">
                  <a:moveTo>
                    <a:pt x="0" y="0"/>
                  </a:moveTo>
                  <a:cubicBezTo>
                    <a:pt x="116049" y="-36980"/>
                    <a:pt x="357589" y="15116"/>
                    <a:pt x="522434" y="0"/>
                  </a:cubicBezTo>
                  <a:cubicBezTo>
                    <a:pt x="687279" y="-15116"/>
                    <a:pt x="743065" y="15425"/>
                    <a:pt x="954011" y="0"/>
                  </a:cubicBezTo>
                  <a:cubicBezTo>
                    <a:pt x="1164957" y="-15425"/>
                    <a:pt x="1452783" y="70480"/>
                    <a:pt x="1612732" y="0"/>
                  </a:cubicBezTo>
                  <a:cubicBezTo>
                    <a:pt x="1772681" y="-70480"/>
                    <a:pt x="1896411" y="32139"/>
                    <a:pt x="2135167" y="0"/>
                  </a:cubicBezTo>
                  <a:cubicBezTo>
                    <a:pt x="2373924" y="-32139"/>
                    <a:pt x="2513405" y="34695"/>
                    <a:pt x="2657601" y="0"/>
                  </a:cubicBezTo>
                  <a:cubicBezTo>
                    <a:pt x="2801797" y="-34695"/>
                    <a:pt x="3139397" y="62879"/>
                    <a:pt x="3316323" y="0"/>
                  </a:cubicBezTo>
                  <a:cubicBezTo>
                    <a:pt x="3493249" y="-62879"/>
                    <a:pt x="3643924" y="5918"/>
                    <a:pt x="3793328" y="0"/>
                  </a:cubicBezTo>
                  <a:cubicBezTo>
                    <a:pt x="3942732" y="-5918"/>
                    <a:pt x="4219187" y="39097"/>
                    <a:pt x="4542908" y="0"/>
                  </a:cubicBezTo>
                  <a:cubicBezTo>
                    <a:pt x="4566524" y="269014"/>
                    <a:pt x="4531978" y="422599"/>
                    <a:pt x="4542908" y="583682"/>
                  </a:cubicBezTo>
                  <a:cubicBezTo>
                    <a:pt x="4553838" y="744765"/>
                    <a:pt x="4531115" y="912227"/>
                    <a:pt x="4542908" y="1101287"/>
                  </a:cubicBezTo>
                  <a:cubicBezTo>
                    <a:pt x="4554701" y="1290348"/>
                    <a:pt x="4483561" y="1535937"/>
                    <a:pt x="4542908" y="1651931"/>
                  </a:cubicBezTo>
                  <a:cubicBezTo>
                    <a:pt x="4367035" y="1714946"/>
                    <a:pt x="4084958" y="1638757"/>
                    <a:pt x="3929615" y="1651931"/>
                  </a:cubicBezTo>
                  <a:cubicBezTo>
                    <a:pt x="3774272" y="1665105"/>
                    <a:pt x="3426181" y="1627226"/>
                    <a:pt x="3270894" y="1651931"/>
                  </a:cubicBezTo>
                  <a:cubicBezTo>
                    <a:pt x="3115607" y="1676636"/>
                    <a:pt x="2857764" y="1595868"/>
                    <a:pt x="2612172" y="1651931"/>
                  </a:cubicBezTo>
                  <a:cubicBezTo>
                    <a:pt x="2366580" y="1707994"/>
                    <a:pt x="2258085" y="1596710"/>
                    <a:pt x="2135167" y="1651931"/>
                  </a:cubicBezTo>
                  <a:cubicBezTo>
                    <a:pt x="2012250" y="1707152"/>
                    <a:pt x="1844705" y="1621733"/>
                    <a:pt x="1567303" y="1651931"/>
                  </a:cubicBezTo>
                  <a:cubicBezTo>
                    <a:pt x="1289901" y="1682129"/>
                    <a:pt x="1072453" y="1632667"/>
                    <a:pt x="908582" y="1651931"/>
                  </a:cubicBezTo>
                  <a:cubicBezTo>
                    <a:pt x="744711" y="1671195"/>
                    <a:pt x="411204" y="1543119"/>
                    <a:pt x="0" y="1651931"/>
                  </a:cubicBezTo>
                  <a:cubicBezTo>
                    <a:pt x="-24778" y="1511718"/>
                    <a:pt x="26360" y="1356781"/>
                    <a:pt x="0" y="1150845"/>
                  </a:cubicBezTo>
                  <a:cubicBezTo>
                    <a:pt x="-26360" y="944909"/>
                    <a:pt x="20876" y="780560"/>
                    <a:pt x="0" y="633240"/>
                  </a:cubicBezTo>
                  <a:cubicBezTo>
                    <a:pt x="-20876" y="485921"/>
                    <a:pt x="13592" y="303891"/>
                    <a:pt x="0" y="0"/>
                  </a:cubicBezTo>
                  <a:close/>
                </a:path>
              </a:pathLst>
            </a:custGeom>
            <a:noFill/>
            <a:ln w="1905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3" name="TextBox 92">
            <a:extLst>
              <a:ext uri="{FF2B5EF4-FFF2-40B4-BE49-F238E27FC236}">
                <a16:creationId xmlns:a16="http://schemas.microsoft.com/office/drawing/2014/main" id="{052D5779-3664-82E6-5D2D-DFA5C012C12D}"/>
              </a:ext>
            </a:extLst>
          </p:cNvPr>
          <p:cNvSpPr txBox="1"/>
          <p:nvPr/>
        </p:nvSpPr>
        <p:spPr>
          <a:xfrm>
            <a:off x="9784889" y="2077014"/>
            <a:ext cx="654773" cy="307777"/>
          </a:xfrm>
          <a:prstGeom prst="rect">
            <a:avLst/>
          </a:prstGeom>
          <a:noFill/>
        </p:spPr>
        <p:txBody>
          <a:bodyPr wrap="square">
            <a:spAutoFit/>
          </a:bodyPr>
          <a:lstStyle/>
          <a:p>
            <a:r>
              <a:rPr lang="en-US" sz="1400" b="1" dirty="0"/>
              <a:t>None</a:t>
            </a:r>
          </a:p>
        </p:txBody>
      </p:sp>
      <p:grpSp>
        <p:nvGrpSpPr>
          <p:cNvPr id="94" name="Group 93">
            <a:extLst>
              <a:ext uri="{FF2B5EF4-FFF2-40B4-BE49-F238E27FC236}">
                <a16:creationId xmlns:a16="http://schemas.microsoft.com/office/drawing/2014/main" id="{82F0C884-C1F7-B824-8F05-167ECA77D808}"/>
              </a:ext>
            </a:extLst>
          </p:cNvPr>
          <p:cNvGrpSpPr/>
          <p:nvPr/>
        </p:nvGrpSpPr>
        <p:grpSpPr>
          <a:xfrm>
            <a:off x="4711031" y="3092387"/>
            <a:ext cx="585418" cy="632116"/>
            <a:chOff x="4658147" y="4558296"/>
            <a:chExt cx="585418" cy="632116"/>
          </a:xfrm>
        </p:grpSpPr>
        <p:sp>
          <p:nvSpPr>
            <p:cNvPr id="95" name="TextBox 94">
              <a:extLst>
                <a:ext uri="{FF2B5EF4-FFF2-40B4-BE49-F238E27FC236}">
                  <a16:creationId xmlns:a16="http://schemas.microsoft.com/office/drawing/2014/main" id="{5DEC90D7-B42F-13D4-5995-2C58E0A610B6}"/>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96" name="TextBox 95">
              <a:extLst>
                <a:ext uri="{FF2B5EF4-FFF2-40B4-BE49-F238E27FC236}">
                  <a16:creationId xmlns:a16="http://schemas.microsoft.com/office/drawing/2014/main" id="{33869E01-FAF3-6F21-AA1C-7B3D3E319E71}"/>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grpSp>
        <p:nvGrpSpPr>
          <p:cNvPr id="97" name="Group 96">
            <a:extLst>
              <a:ext uri="{FF2B5EF4-FFF2-40B4-BE49-F238E27FC236}">
                <a16:creationId xmlns:a16="http://schemas.microsoft.com/office/drawing/2014/main" id="{9DEF7553-1706-864C-D192-E3FEB0270DAB}"/>
              </a:ext>
            </a:extLst>
          </p:cNvPr>
          <p:cNvGrpSpPr/>
          <p:nvPr/>
        </p:nvGrpSpPr>
        <p:grpSpPr>
          <a:xfrm>
            <a:off x="4658147" y="4558296"/>
            <a:ext cx="585418" cy="632116"/>
            <a:chOff x="4658147" y="4558296"/>
            <a:chExt cx="585418" cy="632116"/>
          </a:xfrm>
        </p:grpSpPr>
        <p:sp>
          <p:nvSpPr>
            <p:cNvPr id="98" name="TextBox 97">
              <a:extLst>
                <a:ext uri="{FF2B5EF4-FFF2-40B4-BE49-F238E27FC236}">
                  <a16:creationId xmlns:a16="http://schemas.microsoft.com/office/drawing/2014/main" id="{F7E80BE9-9293-2C89-7361-F20C266CFBC3}"/>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99" name="TextBox 98">
              <a:extLst>
                <a:ext uri="{FF2B5EF4-FFF2-40B4-BE49-F238E27FC236}">
                  <a16:creationId xmlns:a16="http://schemas.microsoft.com/office/drawing/2014/main" id="{B8F5B238-9BF7-DD2E-F084-6F8A545AE4DD}"/>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spTree>
    <p:extLst>
      <p:ext uri="{BB962C8B-B14F-4D97-AF65-F5344CB8AC3E}">
        <p14:creationId xmlns:p14="http://schemas.microsoft.com/office/powerpoint/2010/main" val="346517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6E898-75F8-F5CB-7482-6A796697A879}"/>
            </a:ext>
          </a:extLst>
        </p:cNvPr>
        <p:cNvGrpSpPr/>
        <p:nvPr/>
      </p:nvGrpSpPr>
      <p:grpSpPr>
        <a:xfrm>
          <a:off x="0" y="0"/>
          <a:ext cx="0" cy="0"/>
          <a:chOff x="0" y="0"/>
          <a:chExt cx="0" cy="0"/>
        </a:xfrm>
      </p:grpSpPr>
      <p:grpSp>
        <p:nvGrpSpPr>
          <p:cNvPr id="9" name="Group 8" descr="This object represents a node. This node has the value 10 and is not longer in any list. It is, however being referenced by the current cursor so is still accessible.  Its next pointer is pointing to the node with the value 13. ">
            <a:extLst>
              <a:ext uri="{FF2B5EF4-FFF2-40B4-BE49-F238E27FC236}">
                <a16:creationId xmlns:a16="http://schemas.microsoft.com/office/drawing/2014/main" id="{4AD78B02-F25E-C522-5104-5378DDF52232}"/>
              </a:ext>
            </a:extLst>
          </p:cNvPr>
          <p:cNvGrpSpPr/>
          <p:nvPr/>
        </p:nvGrpSpPr>
        <p:grpSpPr>
          <a:xfrm>
            <a:off x="5330413" y="2025298"/>
            <a:ext cx="837408" cy="369332"/>
            <a:chOff x="5327780" y="2034073"/>
            <a:chExt cx="837408" cy="369332"/>
          </a:xfrm>
        </p:grpSpPr>
        <p:sp>
          <p:nvSpPr>
            <p:cNvPr id="7" name="TextBox 6">
              <a:extLst>
                <a:ext uri="{FF2B5EF4-FFF2-40B4-BE49-F238E27FC236}">
                  <a16:creationId xmlns:a16="http://schemas.microsoft.com/office/drawing/2014/main" id="{FA6E8B1D-C2FD-8C79-383B-E3E1FDC5C3C4}"/>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932235F5-020F-ED7C-2BAF-ED46E077C106}"/>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is object represents a node. This node has the value 13. It is an interior node and is pointed to by the node 10. Its next pointer is pointing to the node with the value 14. ">
            <a:extLst>
              <a:ext uri="{FF2B5EF4-FFF2-40B4-BE49-F238E27FC236}">
                <a16:creationId xmlns:a16="http://schemas.microsoft.com/office/drawing/2014/main" id="{379C652F-67C8-B167-968E-C854D5AEC661}"/>
              </a:ext>
            </a:extLst>
          </p:cNvPr>
          <p:cNvGrpSpPr/>
          <p:nvPr/>
        </p:nvGrpSpPr>
        <p:grpSpPr>
          <a:xfrm>
            <a:off x="6683829" y="2034073"/>
            <a:ext cx="837408" cy="369332"/>
            <a:chOff x="5327780" y="2034073"/>
            <a:chExt cx="837408" cy="369332"/>
          </a:xfrm>
        </p:grpSpPr>
        <p:sp>
          <p:nvSpPr>
            <p:cNvPr id="11" name="TextBox 10">
              <a:extLst>
                <a:ext uri="{FF2B5EF4-FFF2-40B4-BE49-F238E27FC236}">
                  <a16:creationId xmlns:a16="http://schemas.microsoft.com/office/drawing/2014/main" id="{C56E213C-C09B-4306-F725-6AF032770933}"/>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7710A25C-0D3E-4CD8-7E0E-60170448FF1B}"/>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This node has the value 14. It is an interior node and is pointed to by the node 13. Its next pointer is pointing to the node with the value 18. ">
            <a:extLst>
              <a:ext uri="{FF2B5EF4-FFF2-40B4-BE49-F238E27FC236}">
                <a16:creationId xmlns:a16="http://schemas.microsoft.com/office/drawing/2014/main" id="{CBCB17A6-E082-0169-BE65-DB0382DEEDAF}"/>
              </a:ext>
            </a:extLst>
          </p:cNvPr>
          <p:cNvGrpSpPr/>
          <p:nvPr/>
        </p:nvGrpSpPr>
        <p:grpSpPr>
          <a:xfrm>
            <a:off x="8095908" y="2024548"/>
            <a:ext cx="837408" cy="369332"/>
            <a:chOff x="5327780" y="2034073"/>
            <a:chExt cx="837408" cy="369332"/>
          </a:xfrm>
        </p:grpSpPr>
        <p:sp>
          <p:nvSpPr>
            <p:cNvPr id="14" name="TextBox 13">
              <a:extLst>
                <a:ext uri="{FF2B5EF4-FFF2-40B4-BE49-F238E27FC236}">
                  <a16:creationId xmlns:a16="http://schemas.microsoft.com/office/drawing/2014/main" id="{98699D74-CD38-1CE7-E656-06B3EAF496D7}"/>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1D6A5FB-CCEE-60AD-2020-D5B1349DB966}"/>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E89A4D73-C6C1-DBD9-94A0-290DEDF98C84}"/>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8B9E81-A54F-DCD3-82EB-3B91F1FF6EA6}"/>
              </a:ext>
            </a:extLst>
          </p:cNvPr>
          <p:cNvSpPr/>
          <p:nvPr/>
        </p:nvSpPr>
        <p:spPr>
          <a:xfrm>
            <a:off x="9162661" y="25759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object visualizes a singly linked list object as a box with fields head, tail, and count inside. The top box represents the list, the middle box represents the evensList and the last box represents the oddsList. &#10;This shows the state of the list after the original list has been cleared so that its head and tail pointers reference the None object and the count is 0.&#10;At this point in the process, both evensList and oddsList are empty with head and tail pointers pointing to the None object and counts both set to 0.  ">
            <a:extLst>
              <a:ext uri="{FF2B5EF4-FFF2-40B4-BE49-F238E27FC236}">
                <a16:creationId xmlns:a16="http://schemas.microsoft.com/office/drawing/2014/main" id="{19868150-D4C2-7716-CABB-4A2EE69D5475}"/>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50" name="TextBox 49">
            <a:extLst>
              <a:ext uri="{FF2B5EF4-FFF2-40B4-BE49-F238E27FC236}">
                <a16:creationId xmlns:a16="http://schemas.microsoft.com/office/drawing/2014/main" id="{59988AEF-8E90-1561-F4AF-BC77199AADE5}"/>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2531A0D9-405D-4BA4-67FC-BE32455A2E46}"/>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visualizes a singly linked list object as a box with fields head, tail, and count inside. The top box represents the list, the middle box represents the evensList and the last box represents the oddsList. &#10;This shows the state of the list after the original list has been cleared so that its head and tail pointers reference the None object and the count is 0.&#10;At this point in the process, both evensList and oddsList are empty with head and tail pointers pointing to the None object and counts both set to 0. ">
            <a:extLst>
              <a:ext uri="{FF2B5EF4-FFF2-40B4-BE49-F238E27FC236}">
                <a16:creationId xmlns:a16="http://schemas.microsoft.com/office/drawing/2014/main" id="{3616B1A0-186C-4687-4B5D-29C2BF5E94B0}"/>
              </a:ext>
            </a:extLst>
          </p:cNvPr>
          <p:cNvSpPr txBox="1"/>
          <p:nvPr/>
        </p:nvSpPr>
        <p:spPr>
          <a:xfrm>
            <a:off x="3329924" y="4513303"/>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a:t>
            </a:r>
          </a:p>
        </p:txBody>
      </p:sp>
      <p:sp>
        <p:nvSpPr>
          <p:cNvPr id="54" name="TextBox 53">
            <a:extLst>
              <a:ext uri="{FF2B5EF4-FFF2-40B4-BE49-F238E27FC236}">
                <a16:creationId xmlns:a16="http://schemas.microsoft.com/office/drawing/2014/main" id="{10C893A6-3CB8-194F-0BD0-189312F3118E}"/>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EF74502A-4568-AA5D-CD96-606A9F502D7E}"/>
              </a:ext>
            </a:extLst>
          </p:cNvPr>
          <p:cNvCxnSpPr>
            <a:stCxn id="54" idx="3"/>
            <a:endCxn id="53" idx="1"/>
          </p:cNvCxnSpPr>
          <p:nvPr/>
        </p:nvCxnSpPr>
        <p:spPr>
          <a:xfrm>
            <a:off x="2698779" y="4782624"/>
            <a:ext cx="631145" cy="192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6D8DA02-A04E-3385-0A10-ADF946DDF75A}"/>
              </a:ext>
            </a:extLst>
          </p:cNvPr>
          <p:cNvSpPr txBox="1"/>
          <p:nvPr/>
        </p:nvSpPr>
        <p:spPr>
          <a:xfrm>
            <a:off x="4981489" y="1118187"/>
            <a:ext cx="873637" cy="369332"/>
          </a:xfrm>
          <a:prstGeom prst="rect">
            <a:avLst/>
          </a:prstGeom>
          <a:noFill/>
        </p:spPr>
        <p:txBody>
          <a:bodyPr wrap="none" rtlCol="0">
            <a:spAutoFit/>
          </a:bodyPr>
          <a:lstStyle/>
          <a:p>
            <a:r>
              <a:rPr lang="en-US" dirty="0"/>
              <a:t>current</a:t>
            </a:r>
          </a:p>
        </p:txBody>
      </p:sp>
      <p:cxnSp>
        <p:nvCxnSpPr>
          <p:cNvPr id="58" name="Straight Arrow Connector 57">
            <a:extLst>
              <a:ext uri="{FF2B5EF4-FFF2-40B4-BE49-F238E27FC236}">
                <a16:creationId xmlns:a16="http://schemas.microsoft.com/office/drawing/2014/main" id="{C666DA07-8E3D-566A-BB6D-DEBDBB04BE9C}"/>
              </a:ext>
            </a:extLst>
          </p:cNvPr>
          <p:cNvCxnSpPr>
            <a:cxnSpLocks/>
            <a:stCxn id="56" idx="2"/>
          </p:cNvCxnSpPr>
          <p:nvPr/>
        </p:nvCxnSpPr>
        <p:spPr>
          <a:xfrm>
            <a:off x="5418308" y="1487519"/>
            <a:ext cx="335380" cy="44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3D3539A-BB95-D525-1678-021E75ACFE5B}"/>
              </a:ext>
            </a:extLst>
          </p:cNvPr>
          <p:cNvSpPr/>
          <p:nvPr/>
        </p:nvSpPr>
        <p:spPr>
          <a:xfrm>
            <a:off x="3634321" y="3171434"/>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1B10E13-E3F8-7136-3473-C7C6E23984C1}"/>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5D3ECFAC-AC07-71B2-AE65-3A3A8BD7D85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82E647B-F35D-E34E-B375-C13B9D6E73D0}"/>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F00A1120-E8FA-4FCD-1C84-D687BC4D534B}"/>
              </a:ext>
            </a:extLst>
          </p:cNvPr>
          <p:cNvSpPr txBox="1"/>
          <p:nvPr/>
        </p:nvSpPr>
        <p:spPr>
          <a:xfrm>
            <a:off x="859813" y="550506"/>
            <a:ext cx="2928622" cy="461665"/>
          </a:xfrm>
          <a:prstGeom prst="rect">
            <a:avLst/>
          </a:prstGeom>
          <a:noFill/>
        </p:spPr>
        <p:txBody>
          <a:bodyPr wrap="none" rtlCol="0">
            <a:spAutoFit/>
          </a:bodyPr>
          <a:lstStyle/>
          <a:p>
            <a:r>
              <a:rPr lang="en-US" sz="2400" dirty="0"/>
              <a:t>After clear original list</a:t>
            </a:r>
          </a:p>
        </p:txBody>
      </p:sp>
      <p:sp>
        <p:nvSpPr>
          <p:cNvPr id="51" name="Rectangle 50">
            <a:extLst>
              <a:ext uri="{FF2B5EF4-FFF2-40B4-BE49-F238E27FC236}">
                <a16:creationId xmlns:a16="http://schemas.microsoft.com/office/drawing/2014/main" id="{C9567638-EE16-C70B-FAC6-EC60F7A736CF}"/>
              </a:ext>
            </a:extLst>
          </p:cNvPr>
          <p:cNvSpPr/>
          <p:nvPr/>
        </p:nvSpPr>
        <p:spPr>
          <a:xfrm>
            <a:off x="6384372" y="3209940"/>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object represents a node. This node has the value 18. It is pointed to by the node with 14. It's next pointer is pointing to the None object meaning there is no following node. The tail pointer of the original list is no longer pointing to this node because it has been cleared. ">
            <a:extLst>
              <a:ext uri="{FF2B5EF4-FFF2-40B4-BE49-F238E27FC236}">
                <a16:creationId xmlns:a16="http://schemas.microsoft.com/office/drawing/2014/main" id="{511FAE11-C4AC-355E-7EA7-5F9EFB35C00C}"/>
              </a:ext>
            </a:extLst>
          </p:cNvPr>
          <p:cNvGrpSpPr/>
          <p:nvPr/>
        </p:nvGrpSpPr>
        <p:grpSpPr>
          <a:xfrm>
            <a:off x="9457614" y="2036455"/>
            <a:ext cx="837408" cy="369332"/>
            <a:chOff x="5327780" y="2034073"/>
            <a:chExt cx="837408" cy="369332"/>
          </a:xfrm>
        </p:grpSpPr>
        <p:sp>
          <p:nvSpPr>
            <p:cNvPr id="63" name="TextBox 62">
              <a:extLst>
                <a:ext uri="{FF2B5EF4-FFF2-40B4-BE49-F238E27FC236}">
                  <a16:creationId xmlns:a16="http://schemas.microsoft.com/office/drawing/2014/main" id="{89EF9E69-6F93-266D-E179-89FF3CDE1C13}"/>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9ED7C936-AA99-E799-0F44-C62B632B464E}"/>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FD5CFDC-6CD0-EFC8-EF97-A497058CF830}"/>
              </a:ext>
            </a:extLst>
          </p:cNvPr>
          <p:cNvSpPr/>
          <p:nvPr/>
        </p:nvSpPr>
        <p:spPr>
          <a:xfrm>
            <a:off x="9519170" y="223328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91B8E399-033C-939B-B52B-2EC62DB91476}"/>
              </a:ext>
            </a:extLst>
          </p:cNvPr>
          <p:cNvSpPr/>
          <p:nvPr/>
        </p:nvSpPr>
        <p:spPr>
          <a:xfrm>
            <a:off x="4382946" y="569196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5345A894-1105-1A40-7112-50AFF606FB65}"/>
              </a:ext>
            </a:extLst>
          </p:cNvPr>
          <p:cNvCxnSpPr>
            <a:cxnSpLocks/>
            <a:endCxn id="63" idx="1"/>
          </p:cNvCxnSpPr>
          <p:nvPr/>
        </p:nvCxnSpPr>
        <p:spPr>
          <a:xfrm flipV="1">
            <a:off x="8788128" y="2221121"/>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975AE14-8480-A10A-82FA-1FE42AEF665D}"/>
              </a:ext>
            </a:extLst>
          </p:cNvPr>
          <p:cNvCxnSpPr>
            <a:cxnSpLocks/>
            <a:endCxn id="11" idx="1"/>
          </p:cNvCxnSpPr>
          <p:nvPr/>
        </p:nvCxnSpPr>
        <p:spPr>
          <a:xfrm>
            <a:off x="6037717" y="2217864"/>
            <a:ext cx="646112" cy="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A0DE83B-43F2-5B87-7673-1DBD5E08B501}"/>
              </a:ext>
            </a:extLst>
          </p:cNvPr>
          <p:cNvCxnSpPr>
            <a:stCxn id="12" idx="3"/>
            <a:endCxn id="14" idx="1"/>
          </p:cNvCxnSpPr>
          <p:nvPr/>
        </p:nvCxnSpPr>
        <p:spPr>
          <a:xfrm flipV="1">
            <a:off x="7521237" y="2209214"/>
            <a:ext cx="574671"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AB9EDA2-7D19-857D-862A-A099E811E588}"/>
              </a:ext>
            </a:extLst>
          </p:cNvPr>
          <p:cNvCxnSpPr>
            <a:cxnSpLocks/>
            <a:stCxn id="76" idx="3"/>
          </p:cNvCxnSpPr>
          <p:nvPr/>
        </p:nvCxnSpPr>
        <p:spPr>
          <a:xfrm flipV="1">
            <a:off x="3818534" y="4967290"/>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A46E03B-96A9-4EFA-0AAA-137F09E99F36}"/>
              </a:ext>
            </a:extLst>
          </p:cNvPr>
          <p:cNvCxnSpPr>
            <a:cxnSpLocks/>
            <a:stCxn id="61" idx="3"/>
          </p:cNvCxnSpPr>
          <p:nvPr/>
        </p:nvCxnSpPr>
        <p:spPr>
          <a:xfrm>
            <a:off x="3818534" y="3263767"/>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F6AE657-B300-0304-F897-7ACB82F58A5F}"/>
              </a:ext>
            </a:extLst>
          </p:cNvPr>
          <p:cNvCxnSpPr>
            <a:cxnSpLocks/>
            <a:stCxn id="62" idx="3"/>
          </p:cNvCxnSpPr>
          <p:nvPr/>
        </p:nvCxnSpPr>
        <p:spPr>
          <a:xfrm>
            <a:off x="3818534" y="3540766"/>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09865D-8879-B13A-2187-6B531D1C3DB9}"/>
              </a:ext>
            </a:extLst>
          </p:cNvPr>
          <p:cNvCxnSpPr>
            <a:cxnSpLocks/>
            <a:stCxn id="75" idx="3"/>
          </p:cNvCxnSpPr>
          <p:nvPr/>
        </p:nvCxnSpPr>
        <p:spPr>
          <a:xfrm>
            <a:off x="3818534" y="4697969"/>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165E53DE-6242-9BE3-C0BC-A840F067078E}"/>
              </a:ext>
            </a:extLst>
          </p:cNvPr>
          <p:cNvSpPr txBox="1"/>
          <p:nvPr/>
        </p:nvSpPr>
        <p:spPr>
          <a:xfrm>
            <a:off x="9784889" y="2077014"/>
            <a:ext cx="654773" cy="307777"/>
          </a:xfrm>
          <a:prstGeom prst="rect">
            <a:avLst/>
          </a:prstGeom>
          <a:noFill/>
        </p:spPr>
        <p:txBody>
          <a:bodyPr wrap="square">
            <a:spAutoFit/>
          </a:bodyPr>
          <a:lstStyle/>
          <a:p>
            <a:r>
              <a:rPr lang="en-US" sz="1400" b="1" dirty="0"/>
              <a:t>None</a:t>
            </a:r>
          </a:p>
        </p:txBody>
      </p:sp>
      <p:grpSp>
        <p:nvGrpSpPr>
          <p:cNvPr id="2" name="Group 1" descr="This object visualizes a singly linked list object as a box with fields head, tail, and count inside. The top box represents the list, the middle box represents the evensList and the last box represents the oddsList. &#10;This shows the state of the list after the original list has been cleared so that its head and tail pointers reference the None object and the count is 0.&#10;At this point in the process, both evensList and oddsList are empty with head and tail pointers pointing to the None object and counts both set to 0. &#10;">
            <a:extLst>
              <a:ext uri="{FF2B5EF4-FFF2-40B4-BE49-F238E27FC236}">
                <a16:creationId xmlns:a16="http://schemas.microsoft.com/office/drawing/2014/main" id="{4447B35D-98AE-8FC1-7294-A4B7D046D06B}"/>
              </a:ext>
            </a:extLst>
          </p:cNvPr>
          <p:cNvGrpSpPr/>
          <p:nvPr/>
        </p:nvGrpSpPr>
        <p:grpSpPr>
          <a:xfrm>
            <a:off x="1488485" y="1597934"/>
            <a:ext cx="2919116" cy="923330"/>
            <a:chOff x="1894663" y="1710943"/>
            <a:chExt cx="2919116" cy="923330"/>
          </a:xfrm>
        </p:grpSpPr>
        <p:sp>
          <p:nvSpPr>
            <p:cNvPr id="3" name="TextBox 2">
              <a:extLst>
                <a:ext uri="{FF2B5EF4-FFF2-40B4-BE49-F238E27FC236}">
                  <a16:creationId xmlns:a16="http://schemas.microsoft.com/office/drawing/2014/main" id="{C116A35C-17F2-388D-64E0-0B0435EFCF33}"/>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4" name="TextBox 3">
              <a:extLst>
                <a:ext uri="{FF2B5EF4-FFF2-40B4-BE49-F238E27FC236}">
                  <a16:creationId xmlns:a16="http://schemas.microsoft.com/office/drawing/2014/main" id="{1CD4D68A-41EC-BA45-CDDF-D62154CBF557}"/>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17" name="Rectangle 16">
              <a:extLst>
                <a:ext uri="{FF2B5EF4-FFF2-40B4-BE49-F238E27FC236}">
                  <a16:creationId xmlns:a16="http://schemas.microsoft.com/office/drawing/2014/main" id="{6E26FC2A-3DEB-CAFF-EB0E-56983B343B48}"/>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C1232D-1592-1F32-7FB8-C699AA070DB5}"/>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A339438-732C-BEF0-5872-E858786A341A}"/>
                </a:ext>
              </a:extLst>
            </p:cNvPr>
            <p:cNvCxnSpPr>
              <a:stCxn id="3" idx="3"/>
              <a:endCxn id="4"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3B589402-1AFE-7392-176D-79A85E66AAF6}"/>
                </a:ext>
              </a:extLst>
            </p:cNvPr>
            <p:cNvGrpSpPr/>
            <p:nvPr/>
          </p:nvGrpSpPr>
          <p:grpSpPr>
            <a:xfrm>
              <a:off x="4228361" y="1752675"/>
              <a:ext cx="585418" cy="632116"/>
              <a:chOff x="4658147" y="4558296"/>
              <a:chExt cx="585418" cy="632116"/>
            </a:xfrm>
          </p:grpSpPr>
          <p:sp>
            <p:nvSpPr>
              <p:cNvPr id="33" name="TextBox 32">
                <a:extLst>
                  <a:ext uri="{FF2B5EF4-FFF2-40B4-BE49-F238E27FC236}">
                    <a16:creationId xmlns:a16="http://schemas.microsoft.com/office/drawing/2014/main" id="{B2ECE8E1-7258-60DC-69AC-D218DC5DCF28}"/>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35" name="TextBox 34">
                <a:extLst>
                  <a:ext uri="{FF2B5EF4-FFF2-40B4-BE49-F238E27FC236}">
                    <a16:creationId xmlns:a16="http://schemas.microsoft.com/office/drawing/2014/main" id="{62D3D323-5B2E-6F59-3652-F86DDC0DC532}"/>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24" name="Straight Arrow Connector 23">
              <a:extLst>
                <a:ext uri="{FF2B5EF4-FFF2-40B4-BE49-F238E27FC236}">
                  <a16:creationId xmlns:a16="http://schemas.microsoft.com/office/drawing/2014/main" id="{FBF0CDA0-9E6C-A04B-4A87-BFCC5342E8B0}"/>
                </a:ext>
              </a:extLst>
            </p:cNvPr>
            <p:cNvCxnSpPr>
              <a:cxnSpLocks/>
            </p:cNvCxnSpPr>
            <p:nvPr/>
          </p:nvCxnSpPr>
          <p:spPr>
            <a:xfrm>
              <a:off x="3463143" y="1908065"/>
              <a:ext cx="7768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93B878E-BAE8-0F8C-CDA1-7E873AABC077}"/>
                </a:ext>
              </a:extLst>
            </p:cNvPr>
            <p:cNvCxnSpPr>
              <a:cxnSpLocks/>
              <a:stCxn id="31"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E571D9E-B10E-3C30-8668-B1313F88968C}"/>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71F66FA-A685-0C0A-286D-F48AF598F2E4}"/>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C60BB624-D1B6-8126-C36E-5511FEAF1189}"/>
              </a:ext>
            </a:extLst>
          </p:cNvPr>
          <p:cNvGrpSpPr/>
          <p:nvPr/>
        </p:nvGrpSpPr>
        <p:grpSpPr>
          <a:xfrm>
            <a:off x="4711031" y="3092387"/>
            <a:ext cx="585418" cy="632116"/>
            <a:chOff x="4658147" y="4558296"/>
            <a:chExt cx="585418" cy="632116"/>
          </a:xfrm>
        </p:grpSpPr>
        <p:sp>
          <p:nvSpPr>
            <p:cNvPr id="38" name="TextBox 37">
              <a:extLst>
                <a:ext uri="{FF2B5EF4-FFF2-40B4-BE49-F238E27FC236}">
                  <a16:creationId xmlns:a16="http://schemas.microsoft.com/office/drawing/2014/main" id="{A61B2BF2-5EF7-C10F-42EB-35D1A4737284}"/>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39" name="TextBox 38">
              <a:extLst>
                <a:ext uri="{FF2B5EF4-FFF2-40B4-BE49-F238E27FC236}">
                  <a16:creationId xmlns:a16="http://schemas.microsoft.com/office/drawing/2014/main" id="{96097287-2B70-6EF7-3063-D7C01264D4F0}"/>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grpSp>
        <p:nvGrpSpPr>
          <p:cNvPr id="40" name="Group 39">
            <a:extLst>
              <a:ext uri="{FF2B5EF4-FFF2-40B4-BE49-F238E27FC236}">
                <a16:creationId xmlns:a16="http://schemas.microsoft.com/office/drawing/2014/main" id="{BCDC1DF6-338D-3F81-51D1-FF7F8EF15555}"/>
              </a:ext>
            </a:extLst>
          </p:cNvPr>
          <p:cNvGrpSpPr/>
          <p:nvPr/>
        </p:nvGrpSpPr>
        <p:grpSpPr>
          <a:xfrm>
            <a:off x="4658147" y="4558296"/>
            <a:ext cx="585418" cy="632116"/>
            <a:chOff x="4658147" y="4558296"/>
            <a:chExt cx="585418" cy="632116"/>
          </a:xfrm>
        </p:grpSpPr>
        <p:sp>
          <p:nvSpPr>
            <p:cNvPr id="41" name="TextBox 40">
              <a:extLst>
                <a:ext uri="{FF2B5EF4-FFF2-40B4-BE49-F238E27FC236}">
                  <a16:creationId xmlns:a16="http://schemas.microsoft.com/office/drawing/2014/main" id="{0A17335E-9938-D598-4FC5-C8EB363AEF18}"/>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42" name="TextBox 41">
              <a:extLst>
                <a:ext uri="{FF2B5EF4-FFF2-40B4-BE49-F238E27FC236}">
                  <a16:creationId xmlns:a16="http://schemas.microsoft.com/office/drawing/2014/main" id="{08DEE723-1236-9B7C-7562-5521A20072D0}"/>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spTree>
    <p:extLst>
      <p:ext uri="{BB962C8B-B14F-4D97-AF65-F5344CB8AC3E}">
        <p14:creationId xmlns:p14="http://schemas.microsoft.com/office/powerpoint/2010/main" val="2608604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is object represents a node. This node has the value 10 and has been placed in the evensList by virtue of the evensList head pointer referencing it. The tail pointer of evenlist is also referencing it, showing that is the only node in the evensList.  It is, still being referenced by the current cursor.  Its next pointer is pointing to the node with the value 13. ">
            <a:extLst>
              <a:ext uri="{FF2B5EF4-FFF2-40B4-BE49-F238E27FC236}">
                <a16:creationId xmlns:a16="http://schemas.microsoft.com/office/drawing/2014/main" id="{5DD54024-0FA6-4B0A-80C0-89C1918A30D1}"/>
              </a:ext>
            </a:extLst>
          </p:cNvPr>
          <p:cNvGrpSpPr/>
          <p:nvPr/>
        </p:nvGrpSpPr>
        <p:grpSpPr>
          <a:xfrm>
            <a:off x="5012807" y="1900845"/>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is object represents a node in a list. This node has the value 13. It isno longer being referenced by the node with 10 since that node is now at the end of the evensList. It is however, being referenced by a new cursor called next_node so it is still accessible. .  Its next pointer is pointing to the node with the value 14. ">
            <a:extLst>
              <a:ext uri="{FF2B5EF4-FFF2-40B4-BE49-F238E27FC236}">
                <a16:creationId xmlns:a16="http://schemas.microsoft.com/office/drawing/2014/main" id="{4666D4FE-5B5C-4459-A6CC-4806EAED419B}"/>
              </a:ext>
            </a:extLst>
          </p:cNvPr>
          <p:cNvGrpSpPr/>
          <p:nvPr/>
        </p:nvGrpSpPr>
        <p:grpSpPr>
          <a:xfrm>
            <a:off x="6366223" y="1909620"/>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This node has the value 14. It is an interior node and is pointed to by the node 13. Its next pointer is pointing to the node with the value 18. ">
            <a:extLst>
              <a:ext uri="{FF2B5EF4-FFF2-40B4-BE49-F238E27FC236}">
                <a16:creationId xmlns:a16="http://schemas.microsoft.com/office/drawing/2014/main" id="{78FAFC49-D14E-4702-91EB-44670C059031}"/>
              </a:ext>
            </a:extLst>
          </p:cNvPr>
          <p:cNvGrpSpPr/>
          <p:nvPr/>
        </p:nvGrpSpPr>
        <p:grpSpPr>
          <a:xfrm>
            <a:off x="7778302" y="1909620"/>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9E3FC32-555C-4B78-9715-447585AEDDBB}"/>
              </a:ext>
            </a:extLst>
          </p:cNvPr>
          <p:cNvSpPr/>
          <p:nvPr/>
        </p:nvSpPr>
        <p:spPr>
          <a:xfrm>
            <a:off x="3266679" y="1897456"/>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2E4AEA-41E6-4371-991A-E1B9BFF03A8B}"/>
              </a:ext>
            </a:extLst>
          </p:cNvPr>
          <p:cNvSpPr/>
          <p:nvPr/>
        </p:nvSpPr>
        <p:spPr>
          <a:xfrm>
            <a:off x="7839858" y="2106450"/>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8845055" y="2451454"/>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4D5886A-ECC6-4FA1-BB93-37EF6BB659D6}"/>
              </a:ext>
            </a:extLst>
          </p:cNvPr>
          <p:cNvSpPr/>
          <p:nvPr/>
        </p:nvSpPr>
        <p:spPr>
          <a:xfrm>
            <a:off x="3363983" y="1650867"/>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visualizes the state of the evensList after the node with 10 has been added to it. The affected references by this operation are pointed to by a gray, dashed arrow. The head and tail references are now ointing to the node identified by the cursor, current. These connections are depicted as red arrows. The count field is now 1.  ">
            <a:extLst>
              <a:ext uri="{FF2B5EF4-FFF2-40B4-BE49-F238E27FC236}">
                <a16:creationId xmlns:a16="http://schemas.microsoft.com/office/drawing/2014/main" id="{5B7DF3C0-759F-4156-9C70-2495727DD711}"/>
              </a:ext>
            </a:extLst>
          </p:cNvPr>
          <p:cNvSpPr txBox="1"/>
          <p:nvPr/>
        </p:nvSpPr>
        <p:spPr>
          <a:xfrm>
            <a:off x="3021373" y="2954648"/>
            <a:ext cx="1166473"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a:t>
            </a:r>
            <a:r>
              <a:rPr lang="en-US" dirty="0">
                <a:solidFill>
                  <a:schemeClr val="bg2">
                    <a:lumMod val="50000"/>
                  </a:schemeClr>
                </a:solidFill>
              </a:rPr>
              <a:t>0</a:t>
            </a:r>
            <a:r>
              <a:rPr lang="en-US" dirty="0"/>
              <a:t> </a:t>
            </a:r>
            <a:r>
              <a:rPr lang="en-US" dirty="0">
                <a:solidFill>
                  <a:srgbClr val="FF0000"/>
                </a:solidFill>
              </a:rPr>
              <a:t>1</a:t>
            </a:r>
            <a:r>
              <a:rPr lang="en-US" dirty="0"/>
              <a:t>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426424" y="3046981"/>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469145" y="3231647"/>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e oddsList is still empty as described on the previous slide.">
            <a:extLst>
              <a:ext uri="{FF2B5EF4-FFF2-40B4-BE49-F238E27FC236}">
                <a16:creationId xmlns:a16="http://schemas.microsoft.com/office/drawing/2014/main" id="{B026C760-1433-4994-951F-A89EE9F55E5F}"/>
              </a:ext>
            </a:extLst>
          </p:cNvPr>
          <p:cNvSpPr txBox="1"/>
          <p:nvPr/>
        </p:nvSpPr>
        <p:spPr>
          <a:xfrm>
            <a:off x="2996045" y="4381172"/>
            <a:ext cx="890757" cy="923330"/>
          </a:xfrm>
          <a:prstGeom prst="rect">
            <a:avLst/>
          </a:prstGeom>
          <a:noFill/>
          <a:ln>
            <a:solidFill>
              <a:schemeClr val="accent1"/>
            </a:solidFill>
          </a:ln>
        </p:spPr>
        <p:txBody>
          <a:bodyPr wrap="none" rtlCol="0">
            <a:spAutoFit/>
          </a:bodyPr>
          <a:lstStyle/>
          <a:p>
            <a:r>
              <a:rPr lang="en-US" dirty="0"/>
              <a:t>first</a:t>
            </a:r>
          </a:p>
          <a:p>
            <a:r>
              <a:rPr lang="en-US" dirty="0"/>
              <a:t>last</a:t>
            </a:r>
          </a:p>
          <a:p>
            <a:r>
              <a:rPr lang="en-US" dirty="0"/>
              <a:t>count </a:t>
            </a:r>
            <a:r>
              <a:rPr lang="en-US" dirty="0">
                <a:solidFill>
                  <a:schemeClr val="accent1"/>
                </a:solidFill>
              </a:rPr>
              <a:t>0</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426424" y="4473505"/>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381173" y="4658171"/>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4708705" y="1045082"/>
            <a:ext cx="873637" cy="369332"/>
          </a:xfrm>
          <a:prstGeom prst="rect">
            <a:avLst/>
          </a:prstGeom>
          <a:noFill/>
        </p:spPr>
        <p:txBody>
          <a:bodyPr wrap="none" rtlCol="0">
            <a:spAutoFit/>
          </a:bodyPr>
          <a:lstStyle/>
          <a:p>
            <a:r>
              <a:rPr lang="en-US" dirty="0"/>
              <a:t>current</a:t>
            </a:r>
          </a:p>
        </p:txBody>
      </p:sp>
      <p:sp>
        <p:nvSpPr>
          <p:cNvPr id="61" name="Rectangle 60">
            <a:extLst>
              <a:ext uri="{FF2B5EF4-FFF2-40B4-BE49-F238E27FC236}">
                <a16:creationId xmlns:a16="http://schemas.microsoft.com/office/drawing/2014/main" id="{39F930EE-F7DF-4445-93A2-B64172472586}"/>
              </a:ext>
            </a:extLst>
          </p:cNvPr>
          <p:cNvSpPr/>
          <p:nvPr/>
        </p:nvSpPr>
        <p:spPr>
          <a:xfrm>
            <a:off x="3363983" y="30324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2B4E316-46E9-40F5-A68E-C79A22B98903}"/>
              </a:ext>
            </a:extLst>
          </p:cNvPr>
          <p:cNvSpPr/>
          <p:nvPr/>
        </p:nvSpPr>
        <p:spPr>
          <a:xfrm>
            <a:off x="3316715" y="3323980"/>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3316715" y="448118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316715" y="475818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203479" y="340440"/>
            <a:ext cx="4319067" cy="461665"/>
          </a:xfrm>
          <a:prstGeom prst="rect">
            <a:avLst/>
          </a:prstGeom>
          <a:noFill/>
        </p:spPr>
        <p:txBody>
          <a:bodyPr wrap="none" rtlCol="0">
            <a:spAutoFit/>
          </a:bodyPr>
          <a:lstStyle/>
          <a:p>
            <a:r>
              <a:rPr lang="en-US" sz="2400" dirty="0"/>
              <a:t>Adding node with 10 to </a:t>
            </a:r>
            <a:r>
              <a:rPr lang="en-US" sz="2400" dirty="0" err="1"/>
              <a:t>evensList</a:t>
            </a:r>
            <a:endParaRPr lang="en-US" sz="2400" dirty="0"/>
          </a:p>
        </p:txBody>
      </p:sp>
      <p:grpSp>
        <p:nvGrpSpPr>
          <p:cNvPr id="57" name="Group 56" descr="This object represents a node. This node has the value 18. It is pointed to by the node with 14. It's next pointer is pointing to the None object meaning there is no following node.">
            <a:extLst>
              <a:ext uri="{FF2B5EF4-FFF2-40B4-BE49-F238E27FC236}">
                <a16:creationId xmlns:a16="http://schemas.microsoft.com/office/drawing/2014/main" id="{9E0AED43-7C17-4C80-A567-137193B013AA}"/>
              </a:ext>
            </a:extLst>
          </p:cNvPr>
          <p:cNvGrpSpPr/>
          <p:nvPr/>
        </p:nvGrpSpPr>
        <p:grpSpPr>
          <a:xfrm>
            <a:off x="9140008" y="1912002"/>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201564" y="2108832"/>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7BB6EDF5-2771-4DA5-B52B-FECB57DC0C06}"/>
              </a:ext>
            </a:extLst>
          </p:cNvPr>
          <p:cNvCxnSpPr>
            <a:cxnSpLocks/>
            <a:endCxn id="63" idx="1"/>
          </p:cNvCxnSpPr>
          <p:nvPr/>
        </p:nvCxnSpPr>
        <p:spPr>
          <a:xfrm flipV="1">
            <a:off x="8470522" y="2096668"/>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D578ED-225D-40EA-8C88-64B1E5FDA8E2}"/>
              </a:ext>
            </a:extLst>
          </p:cNvPr>
          <p:cNvCxnSpPr>
            <a:cxnSpLocks/>
            <a:stCxn id="12" idx="3"/>
            <a:endCxn id="14" idx="1"/>
          </p:cNvCxnSpPr>
          <p:nvPr/>
        </p:nvCxnSpPr>
        <p:spPr>
          <a:xfrm>
            <a:off x="7203631" y="2094286"/>
            <a:ext cx="5746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a:off x="3500928" y="4850515"/>
            <a:ext cx="837782"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132BF3-A7C4-4529-BB8E-7D1E27F80A5F}"/>
              </a:ext>
            </a:extLst>
          </p:cNvPr>
          <p:cNvCxnSpPr>
            <a:cxnSpLocks/>
            <a:stCxn id="61" idx="3"/>
          </p:cNvCxnSpPr>
          <p:nvPr/>
        </p:nvCxnSpPr>
        <p:spPr>
          <a:xfrm flipV="1">
            <a:off x="3548196" y="2287023"/>
            <a:ext cx="1408772" cy="8377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81E351B-27A2-4FDB-A651-E1C809AD51DF}"/>
              </a:ext>
            </a:extLst>
          </p:cNvPr>
          <p:cNvCxnSpPr>
            <a:cxnSpLocks/>
          </p:cNvCxnSpPr>
          <p:nvPr/>
        </p:nvCxnSpPr>
        <p:spPr>
          <a:xfrm flipV="1">
            <a:off x="3500928" y="2380622"/>
            <a:ext cx="1511879" cy="10259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A37D068-6F03-4487-B4F2-B89A76D4D316}"/>
              </a:ext>
            </a:extLst>
          </p:cNvPr>
          <p:cNvCxnSpPr>
            <a:cxnSpLocks/>
            <a:stCxn id="75" idx="3"/>
          </p:cNvCxnSpPr>
          <p:nvPr/>
        </p:nvCxnSpPr>
        <p:spPr>
          <a:xfrm>
            <a:off x="3500928" y="4573516"/>
            <a:ext cx="83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6618063-13AE-404B-84B4-A58F00268746}"/>
              </a:ext>
            </a:extLst>
          </p:cNvPr>
          <p:cNvCxnSpPr>
            <a:cxnSpLocks/>
            <a:stCxn id="56" idx="2"/>
          </p:cNvCxnSpPr>
          <p:nvPr/>
        </p:nvCxnSpPr>
        <p:spPr>
          <a:xfrm>
            <a:off x="5145524" y="1414414"/>
            <a:ext cx="289510" cy="415959"/>
          </a:xfrm>
          <a:prstGeom prst="straightConnector1">
            <a:avLst/>
          </a:prstGeom>
          <a:ln>
            <a:solidFill>
              <a:schemeClr val="accent1">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203B601-01B0-A95F-97B7-40890058126E}"/>
              </a:ext>
            </a:extLst>
          </p:cNvPr>
          <p:cNvSpPr txBox="1"/>
          <p:nvPr/>
        </p:nvSpPr>
        <p:spPr>
          <a:xfrm>
            <a:off x="6711190" y="3221338"/>
            <a:ext cx="5135014" cy="3060838"/>
          </a:xfrm>
          <a:prstGeom prst="rect">
            <a:avLst/>
          </a:prstGeom>
          <a:noFill/>
        </p:spPr>
        <p:txBody>
          <a:bodyPr wrap="square">
            <a:spAutoFit/>
          </a:bodyPr>
          <a:lstStyle/>
          <a:p>
            <a:r>
              <a:rPr lang="en-US" sz="2000" dirty="0" err="1"/>
              <a:t>next_node</a:t>
            </a:r>
            <a:r>
              <a:rPr lang="en-US" sz="2000" dirty="0"/>
              <a:t> = </a:t>
            </a:r>
            <a:r>
              <a:rPr lang="en-US" sz="2000" dirty="0" err="1"/>
              <a:t>current.next</a:t>
            </a:r>
            <a:endParaRPr lang="en-US" sz="2000" dirty="0"/>
          </a:p>
          <a:p>
            <a:r>
              <a:rPr lang="en-US" sz="2000" dirty="0" err="1"/>
              <a:t>current.next</a:t>
            </a:r>
            <a:r>
              <a:rPr lang="en-US" sz="2000" dirty="0"/>
              <a:t> = none</a:t>
            </a:r>
          </a:p>
          <a:p>
            <a:pPr marL="0" indent="0">
              <a:lnSpc>
                <a:spcPct val="110000"/>
              </a:lnSpc>
              <a:spcBef>
                <a:spcPts val="0"/>
              </a:spcBef>
              <a:buNone/>
            </a:pPr>
            <a:r>
              <a:rPr lang="en-US" sz="2000" dirty="0"/>
              <a:t> if </a:t>
            </a:r>
            <a:r>
              <a:rPr lang="en-US" sz="2000" dirty="0" err="1"/>
              <a:t>current.data</a:t>
            </a:r>
            <a:r>
              <a:rPr lang="en-US" sz="2000" dirty="0"/>
              <a:t> is even:</a:t>
            </a:r>
          </a:p>
          <a:p>
            <a:pPr marL="0" indent="0">
              <a:lnSpc>
                <a:spcPct val="110000"/>
              </a:lnSpc>
              <a:spcBef>
                <a:spcPts val="0"/>
              </a:spcBef>
              <a:buNone/>
            </a:pPr>
            <a:r>
              <a:rPr lang="en-US" sz="2000" dirty="0"/>
              <a:t>          if </a:t>
            </a:r>
            <a:r>
              <a:rPr lang="en-US" sz="2000" dirty="0" err="1"/>
              <a:t>even_list.tail</a:t>
            </a:r>
            <a:r>
              <a:rPr lang="en-US" sz="2000" dirty="0"/>
              <a:t> is None:</a:t>
            </a:r>
          </a:p>
          <a:p>
            <a:pPr marL="0" indent="0">
              <a:lnSpc>
                <a:spcPct val="110000"/>
              </a:lnSpc>
              <a:spcBef>
                <a:spcPts val="0"/>
              </a:spcBef>
              <a:buNone/>
            </a:pPr>
            <a:r>
              <a:rPr lang="en-US" sz="2000" dirty="0"/>
              <a:t>               </a:t>
            </a:r>
            <a:r>
              <a:rPr lang="en-US" sz="2000" dirty="0" err="1"/>
              <a:t>even_list.head</a:t>
            </a:r>
            <a:r>
              <a:rPr lang="en-US" sz="2000" dirty="0"/>
              <a:t> = </a:t>
            </a:r>
            <a:r>
              <a:rPr lang="en-US" sz="2000" dirty="0" err="1"/>
              <a:t>even_list.tail</a:t>
            </a:r>
            <a:r>
              <a:rPr lang="en-US" sz="2000" dirty="0"/>
              <a:t> = current</a:t>
            </a:r>
          </a:p>
          <a:p>
            <a:pPr marL="0" indent="0">
              <a:lnSpc>
                <a:spcPct val="110000"/>
              </a:lnSpc>
              <a:spcBef>
                <a:spcPts val="0"/>
              </a:spcBef>
              <a:buNone/>
            </a:pPr>
            <a:r>
              <a:rPr lang="en-US" sz="2000" dirty="0"/>
              <a:t>          else:</a:t>
            </a:r>
          </a:p>
          <a:p>
            <a:pPr marL="0" indent="0">
              <a:lnSpc>
                <a:spcPct val="110000"/>
              </a:lnSpc>
              <a:spcBef>
                <a:spcPts val="0"/>
              </a:spcBef>
              <a:buNone/>
            </a:pPr>
            <a:r>
              <a:rPr lang="en-US" sz="2000" dirty="0"/>
              <a:t>               </a:t>
            </a:r>
            <a:r>
              <a:rPr lang="en-US" sz="2000" dirty="0" err="1"/>
              <a:t>even_list.tail.next</a:t>
            </a:r>
            <a:r>
              <a:rPr lang="en-US" sz="2000" dirty="0"/>
              <a:t> = current</a:t>
            </a:r>
          </a:p>
          <a:p>
            <a:pPr marL="0" indent="0">
              <a:lnSpc>
                <a:spcPct val="110000"/>
              </a:lnSpc>
              <a:spcBef>
                <a:spcPts val="0"/>
              </a:spcBef>
              <a:buNone/>
            </a:pPr>
            <a:r>
              <a:rPr lang="en-US" sz="2000" dirty="0"/>
              <a:t>               </a:t>
            </a:r>
            <a:r>
              <a:rPr lang="en-US" sz="2000" dirty="0" err="1"/>
              <a:t>even_list.tail</a:t>
            </a:r>
            <a:r>
              <a:rPr lang="en-US" sz="2000" dirty="0"/>
              <a:t> = current</a:t>
            </a:r>
          </a:p>
          <a:p>
            <a:pPr marL="0" indent="0">
              <a:lnSpc>
                <a:spcPct val="110000"/>
              </a:lnSpc>
              <a:spcBef>
                <a:spcPts val="0"/>
              </a:spcBef>
              <a:buNone/>
            </a:pPr>
            <a:r>
              <a:rPr lang="en-US" sz="2000" dirty="0"/>
              <a:t>          </a:t>
            </a:r>
            <a:r>
              <a:rPr lang="en-US" sz="2000" dirty="0" err="1"/>
              <a:t>even_list.count</a:t>
            </a:r>
            <a:r>
              <a:rPr lang="en-US" sz="2000" dirty="0"/>
              <a:t> += 1</a:t>
            </a:r>
          </a:p>
        </p:txBody>
      </p:sp>
      <p:grpSp>
        <p:nvGrpSpPr>
          <p:cNvPr id="35" name="Group 34">
            <a:extLst>
              <a:ext uri="{FF2B5EF4-FFF2-40B4-BE49-F238E27FC236}">
                <a16:creationId xmlns:a16="http://schemas.microsoft.com/office/drawing/2014/main" id="{AC0F855F-BAB8-C2A3-B461-CE75D2BE00DA}"/>
              </a:ext>
            </a:extLst>
          </p:cNvPr>
          <p:cNvGrpSpPr/>
          <p:nvPr/>
        </p:nvGrpSpPr>
        <p:grpSpPr>
          <a:xfrm>
            <a:off x="4340541" y="4433843"/>
            <a:ext cx="585418" cy="632116"/>
            <a:chOff x="4658147" y="4558296"/>
            <a:chExt cx="585418" cy="632116"/>
          </a:xfrm>
        </p:grpSpPr>
        <p:sp>
          <p:nvSpPr>
            <p:cNvPr id="36" name="TextBox 35">
              <a:extLst>
                <a:ext uri="{FF2B5EF4-FFF2-40B4-BE49-F238E27FC236}">
                  <a16:creationId xmlns:a16="http://schemas.microsoft.com/office/drawing/2014/main" id="{C2E276AC-F802-11C2-4C6E-A734F66C97C9}"/>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41" name="TextBox 40">
              <a:extLst>
                <a:ext uri="{FF2B5EF4-FFF2-40B4-BE49-F238E27FC236}">
                  <a16:creationId xmlns:a16="http://schemas.microsoft.com/office/drawing/2014/main" id="{835015E4-357E-DBD3-A170-3DE7D2C49065}"/>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grpSp>
        <p:nvGrpSpPr>
          <p:cNvPr id="77" name="Group 76">
            <a:extLst>
              <a:ext uri="{FF2B5EF4-FFF2-40B4-BE49-F238E27FC236}">
                <a16:creationId xmlns:a16="http://schemas.microsoft.com/office/drawing/2014/main" id="{3657D9D1-1A7D-B4E5-698D-9355160C0235}"/>
              </a:ext>
            </a:extLst>
          </p:cNvPr>
          <p:cNvGrpSpPr/>
          <p:nvPr/>
        </p:nvGrpSpPr>
        <p:grpSpPr>
          <a:xfrm>
            <a:off x="4393425" y="2967934"/>
            <a:ext cx="585418" cy="632116"/>
            <a:chOff x="4658147" y="4558296"/>
            <a:chExt cx="585418" cy="632116"/>
          </a:xfrm>
        </p:grpSpPr>
        <p:sp>
          <p:nvSpPr>
            <p:cNvPr id="78" name="TextBox 77">
              <a:extLst>
                <a:ext uri="{FF2B5EF4-FFF2-40B4-BE49-F238E27FC236}">
                  <a16:creationId xmlns:a16="http://schemas.microsoft.com/office/drawing/2014/main" id="{6ADB3176-BAFD-1316-D8F9-C8AB47217939}"/>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80" name="TextBox 79">
              <a:extLst>
                <a:ext uri="{FF2B5EF4-FFF2-40B4-BE49-F238E27FC236}">
                  <a16:creationId xmlns:a16="http://schemas.microsoft.com/office/drawing/2014/main" id="{4A8DCAFB-3445-D8DE-9457-62DBDF8A3060}"/>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sp>
        <p:nvSpPr>
          <p:cNvPr id="84" name="TextBox 83">
            <a:extLst>
              <a:ext uri="{FF2B5EF4-FFF2-40B4-BE49-F238E27FC236}">
                <a16:creationId xmlns:a16="http://schemas.microsoft.com/office/drawing/2014/main" id="{7B2EF64F-51A4-025B-153D-B554A014FBC8}"/>
              </a:ext>
            </a:extLst>
          </p:cNvPr>
          <p:cNvSpPr txBox="1"/>
          <p:nvPr/>
        </p:nvSpPr>
        <p:spPr>
          <a:xfrm>
            <a:off x="6228124" y="1045082"/>
            <a:ext cx="1191801" cy="369332"/>
          </a:xfrm>
          <a:prstGeom prst="rect">
            <a:avLst/>
          </a:prstGeom>
          <a:noFill/>
        </p:spPr>
        <p:txBody>
          <a:bodyPr wrap="none" rtlCol="0">
            <a:spAutoFit/>
          </a:bodyPr>
          <a:lstStyle/>
          <a:p>
            <a:r>
              <a:rPr lang="en-US" dirty="0" err="1"/>
              <a:t>next_node</a:t>
            </a:r>
            <a:endParaRPr lang="en-US" dirty="0"/>
          </a:p>
        </p:txBody>
      </p:sp>
      <p:cxnSp>
        <p:nvCxnSpPr>
          <p:cNvPr id="85" name="Straight Arrow Connector 84">
            <a:extLst>
              <a:ext uri="{FF2B5EF4-FFF2-40B4-BE49-F238E27FC236}">
                <a16:creationId xmlns:a16="http://schemas.microsoft.com/office/drawing/2014/main" id="{F5743087-B8E5-F820-ACD5-DEED2F521D07}"/>
              </a:ext>
            </a:extLst>
          </p:cNvPr>
          <p:cNvCxnSpPr>
            <a:stCxn id="84" idx="2"/>
          </p:cNvCxnSpPr>
          <p:nvPr/>
        </p:nvCxnSpPr>
        <p:spPr>
          <a:xfrm flipH="1">
            <a:off x="6824024" y="1414414"/>
            <a:ext cx="1" cy="4089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6" name="Group 85" descr="The orginal list is still empty as described on the previous slide.">
            <a:extLst>
              <a:ext uri="{FF2B5EF4-FFF2-40B4-BE49-F238E27FC236}">
                <a16:creationId xmlns:a16="http://schemas.microsoft.com/office/drawing/2014/main" id="{39A6F2BD-2A18-3B60-3986-5AB3F9A2FB28}"/>
              </a:ext>
            </a:extLst>
          </p:cNvPr>
          <p:cNvGrpSpPr/>
          <p:nvPr/>
        </p:nvGrpSpPr>
        <p:grpSpPr>
          <a:xfrm>
            <a:off x="1492738" y="1535128"/>
            <a:ext cx="2919116" cy="923330"/>
            <a:chOff x="1894663" y="1710943"/>
            <a:chExt cx="2919116" cy="923330"/>
          </a:xfrm>
        </p:grpSpPr>
        <p:sp>
          <p:nvSpPr>
            <p:cNvPr id="88" name="TextBox 87">
              <a:extLst>
                <a:ext uri="{FF2B5EF4-FFF2-40B4-BE49-F238E27FC236}">
                  <a16:creationId xmlns:a16="http://schemas.microsoft.com/office/drawing/2014/main" id="{CC56A339-B441-D349-9A30-8088BA3BFC25}"/>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89" name="TextBox 88">
              <a:extLst>
                <a:ext uri="{FF2B5EF4-FFF2-40B4-BE49-F238E27FC236}">
                  <a16:creationId xmlns:a16="http://schemas.microsoft.com/office/drawing/2014/main" id="{29541F1F-2B8F-4CB3-1AFE-A8B3BE380B48}"/>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90" name="Rectangle 89">
              <a:extLst>
                <a:ext uri="{FF2B5EF4-FFF2-40B4-BE49-F238E27FC236}">
                  <a16:creationId xmlns:a16="http://schemas.microsoft.com/office/drawing/2014/main" id="{E70FCBB6-9583-9148-5756-2A897DD86699}"/>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527230E8-869E-5C7A-1426-F86F6114B6D6}"/>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2A32C606-761E-5B5A-9F16-916E9DE7FD2F}"/>
                </a:ext>
              </a:extLst>
            </p:cNvPr>
            <p:cNvCxnSpPr>
              <a:stCxn id="88" idx="3"/>
              <a:endCxn id="89"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D0CE303E-5A03-79FA-85C2-83F0BA933AA1}"/>
                </a:ext>
              </a:extLst>
            </p:cNvPr>
            <p:cNvGrpSpPr/>
            <p:nvPr/>
          </p:nvGrpSpPr>
          <p:grpSpPr>
            <a:xfrm>
              <a:off x="4228361" y="1752675"/>
              <a:ext cx="585418" cy="632116"/>
              <a:chOff x="4658147" y="4558296"/>
              <a:chExt cx="585418" cy="632116"/>
            </a:xfrm>
          </p:grpSpPr>
          <p:sp>
            <p:nvSpPr>
              <p:cNvPr id="99" name="TextBox 98">
                <a:extLst>
                  <a:ext uri="{FF2B5EF4-FFF2-40B4-BE49-F238E27FC236}">
                    <a16:creationId xmlns:a16="http://schemas.microsoft.com/office/drawing/2014/main" id="{023FD346-6A8B-7145-3B96-6E20B9DAB377}"/>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100" name="TextBox 99">
                <a:extLst>
                  <a:ext uri="{FF2B5EF4-FFF2-40B4-BE49-F238E27FC236}">
                    <a16:creationId xmlns:a16="http://schemas.microsoft.com/office/drawing/2014/main" id="{75E82A42-19C1-DA49-49FC-FC7D74279ECA}"/>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95" name="Straight Arrow Connector 94">
              <a:extLst>
                <a:ext uri="{FF2B5EF4-FFF2-40B4-BE49-F238E27FC236}">
                  <a16:creationId xmlns:a16="http://schemas.microsoft.com/office/drawing/2014/main" id="{50273B8A-9843-0700-1E83-997AEE765EF8}"/>
                </a:ext>
              </a:extLst>
            </p:cNvPr>
            <p:cNvCxnSpPr>
              <a:cxnSpLocks/>
            </p:cNvCxnSpPr>
            <p:nvPr/>
          </p:nvCxnSpPr>
          <p:spPr>
            <a:xfrm>
              <a:off x="3423298" y="1908065"/>
              <a:ext cx="816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16FA15FB-52C2-7942-22A6-AFFAF55944FD}"/>
                </a:ext>
              </a:extLst>
            </p:cNvPr>
            <p:cNvCxnSpPr>
              <a:cxnSpLocks/>
              <a:stCxn id="98"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1C73ECD1-55BA-D6A1-C31C-8F9429129CE0}"/>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C548D7EA-A352-F583-81B0-C464A3073885}"/>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TextBox 101">
            <a:extLst>
              <a:ext uri="{FF2B5EF4-FFF2-40B4-BE49-F238E27FC236}">
                <a16:creationId xmlns:a16="http://schemas.microsoft.com/office/drawing/2014/main" id="{4CFC325D-E6A3-C13F-1639-ABF7C1FE88A8}"/>
              </a:ext>
            </a:extLst>
          </p:cNvPr>
          <p:cNvSpPr txBox="1"/>
          <p:nvPr/>
        </p:nvSpPr>
        <p:spPr>
          <a:xfrm>
            <a:off x="9479026" y="1931458"/>
            <a:ext cx="636356" cy="307777"/>
          </a:xfrm>
          <a:prstGeom prst="rect">
            <a:avLst/>
          </a:prstGeom>
          <a:noFill/>
        </p:spPr>
        <p:txBody>
          <a:bodyPr wrap="square">
            <a:spAutoFit/>
          </a:bodyPr>
          <a:lstStyle/>
          <a:p>
            <a:r>
              <a:rPr lang="en-US" sz="1400" b="1" dirty="0"/>
              <a:t>None</a:t>
            </a:r>
          </a:p>
        </p:txBody>
      </p:sp>
      <p:sp>
        <p:nvSpPr>
          <p:cNvPr id="103" name="TextBox 102">
            <a:extLst>
              <a:ext uri="{FF2B5EF4-FFF2-40B4-BE49-F238E27FC236}">
                <a16:creationId xmlns:a16="http://schemas.microsoft.com/office/drawing/2014/main" id="{A5752118-E16A-B9E2-8C9D-997D0444A284}"/>
              </a:ext>
            </a:extLst>
          </p:cNvPr>
          <p:cNvSpPr txBox="1"/>
          <p:nvPr/>
        </p:nvSpPr>
        <p:spPr>
          <a:xfrm>
            <a:off x="5348155" y="1919388"/>
            <a:ext cx="585417" cy="307777"/>
          </a:xfrm>
          <a:prstGeom prst="rect">
            <a:avLst/>
          </a:prstGeom>
          <a:noFill/>
        </p:spPr>
        <p:txBody>
          <a:bodyPr wrap="none" rtlCol="0">
            <a:spAutoFit/>
          </a:bodyPr>
          <a:lstStyle/>
          <a:p>
            <a:r>
              <a:rPr lang="en-US" sz="1400" b="1" dirty="0">
                <a:solidFill>
                  <a:srgbClr val="FF0000"/>
                </a:solidFill>
              </a:rPr>
              <a:t>None</a:t>
            </a:r>
          </a:p>
        </p:txBody>
      </p:sp>
      <p:cxnSp>
        <p:nvCxnSpPr>
          <p:cNvPr id="5" name="Straight Arrow Connector 4">
            <a:extLst>
              <a:ext uri="{FF2B5EF4-FFF2-40B4-BE49-F238E27FC236}">
                <a16:creationId xmlns:a16="http://schemas.microsoft.com/office/drawing/2014/main" id="{724E1F82-1E92-A6E8-A68D-376EB10E6EB0}"/>
              </a:ext>
            </a:extLst>
          </p:cNvPr>
          <p:cNvCxnSpPr>
            <a:cxnSpLocks/>
            <a:endCxn id="78" idx="1"/>
          </p:cNvCxnSpPr>
          <p:nvPr/>
        </p:nvCxnSpPr>
        <p:spPr>
          <a:xfrm flipV="1">
            <a:off x="3630706" y="3121823"/>
            <a:ext cx="762720" cy="2945"/>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916153-ECF5-9B00-727F-276CE7A47439}"/>
              </a:ext>
            </a:extLst>
          </p:cNvPr>
          <p:cNvCxnSpPr>
            <a:cxnSpLocks/>
            <a:endCxn id="80" idx="1"/>
          </p:cNvCxnSpPr>
          <p:nvPr/>
        </p:nvCxnSpPr>
        <p:spPr>
          <a:xfrm>
            <a:off x="3461287" y="3401766"/>
            <a:ext cx="932138" cy="44396"/>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23B578C3-589E-59C0-EA97-2F7B9222FCED}"/>
              </a:ext>
            </a:extLst>
          </p:cNvPr>
          <p:cNvGrpSpPr/>
          <p:nvPr/>
        </p:nvGrpSpPr>
        <p:grpSpPr>
          <a:xfrm>
            <a:off x="279606" y="5645073"/>
            <a:ext cx="3192509" cy="948446"/>
            <a:chOff x="279606" y="5645073"/>
            <a:chExt cx="3192509" cy="948446"/>
          </a:xfrm>
        </p:grpSpPr>
        <p:grpSp>
          <p:nvGrpSpPr>
            <p:cNvPr id="44" name="Group 43">
              <a:extLst>
                <a:ext uri="{FF2B5EF4-FFF2-40B4-BE49-F238E27FC236}">
                  <a16:creationId xmlns:a16="http://schemas.microsoft.com/office/drawing/2014/main" id="{CD85CE94-5160-91A1-AD7E-D448C928D053}"/>
                </a:ext>
              </a:extLst>
            </p:cNvPr>
            <p:cNvGrpSpPr/>
            <p:nvPr/>
          </p:nvGrpSpPr>
          <p:grpSpPr>
            <a:xfrm>
              <a:off x="378739" y="5645073"/>
              <a:ext cx="3093376" cy="369332"/>
              <a:chOff x="4680011" y="1838933"/>
              <a:chExt cx="3093376" cy="369332"/>
            </a:xfrm>
          </p:grpSpPr>
          <p:sp>
            <p:nvSpPr>
              <p:cNvPr id="65" name="TextBox 64">
                <a:extLst>
                  <a:ext uri="{FF2B5EF4-FFF2-40B4-BE49-F238E27FC236}">
                    <a16:creationId xmlns:a16="http://schemas.microsoft.com/office/drawing/2014/main" id="{01687674-7067-BF9C-7501-0D7262875683}"/>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67" name="Straight Arrow Connector 66">
                <a:extLst>
                  <a:ext uri="{FF2B5EF4-FFF2-40B4-BE49-F238E27FC236}">
                    <a16:creationId xmlns:a16="http://schemas.microsoft.com/office/drawing/2014/main" id="{C680E205-AE02-EFD5-3FEE-05636B3DCFA5}"/>
                  </a:ext>
                </a:extLst>
              </p:cNvPr>
              <p:cNvCxnSpPr>
                <a:cxnSpLocks/>
                <a:endCxn id="65"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3A1E17EA-9A25-671E-7A09-181722C55330}"/>
                </a:ext>
              </a:extLst>
            </p:cNvPr>
            <p:cNvGrpSpPr/>
            <p:nvPr/>
          </p:nvGrpSpPr>
          <p:grpSpPr>
            <a:xfrm>
              <a:off x="378739" y="5934630"/>
              <a:ext cx="2699807" cy="369332"/>
              <a:chOff x="4680011" y="2100359"/>
              <a:chExt cx="2699807" cy="369332"/>
            </a:xfrm>
          </p:grpSpPr>
          <p:sp>
            <p:nvSpPr>
              <p:cNvPr id="59" name="TextBox 58">
                <a:extLst>
                  <a:ext uri="{FF2B5EF4-FFF2-40B4-BE49-F238E27FC236}">
                    <a16:creationId xmlns:a16="http://schemas.microsoft.com/office/drawing/2014/main" id="{EF7007CC-0767-17A9-BFC2-460E231EB213}"/>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60" name="Straight Arrow Connector 59">
                <a:extLst>
                  <a:ext uri="{FF2B5EF4-FFF2-40B4-BE49-F238E27FC236}">
                    <a16:creationId xmlns:a16="http://schemas.microsoft.com/office/drawing/2014/main" id="{EA764A29-A370-9E12-2E8F-1D921C35315B}"/>
                  </a:ext>
                </a:extLst>
              </p:cNvPr>
              <p:cNvCxnSpPr>
                <a:cxnSpLocks/>
                <a:endCxn id="59"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B0DDD048-1F85-7592-7CF3-F3DCB744C672}"/>
                </a:ext>
              </a:extLst>
            </p:cNvPr>
            <p:cNvGrpSpPr/>
            <p:nvPr/>
          </p:nvGrpSpPr>
          <p:grpSpPr>
            <a:xfrm>
              <a:off x="378739" y="6224187"/>
              <a:ext cx="2337271" cy="369332"/>
              <a:chOff x="4758431" y="3161942"/>
              <a:chExt cx="2337271" cy="369332"/>
            </a:xfrm>
          </p:grpSpPr>
          <p:sp>
            <p:nvSpPr>
              <p:cNvPr id="48" name="TextBox 47">
                <a:extLst>
                  <a:ext uri="{FF2B5EF4-FFF2-40B4-BE49-F238E27FC236}">
                    <a16:creationId xmlns:a16="http://schemas.microsoft.com/office/drawing/2014/main" id="{4A40B704-74B4-2B44-515C-E8A0C36E60A9}"/>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58" name="Straight Arrow Connector 57">
                <a:extLst>
                  <a:ext uri="{FF2B5EF4-FFF2-40B4-BE49-F238E27FC236}">
                    <a16:creationId xmlns:a16="http://schemas.microsoft.com/office/drawing/2014/main" id="{E984374B-BFEF-D5B7-C6A3-F974974B8819}"/>
                  </a:ext>
                </a:extLst>
              </p:cNvPr>
              <p:cNvCxnSpPr>
                <a:cxnSpLocks/>
                <a:endCxn id="48"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55A5C60A-5F67-DBE3-8369-BC39EF6BF996}"/>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4" name="Straight Arrow Connector 73">
            <a:extLst>
              <a:ext uri="{FF2B5EF4-FFF2-40B4-BE49-F238E27FC236}">
                <a16:creationId xmlns:a16="http://schemas.microsoft.com/office/drawing/2014/main" id="{5D06F49B-E347-5757-F3A2-6A3D14BB983F}"/>
              </a:ext>
            </a:extLst>
          </p:cNvPr>
          <p:cNvCxnSpPr>
            <a:cxnSpLocks/>
          </p:cNvCxnSpPr>
          <p:nvPr/>
        </p:nvCxnSpPr>
        <p:spPr>
          <a:xfrm>
            <a:off x="5791552" y="2081866"/>
            <a:ext cx="574671" cy="0"/>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55A9BAE-5EB9-FBD9-100A-13A1AF465EF9}"/>
              </a:ext>
            </a:extLst>
          </p:cNvPr>
          <p:cNvSpPr/>
          <p:nvPr/>
        </p:nvSpPr>
        <p:spPr>
          <a:xfrm>
            <a:off x="6335580" y="152875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25" name="Oval 24">
            <a:extLst>
              <a:ext uri="{FF2B5EF4-FFF2-40B4-BE49-F238E27FC236}">
                <a16:creationId xmlns:a16="http://schemas.microsoft.com/office/drawing/2014/main" id="{BA0CBF43-146C-EA35-45A9-B0FBF928EDAC}"/>
              </a:ext>
            </a:extLst>
          </p:cNvPr>
          <p:cNvSpPr/>
          <p:nvPr/>
        </p:nvSpPr>
        <p:spPr>
          <a:xfrm>
            <a:off x="5542822" y="2303923"/>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26" name="Oval 25">
            <a:extLst>
              <a:ext uri="{FF2B5EF4-FFF2-40B4-BE49-F238E27FC236}">
                <a16:creationId xmlns:a16="http://schemas.microsoft.com/office/drawing/2014/main" id="{DF91983B-96A3-6BA5-5D78-3E3AD2329328}"/>
              </a:ext>
            </a:extLst>
          </p:cNvPr>
          <p:cNvSpPr/>
          <p:nvPr/>
        </p:nvSpPr>
        <p:spPr>
          <a:xfrm>
            <a:off x="4816182" y="260970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28" name="Oval 27">
            <a:extLst>
              <a:ext uri="{FF2B5EF4-FFF2-40B4-BE49-F238E27FC236}">
                <a16:creationId xmlns:a16="http://schemas.microsoft.com/office/drawing/2014/main" id="{B75B9AB3-D87A-2E35-6D7E-BE27FBAAE1CE}"/>
              </a:ext>
            </a:extLst>
          </p:cNvPr>
          <p:cNvSpPr/>
          <p:nvPr/>
        </p:nvSpPr>
        <p:spPr>
          <a:xfrm>
            <a:off x="6427948" y="3264470"/>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33" name="Oval 32">
            <a:extLst>
              <a:ext uri="{FF2B5EF4-FFF2-40B4-BE49-F238E27FC236}">
                <a16:creationId xmlns:a16="http://schemas.microsoft.com/office/drawing/2014/main" id="{C6D9EBD3-4557-0F52-2CAF-FE372100314F}"/>
              </a:ext>
            </a:extLst>
          </p:cNvPr>
          <p:cNvSpPr/>
          <p:nvPr/>
        </p:nvSpPr>
        <p:spPr>
          <a:xfrm>
            <a:off x="6447976" y="3600979"/>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39" name="Oval 38">
            <a:extLst>
              <a:ext uri="{FF2B5EF4-FFF2-40B4-BE49-F238E27FC236}">
                <a16:creationId xmlns:a16="http://schemas.microsoft.com/office/drawing/2014/main" id="{84D69F22-B3BC-383F-382A-2631AB75F994}"/>
              </a:ext>
            </a:extLst>
          </p:cNvPr>
          <p:cNvSpPr/>
          <p:nvPr/>
        </p:nvSpPr>
        <p:spPr>
          <a:xfrm>
            <a:off x="7314571" y="457351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40" name="Oval 39">
            <a:extLst>
              <a:ext uri="{FF2B5EF4-FFF2-40B4-BE49-F238E27FC236}">
                <a16:creationId xmlns:a16="http://schemas.microsoft.com/office/drawing/2014/main" id="{C3E4CCE7-A29E-3FDD-4E88-5054C1AEDA9D}"/>
              </a:ext>
            </a:extLst>
          </p:cNvPr>
          <p:cNvSpPr/>
          <p:nvPr/>
        </p:nvSpPr>
        <p:spPr>
          <a:xfrm>
            <a:off x="7072024" y="5925694"/>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42" name="Oval 41">
            <a:extLst>
              <a:ext uri="{FF2B5EF4-FFF2-40B4-BE49-F238E27FC236}">
                <a16:creationId xmlns:a16="http://schemas.microsoft.com/office/drawing/2014/main" id="{43047EB7-3D32-9433-003A-B28DDF064267}"/>
              </a:ext>
            </a:extLst>
          </p:cNvPr>
          <p:cNvSpPr/>
          <p:nvPr/>
        </p:nvSpPr>
        <p:spPr>
          <a:xfrm>
            <a:off x="3799542" y="389336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Tree>
    <p:extLst>
      <p:ext uri="{BB962C8B-B14F-4D97-AF65-F5344CB8AC3E}">
        <p14:creationId xmlns:p14="http://schemas.microsoft.com/office/powerpoint/2010/main" val="1541658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is object represents a node. This node has the value 10 and has been placed in the evensList by virtue of the evensList head pointer referencing it. The tail pointer of evenlist is also referencing it, showing that is the only node in the evensList.  It is, still being referenced by the current cursor.  Its next pointer is pointing to the node with the value 13. ">
            <a:extLst>
              <a:ext uri="{FF2B5EF4-FFF2-40B4-BE49-F238E27FC236}">
                <a16:creationId xmlns:a16="http://schemas.microsoft.com/office/drawing/2014/main" id="{5DD54024-0FA6-4B0A-80C0-89C1918A30D1}"/>
              </a:ext>
            </a:extLst>
          </p:cNvPr>
          <p:cNvGrpSpPr/>
          <p:nvPr/>
        </p:nvGrpSpPr>
        <p:grpSpPr>
          <a:xfrm>
            <a:off x="4667182" y="3529412"/>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is object represents a node in a list. This node has the value 13. It isno longer being referenced by the node with 10 since that node is now at the end of the evensList. It is however, being referenced by a new cursor called next_node so it is still accessible. .  Its next pointer is pointing to the node with the value 14. ">
            <a:extLst>
              <a:ext uri="{FF2B5EF4-FFF2-40B4-BE49-F238E27FC236}">
                <a16:creationId xmlns:a16="http://schemas.microsoft.com/office/drawing/2014/main" id="{4666D4FE-5B5C-4459-A6CC-4806EAED419B}"/>
              </a:ext>
            </a:extLst>
          </p:cNvPr>
          <p:cNvGrpSpPr/>
          <p:nvPr/>
        </p:nvGrpSpPr>
        <p:grpSpPr>
          <a:xfrm>
            <a:off x="6692793" y="2347838"/>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This node has the value 14. It is an interior node and is pointed to by the node 13. Its next pointer is pointing to the node with the value 18. ">
            <a:extLst>
              <a:ext uri="{FF2B5EF4-FFF2-40B4-BE49-F238E27FC236}">
                <a16:creationId xmlns:a16="http://schemas.microsoft.com/office/drawing/2014/main" id="{78FAFC49-D14E-4702-91EB-44670C059031}"/>
              </a:ext>
            </a:extLst>
          </p:cNvPr>
          <p:cNvGrpSpPr/>
          <p:nvPr/>
        </p:nvGrpSpPr>
        <p:grpSpPr>
          <a:xfrm>
            <a:off x="8104872" y="2347838"/>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8166428" y="2544668"/>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object shows the evensList with head and tail referencing the node with 10 and the count set to 1. ">
            <a:extLst>
              <a:ext uri="{FF2B5EF4-FFF2-40B4-BE49-F238E27FC236}">
                <a16:creationId xmlns:a16="http://schemas.microsoft.com/office/drawing/2014/main" id="{5B7DF3C0-759F-4156-9C70-2495727DD711}"/>
              </a:ext>
            </a:extLst>
          </p:cNvPr>
          <p:cNvSpPr txBox="1"/>
          <p:nvPr/>
        </p:nvSpPr>
        <p:spPr>
          <a:xfrm>
            <a:off x="3347943" y="3392866"/>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52994" y="3485199"/>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95715" y="3669865"/>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e oddsList is still empty as described on a previous slide.">
            <a:extLst>
              <a:ext uri="{FF2B5EF4-FFF2-40B4-BE49-F238E27FC236}">
                <a16:creationId xmlns:a16="http://schemas.microsoft.com/office/drawing/2014/main" id="{B026C760-1433-4994-951F-A89EE9F55E5F}"/>
              </a:ext>
            </a:extLst>
          </p:cNvPr>
          <p:cNvSpPr txBox="1"/>
          <p:nvPr/>
        </p:nvSpPr>
        <p:spPr>
          <a:xfrm>
            <a:off x="3322615" y="4819390"/>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52994" y="4911723"/>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707743" y="5096389"/>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6237860" y="1428208"/>
            <a:ext cx="1191801" cy="369332"/>
          </a:xfrm>
          <a:prstGeom prst="rect">
            <a:avLst/>
          </a:prstGeom>
          <a:noFill/>
        </p:spPr>
        <p:txBody>
          <a:bodyPr wrap="none" rtlCol="0">
            <a:spAutoFit/>
          </a:bodyPr>
          <a:lstStyle/>
          <a:p>
            <a:r>
              <a:rPr lang="en-US" dirty="0" err="1"/>
              <a:t>next_node</a:t>
            </a:r>
            <a:endParaRPr lang="en-US" dirty="0"/>
          </a:p>
        </p:txBody>
      </p:sp>
      <p:cxnSp>
        <p:nvCxnSpPr>
          <p:cNvPr id="58" name="Straight Arrow Connector 57">
            <a:extLst>
              <a:ext uri="{FF2B5EF4-FFF2-40B4-BE49-F238E27FC236}">
                <a16:creationId xmlns:a16="http://schemas.microsoft.com/office/drawing/2014/main" id="{3BED915F-60A0-480B-A1A5-A8D9CE23C21C}"/>
              </a:ext>
            </a:extLst>
          </p:cNvPr>
          <p:cNvCxnSpPr>
            <a:cxnSpLocks/>
            <a:stCxn id="56" idx="2"/>
          </p:cNvCxnSpPr>
          <p:nvPr/>
        </p:nvCxnSpPr>
        <p:spPr>
          <a:xfrm>
            <a:off x="6833761" y="1797540"/>
            <a:ext cx="176298" cy="44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087D46C9-5C6A-4B11-9279-8275D2A4482D}"/>
              </a:ext>
            </a:extLst>
          </p:cNvPr>
          <p:cNvSpPr/>
          <p:nvPr/>
        </p:nvSpPr>
        <p:spPr>
          <a:xfrm>
            <a:off x="3643285" y="4919401"/>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43285" y="5196400"/>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404143" y="339150"/>
            <a:ext cx="5279715" cy="461665"/>
          </a:xfrm>
          <a:prstGeom prst="rect">
            <a:avLst/>
          </a:prstGeom>
          <a:noFill/>
        </p:spPr>
        <p:txBody>
          <a:bodyPr wrap="none" rtlCol="0">
            <a:spAutoFit/>
          </a:bodyPr>
          <a:lstStyle/>
          <a:p>
            <a:r>
              <a:rPr lang="en-US" sz="2400" dirty="0"/>
              <a:t>Effect of adding node 10 to </a:t>
            </a:r>
            <a:r>
              <a:rPr lang="en-US" sz="2200" b="1" dirty="0" err="1">
                <a:latin typeface="Courier New" panose="02070309020205020404" pitchFamily="49" charset="0"/>
                <a:cs typeface="Courier New" panose="02070309020205020404" pitchFamily="49" charset="0"/>
              </a:rPr>
              <a:t>evensList</a:t>
            </a:r>
            <a:endParaRPr lang="en-US" sz="2200" b="1" dirty="0">
              <a:latin typeface="Courier New" panose="02070309020205020404" pitchFamily="49" charset="0"/>
              <a:cs typeface="Courier New" panose="02070309020205020404" pitchFamily="49" charset="0"/>
            </a:endParaRPr>
          </a:p>
        </p:txBody>
      </p:sp>
      <p:grpSp>
        <p:nvGrpSpPr>
          <p:cNvPr id="57" name="Group 56" descr="This object represents a node. This node has the value 18. It is pointed to by the node with 14. It's next pointer is pointing to the None object meaning there is no following node.">
            <a:extLst>
              <a:ext uri="{FF2B5EF4-FFF2-40B4-BE49-F238E27FC236}">
                <a16:creationId xmlns:a16="http://schemas.microsoft.com/office/drawing/2014/main" id="{9E0AED43-7C17-4C80-A567-137193B013AA}"/>
              </a:ext>
            </a:extLst>
          </p:cNvPr>
          <p:cNvGrpSpPr/>
          <p:nvPr/>
        </p:nvGrpSpPr>
        <p:grpSpPr>
          <a:xfrm>
            <a:off x="9466578" y="2350220"/>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528134" y="2547050"/>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7BB6EDF5-2771-4DA5-B52B-FECB57DC0C06}"/>
              </a:ext>
            </a:extLst>
          </p:cNvPr>
          <p:cNvCxnSpPr>
            <a:cxnSpLocks/>
            <a:endCxn id="63" idx="1"/>
          </p:cNvCxnSpPr>
          <p:nvPr/>
        </p:nvCxnSpPr>
        <p:spPr>
          <a:xfrm flipV="1">
            <a:off x="8797092" y="2534886"/>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D578ED-225D-40EA-8C88-64B1E5FDA8E2}"/>
              </a:ext>
            </a:extLst>
          </p:cNvPr>
          <p:cNvCxnSpPr>
            <a:stCxn id="12" idx="3"/>
            <a:endCxn id="14" idx="1"/>
          </p:cNvCxnSpPr>
          <p:nvPr/>
        </p:nvCxnSpPr>
        <p:spPr>
          <a:xfrm>
            <a:off x="7530201" y="2532504"/>
            <a:ext cx="5746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27498" y="5281055"/>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0C017C4-0DF5-480D-B39D-14B1DFD8E9C6}"/>
              </a:ext>
            </a:extLst>
          </p:cNvPr>
          <p:cNvCxnSpPr>
            <a:cxnSpLocks/>
          </p:cNvCxnSpPr>
          <p:nvPr/>
        </p:nvCxnSpPr>
        <p:spPr>
          <a:xfrm>
            <a:off x="3950649" y="5011734"/>
            <a:ext cx="725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3D9EDF8-3125-722A-C46E-1FEA1F3484EC}"/>
              </a:ext>
            </a:extLst>
          </p:cNvPr>
          <p:cNvSpPr/>
          <p:nvPr/>
        </p:nvSpPr>
        <p:spPr>
          <a:xfrm>
            <a:off x="3570832" y="3790641"/>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8D06B39-F454-CEEA-3994-D7FE2D9A81DB}"/>
              </a:ext>
            </a:extLst>
          </p:cNvPr>
          <p:cNvCxnSpPr/>
          <p:nvPr/>
        </p:nvCxnSpPr>
        <p:spPr>
          <a:xfrm>
            <a:off x="3959527" y="3594385"/>
            <a:ext cx="6563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6CF24E2-DD70-3613-9574-3D852D7E1C4E}"/>
              </a:ext>
            </a:extLst>
          </p:cNvPr>
          <p:cNvCxnSpPr/>
          <p:nvPr/>
        </p:nvCxnSpPr>
        <p:spPr>
          <a:xfrm>
            <a:off x="3950649" y="3854531"/>
            <a:ext cx="665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0A8D4BF-C6A4-C20B-02C1-AA0417E067D7}"/>
              </a:ext>
            </a:extLst>
          </p:cNvPr>
          <p:cNvSpPr txBox="1"/>
          <p:nvPr/>
        </p:nvSpPr>
        <p:spPr>
          <a:xfrm>
            <a:off x="9805596" y="2369676"/>
            <a:ext cx="636356" cy="307777"/>
          </a:xfrm>
          <a:prstGeom prst="rect">
            <a:avLst/>
          </a:prstGeom>
          <a:noFill/>
        </p:spPr>
        <p:txBody>
          <a:bodyPr wrap="square">
            <a:spAutoFit/>
          </a:bodyPr>
          <a:lstStyle/>
          <a:p>
            <a:r>
              <a:rPr lang="en-US" sz="1400" b="1" dirty="0"/>
              <a:t>None</a:t>
            </a:r>
          </a:p>
        </p:txBody>
      </p:sp>
      <p:sp>
        <p:nvSpPr>
          <p:cNvPr id="16" name="TextBox 15">
            <a:extLst>
              <a:ext uri="{FF2B5EF4-FFF2-40B4-BE49-F238E27FC236}">
                <a16:creationId xmlns:a16="http://schemas.microsoft.com/office/drawing/2014/main" id="{BFF83B49-25E3-2B6E-8404-8D51B6414CBD}"/>
              </a:ext>
            </a:extLst>
          </p:cNvPr>
          <p:cNvSpPr txBox="1"/>
          <p:nvPr/>
        </p:nvSpPr>
        <p:spPr>
          <a:xfrm>
            <a:off x="4991588" y="3567899"/>
            <a:ext cx="585417" cy="307777"/>
          </a:xfrm>
          <a:prstGeom prst="rect">
            <a:avLst/>
          </a:prstGeom>
          <a:noFill/>
        </p:spPr>
        <p:txBody>
          <a:bodyPr wrap="none" rtlCol="0">
            <a:spAutoFit/>
          </a:bodyPr>
          <a:lstStyle/>
          <a:p>
            <a:r>
              <a:rPr lang="en-US" sz="1400" b="1" dirty="0"/>
              <a:t>None</a:t>
            </a:r>
          </a:p>
        </p:txBody>
      </p:sp>
      <p:sp>
        <p:nvSpPr>
          <p:cNvPr id="18" name="TextBox 17">
            <a:extLst>
              <a:ext uri="{FF2B5EF4-FFF2-40B4-BE49-F238E27FC236}">
                <a16:creationId xmlns:a16="http://schemas.microsoft.com/office/drawing/2014/main" id="{CD446366-7FE6-15F2-2E69-30F48744BFFF}"/>
              </a:ext>
            </a:extLst>
          </p:cNvPr>
          <p:cNvSpPr txBox="1"/>
          <p:nvPr/>
        </p:nvSpPr>
        <p:spPr>
          <a:xfrm>
            <a:off x="4944621" y="1428208"/>
            <a:ext cx="873637" cy="369332"/>
          </a:xfrm>
          <a:prstGeom prst="rect">
            <a:avLst/>
          </a:prstGeom>
          <a:noFill/>
        </p:spPr>
        <p:txBody>
          <a:bodyPr wrap="none" rtlCol="0">
            <a:spAutoFit/>
          </a:bodyPr>
          <a:lstStyle/>
          <a:p>
            <a:r>
              <a:rPr lang="en-US" dirty="0"/>
              <a:t>current</a:t>
            </a:r>
          </a:p>
        </p:txBody>
      </p:sp>
      <p:cxnSp>
        <p:nvCxnSpPr>
          <p:cNvPr id="23" name="Straight Arrow Connector 22">
            <a:extLst>
              <a:ext uri="{FF2B5EF4-FFF2-40B4-BE49-F238E27FC236}">
                <a16:creationId xmlns:a16="http://schemas.microsoft.com/office/drawing/2014/main" id="{7BE4DDA9-D5F6-D186-61E5-81C659B87264}"/>
              </a:ext>
            </a:extLst>
          </p:cNvPr>
          <p:cNvCxnSpPr>
            <a:stCxn id="18" idx="2"/>
          </p:cNvCxnSpPr>
          <p:nvPr/>
        </p:nvCxnSpPr>
        <p:spPr>
          <a:xfrm flipH="1">
            <a:off x="5085886" y="1797540"/>
            <a:ext cx="295554" cy="1687659"/>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24" name="Group 23" descr="This figure shows the empty original list">
            <a:extLst>
              <a:ext uri="{FF2B5EF4-FFF2-40B4-BE49-F238E27FC236}">
                <a16:creationId xmlns:a16="http://schemas.microsoft.com/office/drawing/2014/main" id="{F420A692-0DDB-FAB4-AA30-F04B64FA40BF}"/>
              </a:ext>
            </a:extLst>
          </p:cNvPr>
          <p:cNvGrpSpPr/>
          <p:nvPr/>
        </p:nvGrpSpPr>
        <p:grpSpPr>
          <a:xfrm>
            <a:off x="1511094" y="1848607"/>
            <a:ext cx="2919116" cy="923330"/>
            <a:chOff x="1894663" y="1710943"/>
            <a:chExt cx="2919116" cy="923330"/>
          </a:xfrm>
        </p:grpSpPr>
        <p:sp>
          <p:nvSpPr>
            <p:cNvPr id="26" name="TextBox 25">
              <a:extLst>
                <a:ext uri="{FF2B5EF4-FFF2-40B4-BE49-F238E27FC236}">
                  <a16:creationId xmlns:a16="http://schemas.microsoft.com/office/drawing/2014/main" id="{9BDF05BB-95BC-8D87-EC81-6AEE13DB1215}"/>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28" name="TextBox 27">
              <a:extLst>
                <a:ext uri="{FF2B5EF4-FFF2-40B4-BE49-F238E27FC236}">
                  <a16:creationId xmlns:a16="http://schemas.microsoft.com/office/drawing/2014/main" id="{A0DB33B1-8FC8-8261-2472-E5A950CABC96}"/>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29" name="Rectangle 28">
              <a:extLst>
                <a:ext uri="{FF2B5EF4-FFF2-40B4-BE49-F238E27FC236}">
                  <a16:creationId xmlns:a16="http://schemas.microsoft.com/office/drawing/2014/main" id="{58C8455C-B8B9-0389-4D04-F323E2109444}"/>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B8ECECD-D6B4-A3D4-6DF9-C7D0E98DE4B1}"/>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F7CBBD8-9A46-38E4-6863-8E480B0D741D}"/>
                </a:ext>
              </a:extLst>
            </p:cNvPr>
            <p:cNvCxnSpPr>
              <a:stCxn id="26" idx="3"/>
              <a:endCxn id="28"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804E6941-26B4-0752-B1FC-F257491A2CE4}"/>
                </a:ext>
              </a:extLst>
            </p:cNvPr>
            <p:cNvGrpSpPr/>
            <p:nvPr/>
          </p:nvGrpSpPr>
          <p:grpSpPr>
            <a:xfrm>
              <a:off x="4228361" y="1752675"/>
              <a:ext cx="585418" cy="632116"/>
              <a:chOff x="4658147" y="4558296"/>
              <a:chExt cx="585418" cy="632116"/>
            </a:xfrm>
          </p:grpSpPr>
          <p:sp>
            <p:nvSpPr>
              <p:cNvPr id="45" name="TextBox 44">
                <a:extLst>
                  <a:ext uri="{FF2B5EF4-FFF2-40B4-BE49-F238E27FC236}">
                    <a16:creationId xmlns:a16="http://schemas.microsoft.com/office/drawing/2014/main" id="{3A4DB97F-E0D5-D87F-7B7E-5BAA37E216E4}"/>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46" name="TextBox 45">
                <a:extLst>
                  <a:ext uri="{FF2B5EF4-FFF2-40B4-BE49-F238E27FC236}">
                    <a16:creationId xmlns:a16="http://schemas.microsoft.com/office/drawing/2014/main" id="{6954F764-4714-8DD2-E3D4-9DBEDA8BB5DC}"/>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40" name="Straight Arrow Connector 39">
              <a:extLst>
                <a:ext uri="{FF2B5EF4-FFF2-40B4-BE49-F238E27FC236}">
                  <a16:creationId xmlns:a16="http://schemas.microsoft.com/office/drawing/2014/main" id="{28BEC27D-D8EC-96F6-4B45-D507B926ADB8}"/>
                </a:ext>
              </a:extLst>
            </p:cNvPr>
            <p:cNvCxnSpPr>
              <a:cxnSpLocks/>
            </p:cNvCxnSpPr>
            <p:nvPr/>
          </p:nvCxnSpPr>
          <p:spPr>
            <a:xfrm>
              <a:off x="3476392" y="1908065"/>
              <a:ext cx="7635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2F8D2D4-3EC0-BF8A-5F1D-C36185EFFB23}"/>
                </a:ext>
              </a:extLst>
            </p:cNvPr>
            <p:cNvCxnSpPr>
              <a:cxnSpLocks/>
              <a:stCxn id="43"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F43209A-5145-12EE-DA56-010338FB4019}"/>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3F50AC9-EBEF-56F2-4547-33641543B150}"/>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936AE611-A6E7-A8C1-0E02-A9BD70366772}"/>
              </a:ext>
            </a:extLst>
          </p:cNvPr>
          <p:cNvGrpSpPr/>
          <p:nvPr/>
        </p:nvGrpSpPr>
        <p:grpSpPr>
          <a:xfrm>
            <a:off x="4667182" y="4872664"/>
            <a:ext cx="585418" cy="632116"/>
            <a:chOff x="4658147" y="4558296"/>
            <a:chExt cx="585418" cy="632116"/>
          </a:xfrm>
        </p:grpSpPr>
        <p:sp>
          <p:nvSpPr>
            <p:cNvPr id="17" name="TextBox 16">
              <a:extLst>
                <a:ext uri="{FF2B5EF4-FFF2-40B4-BE49-F238E27FC236}">
                  <a16:creationId xmlns:a16="http://schemas.microsoft.com/office/drawing/2014/main" id="{661788CA-A58F-846C-1833-E323E2991B0B}"/>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19" name="TextBox 18">
              <a:extLst>
                <a:ext uri="{FF2B5EF4-FFF2-40B4-BE49-F238E27FC236}">
                  <a16:creationId xmlns:a16="http://schemas.microsoft.com/office/drawing/2014/main" id="{C79EEE6A-1282-7D26-247E-3CD8B0889A68}"/>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sp>
        <p:nvSpPr>
          <p:cNvPr id="25" name="TextBox 24">
            <a:extLst>
              <a:ext uri="{FF2B5EF4-FFF2-40B4-BE49-F238E27FC236}">
                <a16:creationId xmlns:a16="http://schemas.microsoft.com/office/drawing/2014/main" id="{5DA85499-DC1D-92B3-D6A8-1A31577D607B}"/>
              </a:ext>
            </a:extLst>
          </p:cNvPr>
          <p:cNvSpPr txBox="1"/>
          <p:nvPr/>
        </p:nvSpPr>
        <p:spPr>
          <a:xfrm>
            <a:off x="6801764" y="3458768"/>
            <a:ext cx="2140516" cy="369332"/>
          </a:xfrm>
          <a:prstGeom prst="rect">
            <a:avLst/>
          </a:prstGeom>
          <a:noFill/>
        </p:spPr>
        <p:txBody>
          <a:bodyPr wrap="square">
            <a:spAutoFit/>
          </a:bodyPr>
          <a:lstStyle/>
          <a:p>
            <a:r>
              <a:rPr lang="en-US" sz="1800" dirty="0"/>
              <a:t>current = </a:t>
            </a:r>
            <a:r>
              <a:rPr lang="en-US" sz="1800" dirty="0" err="1"/>
              <a:t>next_node</a:t>
            </a:r>
            <a:endParaRPr lang="en-US" dirty="0"/>
          </a:p>
        </p:txBody>
      </p:sp>
      <p:cxnSp>
        <p:nvCxnSpPr>
          <p:cNvPr id="31" name="Straight Arrow Connector 30">
            <a:extLst>
              <a:ext uri="{FF2B5EF4-FFF2-40B4-BE49-F238E27FC236}">
                <a16:creationId xmlns:a16="http://schemas.microsoft.com/office/drawing/2014/main" id="{252CD924-B6F4-E81C-30C6-90DB7B681823}"/>
              </a:ext>
            </a:extLst>
          </p:cNvPr>
          <p:cNvCxnSpPr>
            <a:stCxn id="18" idx="2"/>
          </p:cNvCxnSpPr>
          <p:nvPr/>
        </p:nvCxnSpPr>
        <p:spPr>
          <a:xfrm>
            <a:off x="5381440" y="1797540"/>
            <a:ext cx="1144866" cy="6172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1CC56C5A-113A-DD6B-1590-9749F171E76E}"/>
              </a:ext>
            </a:extLst>
          </p:cNvPr>
          <p:cNvGrpSpPr/>
          <p:nvPr/>
        </p:nvGrpSpPr>
        <p:grpSpPr>
          <a:xfrm>
            <a:off x="8263732" y="5504780"/>
            <a:ext cx="3192509" cy="948446"/>
            <a:chOff x="279606" y="5645073"/>
            <a:chExt cx="3192509" cy="948446"/>
          </a:xfrm>
        </p:grpSpPr>
        <p:grpSp>
          <p:nvGrpSpPr>
            <p:cNvPr id="35" name="Group 34">
              <a:extLst>
                <a:ext uri="{FF2B5EF4-FFF2-40B4-BE49-F238E27FC236}">
                  <a16:creationId xmlns:a16="http://schemas.microsoft.com/office/drawing/2014/main" id="{C821CD27-5C3C-FCA8-839E-3E62DB0E481D}"/>
                </a:ext>
              </a:extLst>
            </p:cNvPr>
            <p:cNvGrpSpPr/>
            <p:nvPr/>
          </p:nvGrpSpPr>
          <p:grpSpPr>
            <a:xfrm>
              <a:off x="378739" y="5645073"/>
              <a:ext cx="3093376" cy="369332"/>
              <a:chOff x="4680011" y="1838933"/>
              <a:chExt cx="3093376" cy="369332"/>
            </a:xfrm>
          </p:grpSpPr>
          <p:sp>
            <p:nvSpPr>
              <p:cNvPr id="62" name="TextBox 61">
                <a:extLst>
                  <a:ext uri="{FF2B5EF4-FFF2-40B4-BE49-F238E27FC236}">
                    <a16:creationId xmlns:a16="http://schemas.microsoft.com/office/drawing/2014/main" id="{CDABA380-66EA-997F-BE4D-8C6F94C4919E}"/>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65" name="Straight Arrow Connector 64">
                <a:extLst>
                  <a:ext uri="{FF2B5EF4-FFF2-40B4-BE49-F238E27FC236}">
                    <a16:creationId xmlns:a16="http://schemas.microsoft.com/office/drawing/2014/main" id="{67CBAD3D-CF47-FAC2-5AFD-0D426D6C2F20}"/>
                  </a:ext>
                </a:extLst>
              </p:cNvPr>
              <p:cNvCxnSpPr>
                <a:cxnSpLocks/>
                <a:endCxn id="62"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4B11CF3E-B3A9-0FA7-B547-99E56504A6D8}"/>
                </a:ext>
              </a:extLst>
            </p:cNvPr>
            <p:cNvGrpSpPr/>
            <p:nvPr/>
          </p:nvGrpSpPr>
          <p:grpSpPr>
            <a:xfrm>
              <a:off x="378739" y="5934630"/>
              <a:ext cx="2699807" cy="369332"/>
              <a:chOff x="4680011" y="2100359"/>
              <a:chExt cx="2699807" cy="369332"/>
            </a:xfrm>
          </p:grpSpPr>
          <p:sp>
            <p:nvSpPr>
              <p:cNvPr id="60" name="TextBox 59">
                <a:extLst>
                  <a:ext uri="{FF2B5EF4-FFF2-40B4-BE49-F238E27FC236}">
                    <a16:creationId xmlns:a16="http://schemas.microsoft.com/office/drawing/2014/main" id="{0DA29A78-564B-BDF2-DE71-74482AB2E36F}"/>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61" name="Straight Arrow Connector 60">
                <a:extLst>
                  <a:ext uri="{FF2B5EF4-FFF2-40B4-BE49-F238E27FC236}">
                    <a16:creationId xmlns:a16="http://schemas.microsoft.com/office/drawing/2014/main" id="{7499E702-0C16-4E06-7700-CEB1E89607E6}"/>
                  </a:ext>
                </a:extLst>
              </p:cNvPr>
              <p:cNvCxnSpPr>
                <a:cxnSpLocks/>
                <a:endCxn id="60"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93D5B34A-51EA-88E3-1DA0-B24B4FF19056}"/>
                </a:ext>
              </a:extLst>
            </p:cNvPr>
            <p:cNvGrpSpPr/>
            <p:nvPr/>
          </p:nvGrpSpPr>
          <p:grpSpPr>
            <a:xfrm>
              <a:off x="378739" y="6224187"/>
              <a:ext cx="2337271" cy="369332"/>
              <a:chOff x="4758431" y="3161942"/>
              <a:chExt cx="2337271" cy="369332"/>
            </a:xfrm>
          </p:grpSpPr>
          <p:sp>
            <p:nvSpPr>
              <p:cNvPr id="51" name="TextBox 50">
                <a:extLst>
                  <a:ext uri="{FF2B5EF4-FFF2-40B4-BE49-F238E27FC236}">
                    <a16:creationId xmlns:a16="http://schemas.microsoft.com/office/drawing/2014/main" id="{145FCCC3-7D4C-E211-22BE-DE8A9E4037E6}"/>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59" name="Straight Arrow Connector 58">
                <a:extLst>
                  <a:ext uri="{FF2B5EF4-FFF2-40B4-BE49-F238E27FC236}">
                    <a16:creationId xmlns:a16="http://schemas.microsoft.com/office/drawing/2014/main" id="{8687C133-2FB8-2FDC-FD3B-239593D5FFBE}"/>
                  </a:ext>
                </a:extLst>
              </p:cNvPr>
              <p:cNvCxnSpPr>
                <a:cxnSpLocks/>
                <a:endCxn id="51"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946EFD80-4813-B985-88ED-C5A6803731CC}"/>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1124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DD54024-0FA6-4B0A-80C0-89C1918A30D1}"/>
              </a:ext>
            </a:extLst>
          </p:cNvPr>
          <p:cNvGrpSpPr/>
          <p:nvPr/>
        </p:nvGrpSpPr>
        <p:grpSpPr>
          <a:xfrm>
            <a:off x="4558135" y="2852809"/>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is object represents a node in a list. his node has the value 13.The current cursor has been moved from node 10 to this node.  Its next pointerhas been moved to the node with value 14. The next pointer of this node has been set to none. This node is now the first (and only node) in the oddsList by virtue of the head and tail pointers of the oddsList referencing it. ">
            <a:extLst>
              <a:ext uri="{FF2B5EF4-FFF2-40B4-BE49-F238E27FC236}">
                <a16:creationId xmlns:a16="http://schemas.microsoft.com/office/drawing/2014/main" id="{4666D4FE-5B5C-4459-A6CC-4806EAED419B}"/>
              </a:ext>
            </a:extLst>
          </p:cNvPr>
          <p:cNvGrpSpPr/>
          <p:nvPr/>
        </p:nvGrpSpPr>
        <p:grpSpPr>
          <a:xfrm>
            <a:off x="6683829" y="2034073"/>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This node has the value 14. It is an interior node and is pointed to by the node 13. Its next pointer is pointing to the node with the value 18.  Is now also being referenced by the next_node cursor. ">
            <a:extLst>
              <a:ext uri="{FF2B5EF4-FFF2-40B4-BE49-F238E27FC236}">
                <a16:creationId xmlns:a16="http://schemas.microsoft.com/office/drawing/2014/main" id="{78FAFC49-D14E-4702-91EB-44670C059031}"/>
              </a:ext>
            </a:extLst>
          </p:cNvPr>
          <p:cNvGrpSpPr/>
          <p:nvPr/>
        </p:nvGrpSpPr>
        <p:grpSpPr>
          <a:xfrm>
            <a:off x="8095908" y="2034073"/>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9162661" y="25759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figure shows the evensList with a single node with value of 10 attached to its head and tail. ">
            <a:extLst>
              <a:ext uri="{FF2B5EF4-FFF2-40B4-BE49-F238E27FC236}">
                <a16:creationId xmlns:a16="http://schemas.microsoft.com/office/drawing/2014/main" id="{5B7DF3C0-759F-4156-9C70-2495727DD711}"/>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visualizes the state of the oddsList after the node with 13 has been added to it. The affected references by this operation are pointed to by a gray, dashed arrow. The head and tail references are now pointing to the node identified by the cursor, current. These connections are depicted as red arrows. The count field is now 1.  ">
            <a:extLst>
              <a:ext uri="{FF2B5EF4-FFF2-40B4-BE49-F238E27FC236}">
                <a16:creationId xmlns:a16="http://schemas.microsoft.com/office/drawing/2014/main" id="{B026C760-1433-4994-951F-A89EE9F55E5F}"/>
              </a:ext>
            </a:extLst>
          </p:cNvPr>
          <p:cNvSpPr txBox="1"/>
          <p:nvPr/>
        </p:nvSpPr>
        <p:spPr>
          <a:xfrm>
            <a:off x="3313651" y="4505625"/>
            <a:ext cx="1113575"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a:t>
            </a:r>
            <a:r>
              <a:rPr lang="en-US" dirty="0">
                <a:solidFill>
                  <a:schemeClr val="bg2">
                    <a:lumMod val="50000"/>
                  </a:schemeClr>
                </a:solidFill>
              </a:rPr>
              <a:t>0</a:t>
            </a:r>
            <a:r>
              <a:rPr lang="en-US" dirty="0"/>
              <a:t>  </a:t>
            </a:r>
            <a:r>
              <a:rPr lang="en-US" dirty="0">
                <a:solidFill>
                  <a:srgbClr val="FF0000"/>
                </a:solidFill>
              </a:rPr>
              <a:t>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698779" y="4782624"/>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6248554" y="1090118"/>
            <a:ext cx="873637" cy="369332"/>
          </a:xfrm>
          <a:prstGeom prst="rect">
            <a:avLst/>
          </a:prstGeom>
          <a:noFill/>
        </p:spPr>
        <p:txBody>
          <a:bodyPr wrap="none" rtlCol="0">
            <a:spAutoFit/>
          </a:bodyPr>
          <a:lstStyle/>
          <a:p>
            <a:r>
              <a:rPr lang="en-US" dirty="0"/>
              <a:t>current</a:t>
            </a:r>
          </a:p>
        </p:txBody>
      </p:sp>
      <p:sp>
        <p:nvSpPr>
          <p:cNvPr id="61" name="Rectangle 60">
            <a:extLst>
              <a:ext uri="{FF2B5EF4-FFF2-40B4-BE49-F238E27FC236}">
                <a16:creationId xmlns:a16="http://schemas.microsoft.com/office/drawing/2014/main" id="{39F930EE-F7DF-4445-93A2-B64172472586}"/>
              </a:ext>
            </a:extLst>
          </p:cNvPr>
          <p:cNvSpPr/>
          <p:nvPr/>
        </p:nvSpPr>
        <p:spPr>
          <a:xfrm>
            <a:off x="3681589" y="3156888"/>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2B4E316-46E9-40F5-A68E-C79A22B98903}"/>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203480" y="439504"/>
            <a:ext cx="4200124" cy="461665"/>
          </a:xfrm>
          <a:prstGeom prst="rect">
            <a:avLst/>
          </a:prstGeom>
          <a:noFill/>
        </p:spPr>
        <p:txBody>
          <a:bodyPr wrap="none" rtlCol="0">
            <a:spAutoFit/>
          </a:bodyPr>
          <a:lstStyle/>
          <a:p>
            <a:r>
              <a:rPr lang="en-US" sz="2400" dirty="0"/>
              <a:t>Adding node with 13 to </a:t>
            </a:r>
            <a:r>
              <a:rPr lang="en-US" sz="2400" dirty="0" err="1"/>
              <a:t>oddsList</a:t>
            </a:r>
            <a:endParaRPr lang="en-US" sz="2400" dirty="0"/>
          </a:p>
        </p:txBody>
      </p:sp>
      <p:sp>
        <p:nvSpPr>
          <p:cNvPr id="51" name="Rectangle 50">
            <a:extLst>
              <a:ext uri="{FF2B5EF4-FFF2-40B4-BE49-F238E27FC236}">
                <a16:creationId xmlns:a16="http://schemas.microsoft.com/office/drawing/2014/main" id="{72B536CB-E470-4958-A9F2-86ED980F3E2F}"/>
              </a:ext>
            </a:extLst>
          </p:cNvPr>
          <p:cNvSpPr/>
          <p:nvPr/>
        </p:nvSpPr>
        <p:spPr>
          <a:xfrm>
            <a:off x="6384372" y="3209940"/>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object represents a node. This node has the value 18. It is pointed to by the node with 14. It's next pointer is pointing to the None object meaning there is no following node.">
            <a:extLst>
              <a:ext uri="{FF2B5EF4-FFF2-40B4-BE49-F238E27FC236}">
                <a16:creationId xmlns:a16="http://schemas.microsoft.com/office/drawing/2014/main" id="{9E0AED43-7C17-4C80-A567-137193B013AA}"/>
              </a:ext>
            </a:extLst>
          </p:cNvPr>
          <p:cNvGrpSpPr/>
          <p:nvPr/>
        </p:nvGrpSpPr>
        <p:grpSpPr>
          <a:xfrm>
            <a:off x="9457614" y="2036455"/>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519170" y="223328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7BB6EDF5-2771-4DA5-B52B-FECB57DC0C06}"/>
              </a:ext>
            </a:extLst>
          </p:cNvPr>
          <p:cNvCxnSpPr>
            <a:cxnSpLocks/>
            <a:endCxn id="63" idx="1"/>
          </p:cNvCxnSpPr>
          <p:nvPr/>
        </p:nvCxnSpPr>
        <p:spPr>
          <a:xfrm flipV="1">
            <a:off x="8788128" y="2221121"/>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18534" y="2494731"/>
            <a:ext cx="3029941" cy="24802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C15AF271-37F2-40CB-89AC-9528F1965A28}"/>
              </a:ext>
            </a:extLst>
          </p:cNvPr>
          <p:cNvSpPr txBox="1"/>
          <p:nvPr/>
        </p:nvSpPr>
        <p:spPr>
          <a:xfrm>
            <a:off x="6660656" y="3169985"/>
            <a:ext cx="5039672" cy="3060838"/>
          </a:xfrm>
          <a:prstGeom prst="rect">
            <a:avLst/>
          </a:prstGeom>
          <a:noFill/>
        </p:spPr>
        <p:txBody>
          <a:bodyPr wrap="square">
            <a:spAutoFit/>
          </a:bodyPr>
          <a:lstStyle/>
          <a:p>
            <a:r>
              <a:rPr lang="en-US" sz="2000" dirty="0" err="1"/>
              <a:t>next_node</a:t>
            </a:r>
            <a:r>
              <a:rPr lang="en-US" sz="2000" dirty="0"/>
              <a:t> = </a:t>
            </a:r>
            <a:r>
              <a:rPr lang="en-US" sz="2000" dirty="0" err="1"/>
              <a:t>current.next</a:t>
            </a:r>
            <a:endParaRPr lang="en-US" sz="2000" dirty="0"/>
          </a:p>
          <a:p>
            <a:r>
              <a:rPr lang="en-US" sz="2000" dirty="0" err="1"/>
              <a:t>current.next</a:t>
            </a:r>
            <a:r>
              <a:rPr lang="en-US" sz="2000" dirty="0"/>
              <a:t> = none</a:t>
            </a:r>
          </a:p>
          <a:p>
            <a:pPr>
              <a:lnSpc>
                <a:spcPct val="110000"/>
              </a:lnSpc>
            </a:pPr>
            <a:r>
              <a:rPr lang="en-US" sz="2000" dirty="0"/>
              <a:t>if </a:t>
            </a:r>
            <a:r>
              <a:rPr lang="en-US" sz="2000" dirty="0" err="1"/>
              <a:t>current.data</a:t>
            </a:r>
            <a:r>
              <a:rPr lang="en-US" sz="2000" dirty="0"/>
              <a:t> is odd:</a:t>
            </a:r>
          </a:p>
          <a:p>
            <a:pPr>
              <a:lnSpc>
                <a:spcPct val="110000"/>
              </a:lnSpc>
            </a:pPr>
            <a:r>
              <a:rPr lang="en-US" sz="2000" dirty="0"/>
              <a:t>          if </a:t>
            </a:r>
            <a:r>
              <a:rPr lang="en-US" sz="2000" dirty="0" err="1"/>
              <a:t>odd_list.tail</a:t>
            </a:r>
            <a:r>
              <a:rPr lang="en-US" sz="2000" dirty="0"/>
              <a:t> is None:</a:t>
            </a:r>
          </a:p>
          <a:p>
            <a:pPr>
              <a:lnSpc>
                <a:spcPct val="110000"/>
              </a:lnSpc>
            </a:pPr>
            <a:r>
              <a:rPr lang="en-US" sz="2000" dirty="0"/>
              <a:t>               </a:t>
            </a:r>
            <a:r>
              <a:rPr lang="en-US" sz="2000" dirty="0" err="1"/>
              <a:t>odd_list.head</a:t>
            </a:r>
            <a:r>
              <a:rPr lang="en-US" sz="2000" dirty="0"/>
              <a:t> = </a:t>
            </a:r>
            <a:r>
              <a:rPr lang="en-US" sz="2000" dirty="0" err="1"/>
              <a:t>odd_list.tail</a:t>
            </a:r>
            <a:r>
              <a:rPr lang="en-US" sz="2000" dirty="0"/>
              <a:t> = current</a:t>
            </a:r>
          </a:p>
          <a:p>
            <a:pPr>
              <a:lnSpc>
                <a:spcPct val="110000"/>
              </a:lnSpc>
            </a:pPr>
            <a:r>
              <a:rPr lang="en-US" sz="2000" dirty="0"/>
              <a:t>          else:</a:t>
            </a:r>
          </a:p>
          <a:p>
            <a:pPr>
              <a:lnSpc>
                <a:spcPct val="110000"/>
              </a:lnSpc>
            </a:pPr>
            <a:r>
              <a:rPr lang="en-US" sz="2000" dirty="0"/>
              <a:t>               </a:t>
            </a:r>
            <a:r>
              <a:rPr lang="en-US" sz="2000" dirty="0" err="1"/>
              <a:t>odd_list.tail.next</a:t>
            </a:r>
            <a:r>
              <a:rPr lang="en-US" sz="2000" dirty="0"/>
              <a:t> = current</a:t>
            </a:r>
          </a:p>
          <a:p>
            <a:pPr>
              <a:lnSpc>
                <a:spcPct val="110000"/>
              </a:lnSpc>
            </a:pPr>
            <a:r>
              <a:rPr lang="en-US" sz="2000" dirty="0"/>
              <a:t>               </a:t>
            </a:r>
            <a:r>
              <a:rPr lang="en-US" sz="2000" dirty="0" err="1"/>
              <a:t>odd_list.tail</a:t>
            </a:r>
            <a:r>
              <a:rPr lang="en-US" sz="2000" dirty="0"/>
              <a:t> = current</a:t>
            </a:r>
          </a:p>
          <a:p>
            <a:pPr>
              <a:lnSpc>
                <a:spcPct val="110000"/>
              </a:lnSpc>
            </a:pPr>
            <a:r>
              <a:rPr lang="en-US" sz="2000" dirty="0"/>
              <a:t>          </a:t>
            </a:r>
            <a:r>
              <a:rPr lang="en-US" sz="2000" dirty="0" err="1"/>
              <a:t>odd_list.count</a:t>
            </a:r>
            <a:r>
              <a:rPr lang="en-US" sz="2000" dirty="0"/>
              <a:t> += 1</a:t>
            </a:r>
          </a:p>
        </p:txBody>
      </p:sp>
      <p:cxnSp>
        <p:nvCxnSpPr>
          <p:cNvPr id="73" name="Straight Arrow Connector 72">
            <a:extLst>
              <a:ext uri="{FF2B5EF4-FFF2-40B4-BE49-F238E27FC236}">
                <a16:creationId xmlns:a16="http://schemas.microsoft.com/office/drawing/2014/main" id="{FA37D068-6F03-4487-B4F2-B89A76D4D316}"/>
              </a:ext>
            </a:extLst>
          </p:cNvPr>
          <p:cNvCxnSpPr>
            <a:cxnSpLocks/>
            <a:stCxn id="75" idx="3"/>
          </p:cNvCxnSpPr>
          <p:nvPr/>
        </p:nvCxnSpPr>
        <p:spPr>
          <a:xfrm flipV="1">
            <a:off x="3818534" y="2427733"/>
            <a:ext cx="2865295" cy="22702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6618063-13AE-404B-84B4-A58F00268746}"/>
              </a:ext>
            </a:extLst>
          </p:cNvPr>
          <p:cNvCxnSpPr>
            <a:cxnSpLocks/>
            <a:stCxn id="56" idx="2"/>
            <a:endCxn id="11" idx="0"/>
          </p:cNvCxnSpPr>
          <p:nvPr/>
        </p:nvCxnSpPr>
        <p:spPr>
          <a:xfrm>
            <a:off x="6685373" y="1459450"/>
            <a:ext cx="207808" cy="574623"/>
          </a:xfrm>
          <a:prstGeom prst="straightConnector1">
            <a:avLst/>
          </a:prstGeom>
          <a:ln>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BA36430C-9C1E-4615-8C77-84A07A781864}"/>
              </a:ext>
            </a:extLst>
          </p:cNvPr>
          <p:cNvSpPr/>
          <p:nvPr/>
        </p:nvSpPr>
        <p:spPr>
          <a:xfrm>
            <a:off x="5336652" y="2133554"/>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Connector: Elbow 40">
            <a:extLst>
              <a:ext uri="{FF2B5EF4-FFF2-40B4-BE49-F238E27FC236}">
                <a16:creationId xmlns:a16="http://schemas.microsoft.com/office/drawing/2014/main" id="{BA6ABD6C-A715-49BE-800B-B8DA0A25C901}"/>
              </a:ext>
            </a:extLst>
          </p:cNvPr>
          <p:cNvCxnSpPr>
            <a:cxnSpLocks/>
          </p:cNvCxnSpPr>
          <p:nvPr/>
        </p:nvCxnSpPr>
        <p:spPr>
          <a:xfrm flipV="1">
            <a:off x="3910286" y="3037475"/>
            <a:ext cx="692333" cy="25149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07D8874-CFE4-4B59-88C9-C4C82269445B}"/>
              </a:ext>
            </a:extLst>
          </p:cNvPr>
          <p:cNvSpPr/>
          <p:nvPr/>
        </p:nvSpPr>
        <p:spPr>
          <a:xfrm>
            <a:off x="5622018" y="219861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Connector: Elbow 43">
            <a:extLst>
              <a:ext uri="{FF2B5EF4-FFF2-40B4-BE49-F238E27FC236}">
                <a16:creationId xmlns:a16="http://schemas.microsoft.com/office/drawing/2014/main" id="{267D55AC-F39D-4614-844D-A38B7317CBD7}"/>
              </a:ext>
            </a:extLst>
          </p:cNvPr>
          <p:cNvCxnSpPr>
            <a:cxnSpLocks/>
            <a:stCxn id="62" idx="3"/>
            <a:endCxn id="7" idx="2"/>
          </p:cNvCxnSpPr>
          <p:nvPr/>
        </p:nvCxnSpPr>
        <p:spPr>
          <a:xfrm flipV="1">
            <a:off x="3818534" y="3222141"/>
            <a:ext cx="948953" cy="3186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7" name="Group 66" descr="This figure shows the empty original list">
            <a:extLst>
              <a:ext uri="{FF2B5EF4-FFF2-40B4-BE49-F238E27FC236}">
                <a16:creationId xmlns:a16="http://schemas.microsoft.com/office/drawing/2014/main" id="{EBE48D98-309F-434A-182C-3E436B5A5E80}"/>
              </a:ext>
            </a:extLst>
          </p:cNvPr>
          <p:cNvGrpSpPr/>
          <p:nvPr/>
        </p:nvGrpSpPr>
        <p:grpSpPr>
          <a:xfrm>
            <a:off x="1387581" y="1534842"/>
            <a:ext cx="2919116" cy="923330"/>
            <a:chOff x="1894663" y="1710943"/>
            <a:chExt cx="2919116" cy="923330"/>
          </a:xfrm>
        </p:grpSpPr>
        <p:sp>
          <p:nvSpPr>
            <p:cNvPr id="72" name="TextBox 71">
              <a:extLst>
                <a:ext uri="{FF2B5EF4-FFF2-40B4-BE49-F238E27FC236}">
                  <a16:creationId xmlns:a16="http://schemas.microsoft.com/office/drawing/2014/main" id="{8A619D69-2471-4320-22C4-8D1DB0499A0A}"/>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77" name="TextBox 76">
              <a:extLst>
                <a:ext uri="{FF2B5EF4-FFF2-40B4-BE49-F238E27FC236}">
                  <a16:creationId xmlns:a16="http://schemas.microsoft.com/office/drawing/2014/main" id="{C5A77B37-44EA-88DD-C58A-C371E803BE77}"/>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78" name="Rectangle 77">
              <a:extLst>
                <a:ext uri="{FF2B5EF4-FFF2-40B4-BE49-F238E27FC236}">
                  <a16:creationId xmlns:a16="http://schemas.microsoft.com/office/drawing/2014/main" id="{5893CEBB-3435-FA55-B28B-B112A945DD90}"/>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6C53BD00-10A8-6960-1F09-2BE1DD9AA2AA}"/>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7197E9C-0AFB-FBD3-146D-A2410A53D737}"/>
                </a:ext>
              </a:extLst>
            </p:cNvPr>
            <p:cNvCxnSpPr>
              <a:stCxn id="72" idx="3"/>
              <a:endCxn id="77"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C35F0117-A4C1-7290-D13C-EF1B59E32BF7}"/>
                </a:ext>
              </a:extLst>
            </p:cNvPr>
            <p:cNvGrpSpPr/>
            <p:nvPr/>
          </p:nvGrpSpPr>
          <p:grpSpPr>
            <a:xfrm>
              <a:off x="4228361" y="1752675"/>
              <a:ext cx="585418" cy="632116"/>
              <a:chOff x="4658147" y="4558296"/>
              <a:chExt cx="585418" cy="632116"/>
            </a:xfrm>
          </p:grpSpPr>
          <p:sp>
            <p:nvSpPr>
              <p:cNvPr id="90" name="TextBox 89">
                <a:extLst>
                  <a:ext uri="{FF2B5EF4-FFF2-40B4-BE49-F238E27FC236}">
                    <a16:creationId xmlns:a16="http://schemas.microsoft.com/office/drawing/2014/main" id="{ABE33E10-6094-721A-416F-BF4C79C623F2}"/>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91" name="TextBox 90">
                <a:extLst>
                  <a:ext uri="{FF2B5EF4-FFF2-40B4-BE49-F238E27FC236}">
                    <a16:creationId xmlns:a16="http://schemas.microsoft.com/office/drawing/2014/main" id="{59D7DFF6-2BAE-017E-4882-3C33B8EC92FF}"/>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85" name="Straight Arrow Connector 84">
              <a:extLst>
                <a:ext uri="{FF2B5EF4-FFF2-40B4-BE49-F238E27FC236}">
                  <a16:creationId xmlns:a16="http://schemas.microsoft.com/office/drawing/2014/main" id="{89819B7A-07BE-1B95-F102-61D2886607DE}"/>
                </a:ext>
              </a:extLst>
            </p:cNvPr>
            <p:cNvCxnSpPr>
              <a:cxnSpLocks/>
            </p:cNvCxnSpPr>
            <p:nvPr/>
          </p:nvCxnSpPr>
          <p:spPr>
            <a:xfrm>
              <a:off x="3446081" y="1908065"/>
              <a:ext cx="7938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8B0EC664-5D24-54DF-F9C3-48D008D15EFA}"/>
                </a:ext>
              </a:extLst>
            </p:cNvPr>
            <p:cNvCxnSpPr>
              <a:cxnSpLocks/>
              <a:stCxn id="89"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EDA0D685-39ED-877F-0912-270829736A92}"/>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F0F118E4-7685-2210-8978-DCD5FE74C8C0}"/>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5" name="TextBox 104">
            <a:extLst>
              <a:ext uri="{FF2B5EF4-FFF2-40B4-BE49-F238E27FC236}">
                <a16:creationId xmlns:a16="http://schemas.microsoft.com/office/drawing/2014/main" id="{632C52DF-6F91-4DF6-8315-9D17FE7D1439}"/>
              </a:ext>
            </a:extLst>
          </p:cNvPr>
          <p:cNvSpPr txBox="1"/>
          <p:nvPr/>
        </p:nvSpPr>
        <p:spPr>
          <a:xfrm>
            <a:off x="7639743" y="1172834"/>
            <a:ext cx="1191801" cy="369332"/>
          </a:xfrm>
          <a:prstGeom prst="rect">
            <a:avLst/>
          </a:prstGeom>
          <a:noFill/>
        </p:spPr>
        <p:txBody>
          <a:bodyPr wrap="none" rtlCol="0">
            <a:spAutoFit/>
          </a:bodyPr>
          <a:lstStyle/>
          <a:p>
            <a:r>
              <a:rPr lang="en-US" dirty="0" err="1"/>
              <a:t>next_node</a:t>
            </a:r>
            <a:endParaRPr lang="en-US" dirty="0"/>
          </a:p>
        </p:txBody>
      </p:sp>
      <p:cxnSp>
        <p:nvCxnSpPr>
          <p:cNvPr id="106" name="Straight Arrow Connector 105">
            <a:extLst>
              <a:ext uri="{FF2B5EF4-FFF2-40B4-BE49-F238E27FC236}">
                <a16:creationId xmlns:a16="http://schemas.microsoft.com/office/drawing/2014/main" id="{1344B99B-251F-02BF-C12C-74593C82FE86}"/>
              </a:ext>
            </a:extLst>
          </p:cNvPr>
          <p:cNvCxnSpPr>
            <a:cxnSpLocks/>
            <a:stCxn id="105" idx="2"/>
          </p:cNvCxnSpPr>
          <p:nvPr/>
        </p:nvCxnSpPr>
        <p:spPr>
          <a:xfrm>
            <a:off x="8235644" y="1542166"/>
            <a:ext cx="176298" cy="4434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FC513E60-8F35-5A30-73D6-273407444282}"/>
              </a:ext>
            </a:extLst>
          </p:cNvPr>
          <p:cNvSpPr txBox="1"/>
          <p:nvPr/>
        </p:nvSpPr>
        <p:spPr>
          <a:xfrm>
            <a:off x="4896305" y="2914364"/>
            <a:ext cx="585417" cy="307777"/>
          </a:xfrm>
          <a:prstGeom prst="rect">
            <a:avLst/>
          </a:prstGeom>
          <a:noFill/>
        </p:spPr>
        <p:txBody>
          <a:bodyPr wrap="none" rtlCol="0">
            <a:spAutoFit/>
          </a:bodyPr>
          <a:lstStyle/>
          <a:p>
            <a:r>
              <a:rPr lang="en-US" sz="1400" b="1" dirty="0"/>
              <a:t>None</a:t>
            </a:r>
          </a:p>
        </p:txBody>
      </p:sp>
      <p:sp>
        <p:nvSpPr>
          <p:cNvPr id="108" name="TextBox 107">
            <a:extLst>
              <a:ext uri="{FF2B5EF4-FFF2-40B4-BE49-F238E27FC236}">
                <a16:creationId xmlns:a16="http://schemas.microsoft.com/office/drawing/2014/main" id="{2F884A3D-F75D-2520-4560-943B2F3B3C43}"/>
              </a:ext>
            </a:extLst>
          </p:cNvPr>
          <p:cNvSpPr txBox="1"/>
          <p:nvPr/>
        </p:nvSpPr>
        <p:spPr>
          <a:xfrm>
            <a:off x="9796632" y="2055911"/>
            <a:ext cx="636356" cy="307777"/>
          </a:xfrm>
          <a:prstGeom prst="rect">
            <a:avLst/>
          </a:prstGeom>
          <a:noFill/>
        </p:spPr>
        <p:txBody>
          <a:bodyPr wrap="square">
            <a:spAutoFit/>
          </a:bodyPr>
          <a:lstStyle/>
          <a:p>
            <a:r>
              <a:rPr lang="en-US" sz="1400" b="1" dirty="0"/>
              <a:t>None</a:t>
            </a:r>
          </a:p>
        </p:txBody>
      </p:sp>
      <p:sp>
        <p:nvSpPr>
          <p:cNvPr id="3" name="TextBox 2">
            <a:extLst>
              <a:ext uri="{FF2B5EF4-FFF2-40B4-BE49-F238E27FC236}">
                <a16:creationId xmlns:a16="http://schemas.microsoft.com/office/drawing/2014/main" id="{0359897F-AEA7-39B3-C07E-980078646F88}"/>
              </a:ext>
            </a:extLst>
          </p:cNvPr>
          <p:cNvSpPr txBox="1"/>
          <p:nvPr/>
        </p:nvSpPr>
        <p:spPr>
          <a:xfrm>
            <a:off x="7029960" y="2069933"/>
            <a:ext cx="630614" cy="307777"/>
          </a:xfrm>
          <a:prstGeom prst="rect">
            <a:avLst/>
          </a:prstGeom>
          <a:noFill/>
        </p:spPr>
        <p:txBody>
          <a:bodyPr wrap="square">
            <a:spAutoFit/>
          </a:bodyPr>
          <a:lstStyle/>
          <a:p>
            <a:r>
              <a:rPr lang="en-US" sz="1400" b="1" dirty="0">
                <a:solidFill>
                  <a:srgbClr val="FF0000"/>
                </a:solidFill>
              </a:rPr>
              <a:t>None</a:t>
            </a:r>
          </a:p>
        </p:txBody>
      </p:sp>
      <p:cxnSp>
        <p:nvCxnSpPr>
          <p:cNvPr id="16" name="Straight Arrow Connector 15">
            <a:extLst>
              <a:ext uri="{FF2B5EF4-FFF2-40B4-BE49-F238E27FC236}">
                <a16:creationId xmlns:a16="http://schemas.microsoft.com/office/drawing/2014/main" id="{0CC29663-7005-7FE3-A9E4-DE25EE95AA93}"/>
              </a:ext>
            </a:extLst>
          </p:cNvPr>
          <p:cNvCxnSpPr>
            <a:cxnSpLocks/>
          </p:cNvCxnSpPr>
          <p:nvPr/>
        </p:nvCxnSpPr>
        <p:spPr>
          <a:xfrm flipV="1">
            <a:off x="3828022" y="4974968"/>
            <a:ext cx="848237" cy="7678"/>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8E525A5-BEBD-26DE-DE70-0965F24CF308}"/>
              </a:ext>
            </a:extLst>
          </p:cNvPr>
          <p:cNvCxnSpPr>
            <a:cxnSpLocks/>
          </p:cNvCxnSpPr>
          <p:nvPr/>
        </p:nvCxnSpPr>
        <p:spPr>
          <a:xfrm>
            <a:off x="3951173" y="4705647"/>
            <a:ext cx="725086" cy="0"/>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B5748E4A-C567-050A-9415-420C93602BCD}"/>
              </a:ext>
            </a:extLst>
          </p:cNvPr>
          <p:cNvGrpSpPr/>
          <p:nvPr/>
        </p:nvGrpSpPr>
        <p:grpSpPr>
          <a:xfrm>
            <a:off x="4667706" y="4566577"/>
            <a:ext cx="585418" cy="632116"/>
            <a:chOff x="4658147" y="4558296"/>
            <a:chExt cx="585418" cy="632116"/>
          </a:xfrm>
        </p:grpSpPr>
        <p:sp>
          <p:nvSpPr>
            <p:cNvPr id="19" name="TextBox 18">
              <a:extLst>
                <a:ext uri="{FF2B5EF4-FFF2-40B4-BE49-F238E27FC236}">
                  <a16:creationId xmlns:a16="http://schemas.microsoft.com/office/drawing/2014/main" id="{CA9AEEC5-2B03-ECD6-D079-679D229F4C00}"/>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21" name="TextBox 20">
              <a:extLst>
                <a:ext uri="{FF2B5EF4-FFF2-40B4-BE49-F238E27FC236}">
                  <a16:creationId xmlns:a16="http://schemas.microsoft.com/office/drawing/2014/main" id="{6B02D8B0-59CC-F2EA-A064-513E9A97488C}"/>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38" name="Straight Arrow Connector 37">
            <a:extLst>
              <a:ext uri="{FF2B5EF4-FFF2-40B4-BE49-F238E27FC236}">
                <a16:creationId xmlns:a16="http://schemas.microsoft.com/office/drawing/2014/main" id="{B1C9F3E1-CA65-875E-CC9F-8CF2EF7E5969}"/>
              </a:ext>
            </a:extLst>
          </p:cNvPr>
          <p:cNvCxnSpPr>
            <a:stCxn id="105" idx="2"/>
            <a:endCxn id="12" idx="0"/>
          </p:cNvCxnSpPr>
          <p:nvPr/>
        </p:nvCxnSpPr>
        <p:spPr>
          <a:xfrm flipH="1">
            <a:off x="7311885" y="1542166"/>
            <a:ext cx="923759" cy="491907"/>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20435A7-6204-B303-FC93-D7642C741FB2}"/>
              </a:ext>
            </a:extLst>
          </p:cNvPr>
          <p:cNvCxnSpPr>
            <a:endCxn id="14" idx="1"/>
          </p:cNvCxnSpPr>
          <p:nvPr/>
        </p:nvCxnSpPr>
        <p:spPr>
          <a:xfrm flipV="1">
            <a:off x="7521237" y="2218739"/>
            <a:ext cx="574671" cy="12164"/>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825037B6-04CC-87C7-B4DA-48AB1E3E6F03}"/>
              </a:ext>
              <a:ext uri="{C183D7F6-B498-43B3-948B-1728B52AA6E4}">
                <adec:decorative xmlns:adec="http://schemas.microsoft.com/office/drawing/2017/decorative" val="1"/>
              </a:ext>
            </a:extLst>
          </p:cNvPr>
          <p:cNvGrpSpPr/>
          <p:nvPr/>
        </p:nvGrpSpPr>
        <p:grpSpPr>
          <a:xfrm>
            <a:off x="245938" y="5635175"/>
            <a:ext cx="3192509" cy="948446"/>
            <a:chOff x="279606" y="5645073"/>
            <a:chExt cx="3192509" cy="948446"/>
          </a:xfrm>
        </p:grpSpPr>
        <p:grpSp>
          <p:nvGrpSpPr>
            <p:cNvPr id="43" name="Group 42">
              <a:extLst>
                <a:ext uri="{FF2B5EF4-FFF2-40B4-BE49-F238E27FC236}">
                  <a16:creationId xmlns:a16="http://schemas.microsoft.com/office/drawing/2014/main" id="{AFDD2799-8FB6-4B56-B9D4-4B71CD6C98B8}"/>
                </a:ext>
              </a:extLst>
            </p:cNvPr>
            <p:cNvGrpSpPr/>
            <p:nvPr/>
          </p:nvGrpSpPr>
          <p:grpSpPr>
            <a:xfrm>
              <a:off x="378739" y="5645073"/>
              <a:ext cx="3093376" cy="369332"/>
              <a:chOff x="4680011" y="1838933"/>
              <a:chExt cx="3093376" cy="369332"/>
            </a:xfrm>
          </p:grpSpPr>
          <p:sp>
            <p:nvSpPr>
              <p:cNvPr id="69" name="TextBox 68">
                <a:extLst>
                  <a:ext uri="{FF2B5EF4-FFF2-40B4-BE49-F238E27FC236}">
                    <a16:creationId xmlns:a16="http://schemas.microsoft.com/office/drawing/2014/main" id="{46F225D2-EC79-1D74-698D-7459D0913716}"/>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83" name="Straight Arrow Connector 82">
                <a:extLst>
                  <a:ext uri="{FF2B5EF4-FFF2-40B4-BE49-F238E27FC236}">
                    <a16:creationId xmlns:a16="http://schemas.microsoft.com/office/drawing/2014/main" id="{48DA88A0-78D5-0400-16F4-08C0824DD0C3}"/>
                  </a:ext>
                </a:extLst>
              </p:cNvPr>
              <p:cNvCxnSpPr>
                <a:cxnSpLocks/>
                <a:endCxn id="69"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E1E17860-C247-4EEB-DF0A-C7C84A05D426}"/>
                </a:ext>
              </a:extLst>
            </p:cNvPr>
            <p:cNvGrpSpPr/>
            <p:nvPr/>
          </p:nvGrpSpPr>
          <p:grpSpPr>
            <a:xfrm>
              <a:off x="378739" y="5934630"/>
              <a:ext cx="2699807" cy="369332"/>
              <a:chOff x="4680011" y="2100359"/>
              <a:chExt cx="2699807" cy="369332"/>
            </a:xfrm>
          </p:grpSpPr>
          <p:sp>
            <p:nvSpPr>
              <p:cNvPr id="59" name="TextBox 58">
                <a:extLst>
                  <a:ext uri="{FF2B5EF4-FFF2-40B4-BE49-F238E27FC236}">
                    <a16:creationId xmlns:a16="http://schemas.microsoft.com/office/drawing/2014/main" id="{60AAC68D-39E5-E18E-D1B1-34FC21B75262}"/>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60" name="Straight Arrow Connector 59">
                <a:extLst>
                  <a:ext uri="{FF2B5EF4-FFF2-40B4-BE49-F238E27FC236}">
                    <a16:creationId xmlns:a16="http://schemas.microsoft.com/office/drawing/2014/main" id="{E8D03FBA-6E09-6ECF-C525-5BF789595081}"/>
                  </a:ext>
                </a:extLst>
              </p:cNvPr>
              <p:cNvCxnSpPr>
                <a:cxnSpLocks/>
                <a:endCxn id="59"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51D2136D-E35B-82DC-D7B0-61140C96BADD}"/>
                </a:ext>
              </a:extLst>
            </p:cNvPr>
            <p:cNvGrpSpPr/>
            <p:nvPr/>
          </p:nvGrpSpPr>
          <p:grpSpPr>
            <a:xfrm>
              <a:off x="378739" y="6224187"/>
              <a:ext cx="2337271" cy="369332"/>
              <a:chOff x="4758431" y="3161942"/>
              <a:chExt cx="2337271" cy="369332"/>
            </a:xfrm>
          </p:grpSpPr>
          <p:sp>
            <p:nvSpPr>
              <p:cNvPr id="48" name="TextBox 47">
                <a:extLst>
                  <a:ext uri="{FF2B5EF4-FFF2-40B4-BE49-F238E27FC236}">
                    <a16:creationId xmlns:a16="http://schemas.microsoft.com/office/drawing/2014/main" id="{C244C498-9FF8-97E2-F01D-5BA73842AD71}"/>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58" name="Straight Arrow Connector 57">
                <a:extLst>
                  <a:ext uri="{FF2B5EF4-FFF2-40B4-BE49-F238E27FC236}">
                    <a16:creationId xmlns:a16="http://schemas.microsoft.com/office/drawing/2014/main" id="{E8B8196D-9CFF-2BCE-D146-3F24650109BA}"/>
                  </a:ext>
                </a:extLst>
              </p:cNvPr>
              <p:cNvCxnSpPr>
                <a:cxnSpLocks/>
                <a:endCxn id="48"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0C275C40-7192-654C-55D9-B768E98D0914}"/>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Oval 21">
            <a:extLst>
              <a:ext uri="{FF2B5EF4-FFF2-40B4-BE49-F238E27FC236}">
                <a16:creationId xmlns:a16="http://schemas.microsoft.com/office/drawing/2014/main" id="{255229F8-DF57-9F94-F24D-1F94397F65C9}"/>
              </a:ext>
            </a:extLst>
          </p:cNvPr>
          <p:cNvSpPr/>
          <p:nvPr/>
        </p:nvSpPr>
        <p:spPr>
          <a:xfrm>
            <a:off x="7800205" y="1843325"/>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23" name="Oval 22">
            <a:extLst>
              <a:ext uri="{FF2B5EF4-FFF2-40B4-BE49-F238E27FC236}">
                <a16:creationId xmlns:a16="http://schemas.microsoft.com/office/drawing/2014/main" id="{CA478099-4672-4406-EF3D-9B31AD782530}"/>
              </a:ext>
            </a:extLst>
          </p:cNvPr>
          <p:cNvSpPr/>
          <p:nvPr/>
        </p:nvSpPr>
        <p:spPr>
          <a:xfrm>
            <a:off x="7182964" y="244722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24" name="Oval 23">
            <a:extLst>
              <a:ext uri="{FF2B5EF4-FFF2-40B4-BE49-F238E27FC236}">
                <a16:creationId xmlns:a16="http://schemas.microsoft.com/office/drawing/2014/main" id="{9EA60309-3EE3-6CA8-18F3-255F36528DDA}"/>
              </a:ext>
            </a:extLst>
          </p:cNvPr>
          <p:cNvSpPr/>
          <p:nvPr/>
        </p:nvSpPr>
        <p:spPr>
          <a:xfrm>
            <a:off x="4890840" y="4205135"/>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25" name="Oval 24">
            <a:extLst>
              <a:ext uri="{FF2B5EF4-FFF2-40B4-BE49-F238E27FC236}">
                <a16:creationId xmlns:a16="http://schemas.microsoft.com/office/drawing/2014/main" id="{E2E1CD94-5170-0BBE-2833-D1EAF3A30D40}"/>
              </a:ext>
            </a:extLst>
          </p:cNvPr>
          <p:cNvSpPr/>
          <p:nvPr/>
        </p:nvSpPr>
        <p:spPr>
          <a:xfrm>
            <a:off x="6427948" y="3264470"/>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26" name="Oval 25">
            <a:extLst>
              <a:ext uri="{FF2B5EF4-FFF2-40B4-BE49-F238E27FC236}">
                <a16:creationId xmlns:a16="http://schemas.microsoft.com/office/drawing/2014/main" id="{3105F2FD-47E1-2CF8-777A-2DB8900350BC}"/>
              </a:ext>
            </a:extLst>
          </p:cNvPr>
          <p:cNvSpPr/>
          <p:nvPr/>
        </p:nvSpPr>
        <p:spPr>
          <a:xfrm>
            <a:off x="6447976" y="3600979"/>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27" name="Oval 26">
            <a:extLst>
              <a:ext uri="{FF2B5EF4-FFF2-40B4-BE49-F238E27FC236}">
                <a16:creationId xmlns:a16="http://schemas.microsoft.com/office/drawing/2014/main" id="{DE28AE82-AEC2-1229-3251-F07FB3CE394D}"/>
              </a:ext>
            </a:extLst>
          </p:cNvPr>
          <p:cNvSpPr/>
          <p:nvPr/>
        </p:nvSpPr>
        <p:spPr>
          <a:xfrm>
            <a:off x="7314571" y="457351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28" name="Oval 27">
            <a:extLst>
              <a:ext uri="{FF2B5EF4-FFF2-40B4-BE49-F238E27FC236}">
                <a16:creationId xmlns:a16="http://schemas.microsoft.com/office/drawing/2014/main" id="{C31AF918-8C58-DD7E-67D2-DDC5C20BB360}"/>
              </a:ext>
            </a:extLst>
          </p:cNvPr>
          <p:cNvSpPr/>
          <p:nvPr/>
        </p:nvSpPr>
        <p:spPr>
          <a:xfrm>
            <a:off x="6996336" y="5924732"/>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29" name="Oval 28">
            <a:extLst>
              <a:ext uri="{FF2B5EF4-FFF2-40B4-BE49-F238E27FC236}">
                <a16:creationId xmlns:a16="http://schemas.microsoft.com/office/drawing/2014/main" id="{4407D83E-0A27-C51B-1A9D-9F729D1218FF}"/>
              </a:ext>
            </a:extLst>
          </p:cNvPr>
          <p:cNvSpPr/>
          <p:nvPr/>
        </p:nvSpPr>
        <p:spPr>
          <a:xfrm>
            <a:off x="4120533" y="548783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Tree>
    <p:extLst>
      <p:ext uri="{BB962C8B-B14F-4D97-AF65-F5344CB8AC3E}">
        <p14:creationId xmlns:p14="http://schemas.microsoft.com/office/powerpoint/2010/main" val="363801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e node with 10 is still the only node in the evensList. ">
            <a:extLst>
              <a:ext uri="{FF2B5EF4-FFF2-40B4-BE49-F238E27FC236}">
                <a16:creationId xmlns:a16="http://schemas.microsoft.com/office/drawing/2014/main" id="{5DD54024-0FA6-4B0A-80C0-89C1918A30D1}"/>
              </a:ext>
            </a:extLst>
          </p:cNvPr>
          <p:cNvGrpSpPr/>
          <p:nvPr/>
        </p:nvGrpSpPr>
        <p:grpSpPr>
          <a:xfrm>
            <a:off x="4692394" y="3211228"/>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e node with 13 is now the only node in the oddsList. The current cursor has not yet been moved and is still pointing to this node. ">
            <a:extLst>
              <a:ext uri="{FF2B5EF4-FFF2-40B4-BE49-F238E27FC236}">
                <a16:creationId xmlns:a16="http://schemas.microsoft.com/office/drawing/2014/main" id="{4666D4FE-5B5C-4459-A6CC-4806EAED419B}"/>
              </a:ext>
            </a:extLst>
          </p:cNvPr>
          <p:cNvGrpSpPr/>
          <p:nvPr/>
        </p:nvGrpSpPr>
        <p:grpSpPr>
          <a:xfrm>
            <a:off x="4666771" y="4665931"/>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object represents a node in a list. This node has the value 14. It is no longer being referenced by the node with 13 since that node is now at the end of the oddsList. It is however, being referenced cursor, next_node. new cursor called next_node. Its next pointer is pointing to the node with the value 18. ">
            <a:extLst>
              <a:ext uri="{FF2B5EF4-FFF2-40B4-BE49-F238E27FC236}">
                <a16:creationId xmlns:a16="http://schemas.microsoft.com/office/drawing/2014/main" id="{78FAFC49-D14E-4702-91EB-44670C059031}"/>
              </a:ext>
            </a:extLst>
          </p:cNvPr>
          <p:cNvGrpSpPr/>
          <p:nvPr/>
        </p:nvGrpSpPr>
        <p:grpSpPr>
          <a:xfrm>
            <a:off x="8095908" y="2034073"/>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9162661" y="25759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object shows the evensList with head and tail referencing the node with 10 and the count set to 1. ">
            <a:extLst>
              <a:ext uri="{FF2B5EF4-FFF2-40B4-BE49-F238E27FC236}">
                <a16:creationId xmlns:a16="http://schemas.microsoft.com/office/drawing/2014/main" id="{5B7DF3C0-759F-4156-9C70-2495727DD711}"/>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shows the oddsList with head and tail referencing the node with 13 and the count set to 1. ">
            <a:extLst>
              <a:ext uri="{FF2B5EF4-FFF2-40B4-BE49-F238E27FC236}">
                <a16:creationId xmlns:a16="http://schemas.microsoft.com/office/drawing/2014/main" id="{B026C760-1433-4994-951F-A89EE9F55E5F}"/>
              </a:ext>
            </a:extLst>
          </p:cNvPr>
          <p:cNvSpPr txBox="1"/>
          <p:nvPr/>
        </p:nvSpPr>
        <p:spPr>
          <a:xfrm>
            <a:off x="3313651" y="4505625"/>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698779" y="4782624"/>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6367153" y="1281625"/>
            <a:ext cx="873637" cy="369332"/>
          </a:xfrm>
          <a:prstGeom prst="rect">
            <a:avLst/>
          </a:prstGeom>
          <a:noFill/>
        </p:spPr>
        <p:txBody>
          <a:bodyPr wrap="none" rtlCol="0">
            <a:spAutoFit/>
          </a:bodyPr>
          <a:lstStyle/>
          <a:p>
            <a:r>
              <a:rPr lang="en-US" dirty="0"/>
              <a:t>current</a:t>
            </a:r>
          </a:p>
        </p:txBody>
      </p:sp>
      <p:sp>
        <p:nvSpPr>
          <p:cNvPr id="62" name="Rectangle 61">
            <a:extLst>
              <a:ext uri="{FF2B5EF4-FFF2-40B4-BE49-F238E27FC236}">
                <a16:creationId xmlns:a16="http://schemas.microsoft.com/office/drawing/2014/main" id="{12B4E316-46E9-40F5-A68E-C79A22B98903}"/>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404143" y="339150"/>
            <a:ext cx="4979953" cy="461665"/>
          </a:xfrm>
          <a:prstGeom prst="rect">
            <a:avLst/>
          </a:prstGeom>
          <a:noFill/>
        </p:spPr>
        <p:txBody>
          <a:bodyPr wrap="none" rtlCol="0">
            <a:spAutoFit/>
          </a:bodyPr>
          <a:lstStyle/>
          <a:p>
            <a:r>
              <a:rPr lang="en-US" sz="2400" dirty="0"/>
              <a:t>Effect of adding node 13 to </a:t>
            </a:r>
            <a:r>
              <a:rPr lang="en-US" sz="2200" b="1" dirty="0" err="1">
                <a:latin typeface="Courier New" panose="02070309020205020404" pitchFamily="49" charset="0"/>
                <a:cs typeface="Courier New" panose="02070309020205020404" pitchFamily="49" charset="0"/>
              </a:rPr>
              <a:t>oddsList</a:t>
            </a:r>
            <a:endParaRPr lang="en-US" sz="2200" b="1" dirty="0">
              <a:latin typeface="Courier New" panose="02070309020205020404" pitchFamily="49" charset="0"/>
              <a:cs typeface="Courier New" panose="02070309020205020404" pitchFamily="49" charset="0"/>
            </a:endParaRPr>
          </a:p>
        </p:txBody>
      </p:sp>
      <p:sp>
        <p:nvSpPr>
          <p:cNvPr id="51" name="Rectangle 50">
            <a:extLst>
              <a:ext uri="{FF2B5EF4-FFF2-40B4-BE49-F238E27FC236}">
                <a16:creationId xmlns:a16="http://schemas.microsoft.com/office/drawing/2014/main" id="{72B536CB-E470-4958-A9F2-86ED980F3E2F}"/>
              </a:ext>
            </a:extLst>
          </p:cNvPr>
          <p:cNvSpPr/>
          <p:nvPr/>
        </p:nvSpPr>
        <p:spPr>
          <a:xfrm>
            <a:off x="6384372" y="3209940"/>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object represents a node. This node has the value 18. It is pointed to by the node with 14. It's next pointer is pointing to the None object meaning there is no following node.">
            <a:extLst>
              <a:ext uri="{FF2B5EF4-FFF2-40B4-BE49-F238E27FC236}">
                <a16:creationId xmlns:a16="http://schemas.microsoft.com/office/drawing/2014/main" id="{9E0AED43-7C17-4C80-A567-137193B013AA}"/>
              </a:ext>
            </a:extLst>
          </p:cNvPr>
          <p:cNvGrpSpPr/>
          <p:nvPr/>
        </p:nvGrpSpPr>
        <p:grpSpPr>
          <a:xfrm>
            <a:off x="9457614" y="2036455"/>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519170" y="223328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86E77C6B-884D-40CA-899F-81B5C689F01F}"/>
              </a:ext>
            </a:extLst>
          </p:cNvPr>
          <p:cNvSpPr/>
          <p:nvPr/>
        </p:nvSpPr>
        <p:spPr>
          <a:xfrm>
            <a:off x="4382946" y="569196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7BB6EDF5-2771-4DA5-B52B-FECB57DC0C06}"/>
              </a:ext>
            </a:extLst>
          </p:cNvPr>
          <p:cNvCxnSpPr>
            <a:cxnSpLocks/>
            <a:endCxn id="63" idx="1"/>
          </p:cNvCxnSpPr>
          <p:nvPr/>
        </p:nvCxnSpPr>
        <p:spPr>
          <a:xfrm flipV="1">
            <a:off x="8788128" y="2221121"/>
            <a:ext cx="669486" cy="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18534" y="4967290"/>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DD6B1DD-7A5F-4B33-905B-798A3C0F0BDC}"/>
              </a:ext>
            </a:extLst>
          </p:cNvPr>
          <p:cNvCxnSpPr>
            <a:cxnSpLocks/>
          </p:cNvCxnSpPr>
          <p:nvPr/>
        </p:nvCxnSpPr>
        <p:spPr>
          <a:xfrm>
            <a:off x="3953435" y="3263767"/>
            <a:ext cx="713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0C017C4-0DF5-480D-B39D-14B1DFD8E9C6}"/>
              </a:ext>
            </a:extLst>
          </p:cNvPr>
          <p:cNvCxnSpPr>
            <a:cxnSpLocks/>
          </p:cNvCxnSpPr>
          <p:nvPr/>
        </p:nvCxnSpPr>
        <p:spPr>
          <a:xfrm flipV="1">
            <a:off x="3953435" y="4714329"/>
            <a:ext cx="713336" cy="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5757DA-7358-C1BE-4702-E7C11590055F}"/>
              </a:ext>
            </a:extLst>
          </p:cNvPr>
          <p:cNvSpPr/>
          <p:nvPr/>
        </p:nvSpPr>
        <p:spPr>
          <a:xfrm>
            <a:off x="5821420" y="3529457"/>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3D9EDF8-3125-722A-C46E-1FEA1F3484EC}"/>
              </a:ext>
            </a:extLst>
          </p:cNvPr>
          <p:cNvSpPr/>
          <p:nvPr/>
        </p:nvSpPr>
        <p:spPr>
          <a:xfrm>
            <a:off x="3561868" y="3476876"/>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0105ADA-FE64-2D5D-3E40-FFFD3DE995CE}"/>
              </a:ext>
            </a:extLst>
          </p:cNvPr>
          <p:cNvSpPr/>
          <p:nvPr/>
        </p:nvSpPr>
        <p:spPr>
          <a:xfrm>
            <a:off x="5817965" y="5067301"/>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Arrow Connector 71">
            <a:extLst>
              <a:ext uri="{FF2B5EF4-FFF2-40B4-BE49-F238E27FC236}">
                <a16:creationId xmlns:a16="http://schemas.microsoft.com/office/drawing/2014/main" id="{B0C8042C-4085-E749-B56C-6E50B85E6622}"/>
              </a:ext>
            </a:extLst>
          </p:cNvPr>
          <p:cNvCxnSpPr/>
          <p:nvPr/>
        </p:nvCxnSpPr>
        <p:spPr>
          <a:xfrm flipV="1">
            <a:off x="3844157" y="3529457"/>
            <a:ext cx="822614" cy="1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893CB9-BB47-FEB5-DAB3-BBDAD1EE9722}"/>
              </a:ext>
            </a:extLst>
          </p:cNvPr>
          <p:cNvSpPr txBox="1"/>
          <p:nvPr/>
        </p:nvSpPr>
        <p:spPr>
          <a:xfrm>
            <a:off x="7639743" y="1172834"/>
            <a:ext cx="1191801" cy="369332"/>
          </a:xfrm>
          <a:prstGeom prst="rect">
            <a:avLst/>
          </a:prstGeom>
          <a:noFill/>
        </p:spPr>
        <p:txBody>
          <a:bodyPr wrap="none" rtlCol="0">
            <a:spAutoFit/>
          </a:bodyPr>
          <a:lstStyle/>
          <a:p>
            <a:r>
              <a:rPr lang="en-US" dirty="0" err="1"/>
              <a:t>next_node</a:t>
            </a:r>
            <a:endParaRPr lang="en-US" dirty="0"/>
          </a:p>
        </p:txBody>
      </p:sp>
      <p:cxnSp>
        <p:nvCxnSpPr>
          <p:cNvPr id="21" name="Straight Arrow Connector 20">
            <a:extLst>
              <a:ext uri="{FF2B5EF4-FFF2-40B4-BE49-F238E27FC236}">
                <a16:creationId xmlns:a16="http://schemas.microsoft.com/office/drawing/2014/main" id="{2002A12A-56BE-0AA1-9CF4-7352C7A1834B}"/>
              </a:ext>
            </a:extLst>
          </p:cNvPr>
          <p:cNvCxnSpPr>
            <a:cxnSpLocks/>
            <a:stCxn id="18" idx="2"/>
          </p:cNvCxnSpPr>
          <p:nvPr/>
        </p:nvCxnSpPr>
        <p:spPr>
          <a:xfrm>
            <a:off x="8235644" y="1542166"/>
            <a:ext cx="176298" cy="44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E5A9107-B371-726C-E548-51C84A50828E}"/>
              </a:ext>
            </a:extLst>
          </p:cNvPr>
          <p:cNvSpPr txBox="1"/>
          <p:nvPr/>
        </p:nvSpPr>
        <p:spPr>
          <a:xfrm>
            <a:off x="9796632" y="2055911"/>
            <a:ext cx="636356" cy="307777"/>
          </a:xfrm>
          <a:prstGeom prst="rect">
            <a:avLst/>
          </a:prstGeom>
          <a:noFill/>
        </p:spPr>
        <p:txBody>
          <a:bodyPr wrap="square">
            <a:spAutoFit/>
          </a:bodyPr>
          <a:lstStyle/>
          <a:p>
            <a:r>
              <a:rPr lang="en-US" sz="1400" b="1" dirty="0"/>
              <a:t>None</a:t>
            </a:r>
          </a:p>
        </p:txBody>
      </p:sp>
      <p:sp>
        <p:nvSpPr>
          <p:cNvPr id="23" name="TextBox 22">
            <a:extLst>
              <a:ext uri="{FF2B5EF4-FFF2-40B4-BE49-F238E27FC236}">
                <a16:creationId xmlns:a16="http://schemas.microsoft.com/office/drawing/2014/main" id="{0C45279F-BBD5-4B51-0406-E74CD482B03F}"/>
              </a:ext>
            </a:extLst>
          </p:cNvPr>
          <p:cNvSpPr txBox="1"/>
          <p:nvPr/>
        </p:nvSpPr>
        <p:spPr>
          <a:xfrm>
            <a:off x="5022260" y="3263767"/>
            <a:ext cx="585417" cy="307777"/>
          </a:xfrm>
          <a:prstGeom prst="rect">
            <a:avLst/>
          </a:prstGeom>
          <a:noFill/>
        </p:spPr>
        <p:txBody>
          <a:bodyPr wrap="none" rtlCol="0">
            <a:spAutoFit/>
          </a:bodyPr>
          <a:lstStyle/>
          <a:p>
            <a:r>
              <a:rPr lang="en-US" sz="1400" b="1" dirty="0"/>
              <a:t>None</a:t>
            </a:r>
          </a:p>
        </p:txBody>
      </p:sp>
      <p:sp>
        <p:nvSpPr>
          <p:cNvPr id="24" name="TextBox 23">
            <a:extLst>
              <a:ext uri="{FF2B5EF4-FFF2-40B4-BE49-F238E27FC236}">
                <a16:creationId xmlns:a16="http://schemas.microsoft.com/office/drawing/2014/main" id="{BAE695C8-69FB-00BD-D6B0-BB44ED5C4902}"/>
              </a:ext>
            </a:extLst>
          </p:cNvPr>
          <p:cNvSpPr txBox="1"/>
          <p:nvPr/>
        </p:nvSpPr>
        <p:spPr>
          <a:xfrm>
            <a:off x="5022260" y="4698878"/>
            <a:ext cx="585417" cy="307777"/>
          </a:xfrm>
          <a:prstGeom prst="rect">
            <a:avLst/>
          </a:prstGeom>
          <a:noFill/>
        </p:spPr>
        <p:txBody>
          <a:bodyPr wrap="none" rtlCol="0">
            <a:spAutoFit/>
          </a:bodyPr>
          <a:lstStyle/>
          <a:p>
            <a:r>
              <a:rPr lang="en-US" sz="1400" b="1" dirty="0"/>
              <a:t>None</a:t>
            </a:r>
          </a:p>
        </p:txBody>
      </p:sp>
      <p:grpSp>
        <p:nvGrpSpPr>
          <p:cNvPr id="26" name="Group 25" descr="This figure shows the empty original list">
            <a:extLst>
              <a:ext uri="{FF2B5EF4-FFF2-40B4-BE49-F238E27FC236}">
                <a16:creationId xmlns:a16="http://schemas.microsoft.com/office/drawing/2014/main" id="{FA818661-9D27-357D-78ED-9F78407EFAEA}"/>
              </a:ext>
            </a:extLst>
          </p:cNvPr>
          <p:cNvGrpSpPr/>
          <p:nvPr/>
        </p:nvGrpSpPr>
        <p:grpSpPr>
          <a:xfrm>
            <a:off x="2230233" y="1528214"/>
            <a:ext cx="2919116" cy="923330"/>
            <a:chOff x="1894663" y="1710943"/>
            <a:chExt cx="2919116" cy="923330"/>
          </a:xfrm>
        </p:grpSpPr>
        <p:sp>
          <p:nvSpPr>
            <p:cNvPr id="28" name="TextBox 27">
              <a:extLst>
                <a:ext uri="{FF2B5EF4-FFF2-40B4-BE49-F238E27FC236}">
                  <a16:creationId xmlns:a16="http://schemas.microsoft.com/office/drawing/2014/main" id="{C16178C3-100E-F044-130C-8DEB0EF1FE69}"/>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29" name="TextBox 28">
              <a:extLst>
                <a:ext uri="{FF2B5EF4-FFF2-40B4-BE49-F238E27FC236}">
                  <a16:creationId xmlns:a16="http://schemas.microsoft.com/office/drawing/2014/main" id="{860A5E60-9F6F-7E55-173B-D5A6E4EC3AB0}"/>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32" name="Rectangle 31">
              <a:extLst>
                <a:ext uri="{FF2B5EF4-FFF2-40B4-BE49-F238E27FC236}">
                  <a16:creationId xmlns:a16="http://schemas.microsoft.com/office/drawing/2014/main" id="{2E69125A-6B85-4E17-9F2A-CBC9DF96BCC9}"/>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B3525E1-2575-B8E5-0EDE-61A87A54967E}"/>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0FED8183-D7EF-028A-1D9F-E6898C700BA7}"/>
                </a:ext>
              </a:extLst>
            </p:cNvPr>
            <p:cNvCxnSpPr>
              <a:stCxn id="28" idx="3"/>
              <a:endCxn id="29"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21B3E58A-7FED-B159-58EF-E7F162175F58}"/>
                </a:ext>
              </a:extLst>
            </p:cNvPr>
            <p:cNvGrpSpPr/>
            <p:nvPr/>
          </p:nvGrpSpPr>
          <p:grpSpPr>
            <a:xfrm>
              <a:off x="4228361" y="1752675"/>
              <a:ext cx="585418" cy="632116"/>
              <a:chOff x="4658147" y="4558296"/>
              <a:chExt cx="585418" cy="632116"/>
            </a:xfrm>
          </p:grpSpPr>
          <p:sp>
            <p:nvSpPr>
              <p:cNvPr id="45" name="TextBox 44">
                <a:extLst>
                  <a:ext uri="{FF2B5EF4-FFF2-40B4-BE49-F238E27FC236}">
                    <a16:creationId xmlns:a16="http://schemas.microsoft.com/office/drawing/2014/main" id="{E2FC7F3A-ABB6-51B4-3DF7-76ED431353CA}"/>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46" name="TextBox 45">
                <a:extLst>
                  <a:ext uri="{FF2B5EF4-FFF2-40B4-BE49-F238E27FC236}">
                    <a16:creationId xmlns:a16="http://schemas.microsoft.com/office/drawing/2014/main" id="{0A795E8B-117B-C995-BC9D-ACA67EBC5A36}"/>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40" name="Straight Arrow Connector 39">
              <a:extLst>
                <a:ext uri="{FF2B5EF4-FFF2-40B4-BE49-F238E27FC236}">
                  <a16:creationId xmlns:a16="http://schemas.microsoft.com/office/drawing/2014/main" id="{F5887DDB-B138-9F6B-4363-0787E2F20AEB}"/>
                </a:ext>
              </a:extLst>
            </p:cNvPr>
            <p:cNvCxnSpPr>
              <a:cxnSpLocks/>
            </p:cNvCxnSpPr>
            <p:nvPr/>
          </p:nvCxnSpPr>
          <p:spPr>
            <a:xfrm>
              <a:off x="3508587" y="1908065"/>
              <a:ext cx="731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2183C08-8231-0052-6C57-0DB19C974B84}"/>
                </a:ext>
              </a:extLst>
            </p:cNvPr>
            <p:cNvCxnSpPr>
              <a:cxnSpLocks/>
              <a:stCxn id="43"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0BA99282-51A2-2960-AEA3-8187EE34FD4E}"/>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C1FC3B2-7FA5-D279-032F-7D0EF292E3F6}"/>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5" name="Connector: Elbow 24">
            <a:extLst>
              <a:ext uri="{FF2B5EF4-FFF2-40B4-BE49-F238E27FC236}">
                <a16:creationId xmlns:a16="http://schemas.microsoft.com/office/drawing/2014/main" id="{2911BF00-1AE3-D5FF-6896-FBAB36766987}"/>
              </a:ext>
            </a:extLst>
          </p:cNvPr>
          <p:cNvCxnSpPr>
            <a:cxnSpLocks/>
            <a:stCxn id="56" idx="2"/>
          </p:cNvCxnSpPr>
          <p:nvPr/>
        </p:nvCxnSpPr>
        <p:spPr>
          <a:xfrm rot="5400000">
            <a:off x="4442683" y="2300408"/>
            <a:ext cx="3010741" cy="1711838"/>
          </a:xfrm>
          <a:prstGeom prst="bentConnector3">
            <a:avLst>
              <a:gd name="adj1" fmla="val 78287"/>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2A4D1DF-20CF-E891-CF8B-B148F952B9C9}"/>
              </a:ext>
            </a:extLst>
          </p:cNvPr>
          <p:cNvSpPr txBox="1"/>
          <p:nvPr/>
        </p:nvSpPr>
        <p:spPr>
          <a:xfrm>
            <a:off x="7385002" y="3257270"/>
            <a:ext cx="2140516" cy="369332"/>
          </a:xfrm>
          <a:prstGeom prst="rect">
            <a:avLst/>
          </a:prstGeom>
          <a:noFill/>
        </p:spPr>
        <p:txBody>
          <a:bodyPr wrap="square">
            <a:spAutoFit/>
          </a:bodyPr>
          <a:lstStyle/>
          <a:p>
            <a:r>
              <a:rPr lang="en-US" sz="1800" dirty="0"/>
              <a:t>current = </a:t>
            </a:r>
            <a:r>
              <a:rPr lang="en-US" sz="1800" dirty="0" err="1"/>
              <a:t>next_node</a:t>
            </a:r>
            <a:endParaRPr lang="en-US" dirty="0"/>
          </a:p>
        </p:txBody>
      </p:sp>
      <p:grpSp>
        <p:nvGrpSpPr>
          <p:cNvPr id="3" name="Group 2">
            <a:extLst>
              <a:ext uri="{FF2B5EF4-FFF2-40B4-BE49-F238E27FC236}">
                <a16:creationId xmlns:a16="http://schemas.microsoft.com/office/drawing/2014/main" id="{2EC97125-9A4D-7E1F-9CFF-7794DF3E2492}"/>
              </a:ext>
            </a:extLst>
          </p:cNvPr>
          <p:cNvGrpSpPr/>
          <p:nvPr/>
        </p:nvGrpSpPr>
        <p:grpSpPr>
          <a:xfrm>
            <a:off x="8263732" y="5504780"/>
            <a:ext cx="3192509" cy="948446"/>
            <a:chOff x="279606" y="5645073"/>
            <a:chExt cx="3192509" cy="948446"/>
          </a:xfrm>
        </p:grpSpPr>
        <p:grpSp>
          <p:nvGrpSpPr>
            <p:cNvPr id="4" name="Group 3">
              <a:extLst>
                <a:ext uri="{FF2B5EF4-FFF2-40B4-BE49-F238E27FC236}">
                  <a16:creationId xmlns:a16="http://schemas.microsoft.com/office/drawing/2014/main" id="{844F41E8-D902-5BAA-C8C8-11967966E446}"/>
                </a:ext>
              </a:extLst>
            </p:cNvPr>
            <p:cNvGrpSpPr/>
            <p:nvPr/>
          </p:nvGrpSpPr>
          <p:grpSpPr>
            <a:xfrm>
              <a:off x="378739" y="5645073"/>
              <a:ext cx="3093376" cy="369332"/>
              <a:chOff x="4680011" y="1838933"/>
              <a:chExt cx="3093376" cy="369332"/>
            </a:xfrm>
          </p:grpSpPr>
          <p:sp>
            <p:nvSpPr>
              <p:cNvPr id="47" name="TextBox 46">
                <a:extLst>
                  <a:ext uri="{FF2B5EF4-FFF2-40B4-BE49-F238E27FC236}">
                    <a16:creationId xmlns:a16="http://schemas.microsoft.com/office/drawing/2014/main" id="{3CC5B6FB-6C51-71C7-B6A5-034FC66D513B}"/>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48" name="Straight Arrow Connector 47">
                <a:extLst>
                  <a:ext uri="{FF2B5EF4-FFF2-40B4-BE49-F238E27FC236}">
                    <a16:creationId xmlns:a16="http://schemas.microsoft.com/office/drawing/2014/main" id="{D15E686B-2877-DB57-78EA-819DF4C59FD6}"/>
                  </a:ext>
                </a:extLst>
              </p:cNvPr>
              <p:cNvCxnSpPr>
                <a:cxnSpLocks/>
                <a:endCxn id="47"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1EEFC4A8-E976-7A82-6E3D-F5E51BC5C22E}"/>
                </a:ext>
              </a:extLst>
            </p:cNvPr>
            <p:cNvGrpSpPr/>
            <p:nvPr/>
          </p:nvGrpSpPr>
          <p:grpSpPr>
            <a:xfrm>
              <a:off x="378739" y="5934630"/>
              <a:ext cx="2699807" cy="369332"/>
              <a:chOff x="4680011" y="2100359"/>
              <a:chExt cx="2699807" cy="369332"/>
            </a:xfrm>
          </p:grpSpPr>
          <p:sp>
            <p:nvSpPr>
              <p:cNvPr id="35" name="TextBox 34">
                <a:extLst>
                  <a:ext uri="{FF2B5EF4-FFF2-40B4-BE49-F238E27FC236}">
                    <a16:creationId xmlns:a16="http://schemas.microsoft.com/office/drawing/2014/main" id="{64446280-A83C-7677-3E36-1B2FD85B8A43}"/>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44" name="Straight Arrow Connector 43">
                <a:extLst>
                  <a:ext uri="{FF2B5EF4-FFF2-40B4-BE49-F238E27FC236}">
                    <a16:creationId xmlns:a16="http://schemas.microsoft.com/office/drawing/2014/main" id="{1807FC71-0C4D-C1B3-25A3-117DEEE37685}"/>
                  </a:ext>
                </a:extLst>
              </p:cNvPr>
              <p:cNvCxnSpPr>
                <a:cxnSpLocks/>
                <a:endCxn id="35"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D43B013E-4CE4-4525-7A9B-816E7CDAD29C}"/>
                </a:ext>
              </a:extLst>
            </p:cNvPr>
            <p:cNvGrpSpPr/>
            <p:nvPr/>
          </p:nvGrpSpPr>
          <p:grpSpPr>
            <a:xfrm>
              <a:off x="378739" y="6224187"/>
              <a:ext cx="2337271" cy="369332"/>
              <a:chOff x="4758431" y="3161942"/>
              <a:chExt cx="2337271" cy="369332"/>
            </a:xfrm>
          </p:grpSpPr>
          <p:sp>
            <p:nvSpPr>
              <p:cNvPr id="19" name="TextBox 18">
                <a:extLst>
                  <a:ext uri="{FF2B5EF4-FFF2-40B4-BE49-F238E27FC236}">
                    <a16:creationId xmlns:a16="http://schemas.microsoft.com/office/drawing/2014/main" id="{62CF28C2-F7E3-99F6-52EC-D1399B9C4AA7}"/>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34" name="Straight Arrow Connector 33">
                <a:extLst>
                  <a:ext uri="{FF2B5EF4-FFF2-40B4-BE49-F238E27FC236}">
                    <a16:creationId xmlns:a16="http://schemas.microsoft.com/office/drawing/2014/main" id="{D7A40CA0-7A39-2C1F-D248-2EC254CB5E83}"/>
                  </a:ext>
                </a:extLst>
              </p:cNvPr>
              <p:cNvCxnSpPr>
                <a:cxnSpLocks/>
                <a:endCxn id="19"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22B5D240-48BD-5115-225A-A597AC9A648A}"/>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 name="Straight Arrow Connector 58">
            <a:extLst>
              <a:ext uri="{FF2B5EF4-FFF2-40B4-BE49-F238E27FC236}">
                <a16:creationId xmlns:a16="http://schemas.microsoft.com/office/drawing/2014/main" id="{92901F54-8706-E07F-9521-A58AE3607819}"/>
              </a:ext>
            </a:extLst>
          </p:cNvPr>
          <p:cNvCxnSpPr>
            <a:stCxn id="56" idx="2"/>
          </p:cNvCxnSpPr>
          <p:nvPr/>
        </p:nvCxnSpPr>
        <p:spPr>
          <a:xfrm>
            <a:off x="6803972" y="1650957"/>
            <a:ext cx="1201510" cy="5511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267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is shows the node with 10. It is still at the head of the evensList, however it is no longer at the end. Instead its next pointer is referencing the node with 14 which has just been added to the list. ">
            <a:extLst>
              <a:ext uri="{FF2B5EF4-FFF2-40B4-BE49-F238E27FC236}">
                <a16:creationId xmlns:a16="http://schemas.microsoft.com/office/drawing/2014/main" id="{5DD54024-0FA6-4B0A-80C0-89C1918A30D1}"/>
              </a:ext>
            </a:extLst>
          </p:cNvPr>
          <p:cNvGrpSpPr/>
          <p:nvPr/>
        </p:nvGrpSpPr>
        <p:grpSpPr>
          <a:xfrm>
            <a:off x="4631166" y="1758622"/>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e node with 13 is not affected by this operation. It is still the only node in the oddsList. ">
            <a:extLst>
              <a:ext uri="{FF2B5EF4-FFF2-40B4-BE49-F238E27FC236}">
                <a16:creationId xmlns:a16="http://schemas.microsoft.com/office/drawing/2014/main" id="{4666D4FE-5B5C-4459-A6CC-4806EAED419B}"/>
              </a:ext>
            </a:extLst>
          </p:cNvPr>
          <p:cNvGrpSpPr/>
          <p:nvPr/>
        </p:nvGrpSpPr>
        <p:grpSpPr>
          <a:xfrm>
            <a:off x="5984582" y="1767397"/>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is is the node with 14. The current cursor has been moved from  node 13 to this node. The next_node cursor has been moved from this node to the node with the value 18. Node 14 is  now at the end of the evensList so the tail pointer has been moved from node 10 to this node. The next pointer of the node with 10 is now pointing to this node. ">
            <a:extLst>
              <a:ext uri="{FF2B5EF4-FFF2-40B4-BE49-F238E27FC236}">
                <a16:creationId xmlns:a16="http://schemas.microsoft.com/office/drawing/2014/main" id="{78FAFC49-D14E-4702-91EB-44670C059031}"/>
              </a:ext>
            </a:extLst>
          </p:cNvPr>
          <p:cNvGrpSpPr/>
          <p:nvPr/>
        </p:nvGrpSpPr>
        <p:grpSpPr>
          <a:xfrm>
            <a:off x="7396661" y="1767397"/>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7458217" y="1964227"/>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8463414" y="2309231"/>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visualizes the state of the evensList after the node with 14 has been added to it. The affected references by this operation are pointed to by a gray, dashed arrow. The head and tail references are now pointing to the node identified by the cursor, current. These connections are depicted as red arrows. The count field is now 1.  In this case, the tail reference in the evensList is now pointing to the node with 14. The head is still referencing the with 10 and the count is now 2. ">
            <a:extLst>
              <a:ext uri="{FF2B5EF4-FFF2-40B4-BE49-F238E27FC236}">
                <a16:creationId xmlns:a16="http://schemas.microsoft.com/office/drawing/2014/main" id="{5B7DF3C0-759F-4156-9C70-2495727DD711}"/>
              </a:ext>
            </a:extLst>
          </p:cNvPr>
          <p:cNvSpPr txBox="1"/>
          <p:nvPr/>
        </p:nvSpPr>
        <p:spPr>
          <a:xfrm>
            <a:off x="2639732" y="2802900"/>
            <a:ext cx="1113575"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a:t>
            </a:r>
            <a:r>
              <a:rPr lang="en-US" dirty="0">
                <a:solidFill>
                  <a:schemeClr val="bg2">
                    <a:lumMod val="50000"/>
                  </a:schemeClr>
                </a:solidFill>
              </a:rPr>
              <a:t>1</a:t>
            </a:r>
            <a:r>
              <a:rPr lang="en-US" dirty="0"/>
              <a:t> </a:t>
            </a:r>
            <a:r>
              <a:rPr lang="en-US" dirty="0">
                <a:solidFill>
                  <a:srgbClr val="FF0000"/>
                </a:solidFill>
              </a:rPr>
              <a:t>2</a:t>
            </a:r>
            <a:r>
              <a:rPr lang="en-US" dirty="0"/>
              <a:t>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044783" y="2904758"/>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087504" y="3089424"/>
            <a:ext cx="552228" cy="17514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shows the oddsList with head and tail referencing the node with 13 and the count set to 1. ">
            <a:extLst>
              <a:ext uri="{FF2B5EF4-FFF2-40B4-BE49-F238E27FC236}">
                <a16:creationId xmlns:a16="http://schemas.microsoft.com/office/drawing/2014/main" id="{B026C760-1433-4994-951F-A89EE9F55E5F}"/>
              </a:ext>
            </a:extLst>
          </p:cNvPr>
          <p:cNvSpPr txBox="1"/>
          <p:nvPr/>
        </p:nvSpPr>
        <p:spPr>
          <a:xfrm>
            <a:off x="2614404" y="4238949"/>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044783" y="4331282"/>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1999532" y="4515948"/>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7549987" y="782714"/>
            <a:ext cx="873637" cy="369332"/>
          </a:xfrm>
          <a:prstGeom prst="rect">
            <a:avLst/>
          </a:prstGeom>
          <a:noFill/>
        </p:spPr>
        <p:txBody>
          <a:bodyPr wrap="none" rtlCol="0">
            <a:spAutoFit/>
          </a:bodyPr>
          <a:lstStyle/>
          <a:p>
            <a:r>
              <a:rPr lang="en-US" dirty="0"/>
              <a:t>current</a:t>
            </a:r>
          </a:p>
        </p:txBody>
      </p:sp>
      <p:sp>
        <p:nvSpPr>
          <p:cNvPr id="61" name="Rectangle 60">
            <a:extLst>
              <a:ext uri="{FF2B5EF4-FFF2-40B4-BE49-F238E27FC236}">
                <a16:creationId xmlns:a16="http://schemas.microsoft.com/office/drawing/2014/main" id="{39F930EE-F7DF-4445-93A2-B64172472586}"/>
              </a:ext>
            </a:extLst>
          </p:cNvPr>
          <p:cNvSpPr/>
          <p:nvPr/>
        </p:nvSpPr>
        <p:spPr>
          <a:xfrm>
            <a:off x="2982342" y="289021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2B4E316-46E9-40F5-A68E-C79A22B98903}"/>
              </a:ext>
            </a:extLst>
          </p:cNvPr>
          <p:cNvSpPr/>
          <p:nvPr/>
        </p:nvSpPr>
        <p:spPr>
          <a:xfrm>
            <a:off x="2935074" y="3181757"/>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2935074" y="4338960"/>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2935074" y="461595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203480" y="439504"/>
            <a:ext cx="4319067" cy="461665"/>
          </a:xfrm>
          <a:prstGeom prst="rect">
            <a:avLst/>
          </a:prstGeom>
          <a:noFill/>
        </p:spPr>
        <p:txBody>
          <a:bodyPr wrap="none" rtlCol="0">
            <a:spAutoFit/>
          </a:bodyPr>
          <a:lstStyle/>
          <a:p>
            <a:r>
              <a:rPr lang="en-US" sz="2400" dirty="0"/>
              <a:t>Adding node with 14 to </a:t>
            </a:r>
            <a:r>
              <a:rPr lang="en-US" sz="2400" dirty="0" err="1"/>
              <a:t>evensList</a:t>
            </a:r>
            <a:endParaRPr lang="en-US" sz="2400" dirty="0"/>
          </a:p>
        </p:txBody>
      </p:sp>
      <p:sp>
        <p:nvSpPr>
          <p:cNvPr id="51" name="Rectangle 50">
            <a:extLst>
              <a:ext uri="{FF2B5EF4-FFF2-40B4-BE49-F238E27FC236}">
                <a16:creationId xmlns:a16="http://schemas.microsoft.com/office/drawing/2014/main" id="{72B536CB-E470-4958-A9F2-86ED980F3E2F}"/>
              </a:ext>
            </a:extLst>
          </p:cNvPr>
          <p:cNvSpPr/>
          <p:nvPr/>
        </p:nvSpPr>
        <p:spPr>
          <a:xfrm>
            <a:off x="5685125" y="2943264"/>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is the node with the value 18. It is no longer being referenced by the next pointer of the node with 14 since that has now been added to the evensList. It is still referenced by the next_node cursor and it's next pointer is still referencing the None object. ">
            <a:extLst>
              <a:ext uri="{FF2B5EF4-FFF2-40B4-BE49-F238E27FC236}">
                <a16:creationId xmlns:a16="http://schemas.microsoft.com/office/drawing/2014/main" id="{9E0AED43-7C17-4C80-A567-137193B013AA}"/>
              </a:ext>
            </a:extLst>
          </p:cNvPr>
          <p:cNvGrpSpPr/>
          <p:nvPr/>
        </p:nvGrpSpPr>
        <p:grpSpPr>
          <a:xfrm>
            <a:off x="8758367" y="1769779"/>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8819923" y="1966609"/>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15AF271-37F2-40CB-89AC-9528F1965A28}"/>
              </a:ext>
            </a:extLst>
          </p:cNvPr>
          <p:cNvSpPr txBox="1"/>
          <p:nvPr/>
        </p:nvSpPr>
        <p:spPr>
          <a:xfrm>
            <a:off x="6779309" y="3515649"/>
            <a:ext cx="5233397" cy="3060838"/>
          </a:xfrm>
          <a:prstGeom prst="rect">
            <a:avLst/>
          </a:prstGeom>
          <a:noFill/>
        </p:spPr>
        <p:txBody>
          <a:bodyPr wrap="square">
            <a:spAutoFit/>
          </a:bodyPr>
          <a:lstStyle/>
          <a:p>
            <a:r>
              <a:rPr lang="en-US" sz="2000" dirty="0" err="1"/>
              <a:t>next_node</a:t>
            </a:r>
            <a:r>
              <a:rPr lang="en-US" sz="2000" dirty="0"/>
              <a:t> = </a:t>
            </a:r>
            <a:r>
              <a:rPr lang="en-US" sz="2000" dirty="0" err="1"/>
              <a:t>current.next</a:t>
            </a:r>
            <a:endParaRPr lang="en-US" sz="2000" dirty="0"/>
          </a:p>
          <a:p>
            <a:r>
              <a:rPr lang="en-US" sz="2000" dirty="0" err="1"/>
              <a:t>current.next</a:t>
            </a:r>
            <a:r>
              <a:rPr lang="en-US" sz="2000" dirty="0"/>
              <a:t> = none</a:t>
            </a:r>
          </a:p>
          <a:p>
            <a:pPr>
              <a:lnSpc>
                <a:spcPct val="110000"/>
              </a:lnSpc>
            </a:pPr>
            <a:r>
              <a:rPr lang="en-US" sz="2000" dirty="0"/>
              <a:t> if </a:t>
            </a:r>
            <a:r>
              <a:rPr lang="en-US" sz="2000" dirty="0" err="1"/>
              <a:t>current.data</a:t>
            </a:r>
            <a:r>
              <a:rPr lang="en-US" sz="2000" dirty="0"/>
              <a:t> is even:</a:t>
            </a:r>
          </a:p>
          <a:p>
            <a:pPr>
              <a:lnSpc>
                <a:spcPct val="110000"/>
              </a:lnSpc>
            </a:pPr>
            <a:r>
              <a:rPr lang="en-US" sz="2000" dirty="0"/>
              <a:t>          if </a:t>
            </a:r>
            <a:r>
              <a:rPr lang="en-US" sz="2000" dirty="0" err="1"/>
              <a:t>even_list.tail</a:t>
            </a:r>
            <a:r>
              <a:rPr lang="en-US" sz="2000" dirty="0"/>
              <a:t> is None:</a:t>
            </a:r>
          </a:p>
          <a:p>
            <a:pPr>
              <a:lnSpc>
                <a:spcPct val="110000"/>
              </a:lnSpc>
            </a:pPr>
            <a:r>
              <a:rPr lang="en-US" sz="2000" dirty="0"/>
              <a:t>               </a:t>
            </a:r>
            <a:r>
              <a:rPr lang="en-US" sz="2000" dirty="0" err="1"/>
              <a:t>even_list.head</a:t>
            </a:r>
            <a:r>
              <a:rPr lang="en-US" sz="2000" dirty="0"/>
              <a:t> = </a:t>
            </a:r>
            <a:r>
              <a:rPr lang="en-US" sz="2000" dirty="0" err="1"/>
              <a:t>even_list.tail</a:t>
            </a:r>
            <a:r>
              <a:rPr lang="en-US" sz="2000" dirty="0"/>
              <a:t> = current</a:t>
            </a:r>
          </a:p>
          <a:p>
            <a:pPr>
              <a:lnSpc>
                <a:spcPct val="110000"/>
              </a:lnSpc>
            </a:pPr>
            <a:r>
              <a:rPr lang="en-US" sz="2000" dirty="0"/>
              <a:t>          else:</a:t>
            </a:r>
          </a:p>
          <a:p>
            <a:pPr>
              <a:lnSpc>
                <a:spcPct val="110000"/>
              </a:lnSpc>
            </a:pPr>
            <a:r>
              <a:rPr lang="en-US" sz="2000" dirty="0"/>
              <a:t>               </a:t>
            </a:r>
            <a:r>
              <a:rPr lang="en-US" sz="2000" dirty="0" err="1"/>
              <a:t>even_list.tail.next</a:t>
            </a:r>
            <a:r>
              <a:rPr lang="en-US" sz="2000" dirty="0"/>
              <a:t> = current</a:t>
            </a:r>
          </a:p>
          <a:p>
            <a:pPr>
              <a:lnSpc>
                <a:spcPct val="110000"/>
              </a:lnSpc>
            </a:pPr>
            <a:r>
              <a:rPr lang="en-US" sz="2000" dirty="0"/>
              <a:t>               </a:t>
            </a:r>
            <a:r>
              <a:rPr lang="en-US" sz="2000" dirty="0" err="1"/>
              <a:t>even_list.tail</a:t>
            </a:r>
            <a:r>
              <a:rPr lang="en-US" sz="2000" dirty="0"/>
              <a:t> = current</a:t>
            </a:r>
          </a:p>
          <a:p>
            <a:pPr>
              <a:lnSpc>
                <a:spcPct val="110000"/>
              </a:lnSpc>
            </a:pPr>
            <a:r>
              <a:rPr lang="en-US" sz="2000" dirty="0"/>
              <a:t>          </a:t>
            </a:r>
            <a:r>
              <a:rPr lang="en-US" sz="2000" dirty="0" err="1"/>
              <a:t>even_list.count</a:t>
            </a:r>
            <a:r>
              <a:rPr lang="en-US" sz="2000" dirty="0"/>
              <a:t> += 1</a:t>
            </a:r>
          </a:p>
        </p:txBody>
      </p:sp>
      <p:sp>
        <p:nvSpPr>
          <p:cNvPr id="70" name="Rectangle 69">
            <a:extLst>
              <a:ext uri="{FF2B5EF4-FFF2-40B4-BE49-F238E27FC236}">
                <a16:creationId xmlns:a16="http://schemas.microsoft.com/office/drawing/2014/main" id="{BA36430C-9C1E-4615-8C77-84A07A781864}"/>
              </a:ext>
            </a:extLst>
          </p:cNvPr>
          <p:cNvSpPr/>
          <p:nvPr/>
        </p:nvSpPr>
        <p:spPr>
          <a:xfrm>
            <a:off x="4637405" y="1866878"/>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Connector: Elbow 40">
            <a:extLst>
              <a:ext uri="{FF2B5EF4-FFF2-40B4-BE49-F238E27FC236}">
                <a16:creationId xmlns:a16="http://schemas.microsoft.com/office/drawing/2014/main" id="{BA6ABD6C-A715-49BE-800B-B8DA0A25C901}"/>
              </a:ext>
            </a:extLst>
          </p:cNvPr>
          <p:cNvCxnSpPr>
            <a:cxnSpLocks/>
            <a:endCxn id="70" idx="1"/>
          </p:cNvCxnSpPr>
          <p:nvPr/>
        </p:nvCxnSpPr>
        <p:spPr>
          <a:xfrm flipV="1">
            <a:off x="3163648" y="1959211"/>
            <a:ext cx="1473757" cy="104391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07D8874-CFE4-4B59-88C9-C4C82269445B}"/>
              </a:ext>
            </a:extLst>
          </p:cNvPr>
          <p:cNvSpPr/>
          <p:nvPr/>
        </p:nvSpPr>
        <p:spPr>
          <a:xfrm>
            <a:off x="7600374" y="19325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Connector: Elbow 43">
            <a:extLst>
              <a:ext uri="{FF2B5EF4-FFF2-40B4-BE49-F238E27FC236}">
                <a16:creationId xmlns:a16="http://schemas.microsoft.com/office/drawing/2014/main" id="{267D55AC-F39D-4614-844D-A38B7317CBD7}"/>
              </a:ext>
            </a:extLst>
          </p:cNvPr>
          <p:cNvCxnSpPr>
            <a:cxnSpLocks/>
            <a:stCxn id="62" idx="3"/>
            <a:endCxn id="71" idx="2"/>
          </p:cNvCxnSpPr>
          <p:nvPr/>
        </p:nvCxnSpPr>
        <p:spPr>
          <a:xfrm flipV="1">
            <a:off x="3119287" y="2117201"/>
            <a:ext cx="4573194" cy="115688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BF126B92-7F48-4A0A-97B0-59EB751C7D81}"/>
              </a:ext>
            </a:extLst>
          </p:cNvPr>
          <p:cNvSpPr/>
          <p:nvPr/>
        </p:nvSpPr>
        <p:spPr>
          <a:xfrm>
            <a:off x="5982555" y="187070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onnector: Elbow 2">
            <a:extLst>
              <a:ext uri="{FF2B5EF4-FFF2-40B4-BE49-F238E27FC236}">
                <a16:creationId xmlns:a16="http://schemas.microsoft.com/office/drawing/2014/main" id="{5FF3A1C9-37B4-4BCC-B912-491AA0616140}"/>
              </a:ext>
            </a:extLst>
          </p:cNvPr>
          <p:cNvCxnSpPr>
            <a:cxnSpLocks/>
          </p:cNvCxnSpPr>
          <p:nvPr/>
        </p:nvCxnSpPr>
        <p:spPr>
          <a:xfrm flipV="1">
            <a:off x="3119287" y="1992459"/>
            <a:ext cx="2863268" cy="2468257"/>
          </a:xfrm>
          <a:prstGeom prst="bentConnector3">
            <a:avLst>
              <a:gd name="adj1" fmla="val 87923"/>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F4E71769-93FF-4CE9-98BD-39147F46FDD8}"/>
              </a:ext>
            </a:extLst>
          </p:cNvPr>
          <p:cNvSpPr/>
          <p:nvPr/>
        </p:nvSpPr>
        <p:spPr>
          <a:xfrm>
            <a:off x="6334808" y="194717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Elbow 20">
            <a:extLst>
              <a:ext uri="{FF2B5EF4-FFF2-40B4-BE49-F238E27FC236}">
                <a16:creationId xmlns:a16="http://schemas.microsoft.com/office/drawing/2014/main" id="{09AC322F-725C-4902-AF33-2545D591B585}"/>
              </a:ext>
            </a:extLst>
          </p:cNvPr>
          <p:cNvCxnSpPr>
            <a:cxnSpLocks/>
            <a:stCxn id="76" idx="3"/>
            <a:endCxn id="11" idx="2"/>
          </p:cNvCxnSpPr>
          <p:nvPr/>
        </p:nvCxnSpPr>
        <p:spPr>
          <a:xfrm flipV="1">
            <a:off x="3119287" y="2136729"/>
            <a:ext cx="3074647" cy="25715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1957CE2A-99D8-44D8-9734-0689BA366346}"/>
              </a:ext>
            </a:extLst>
          </p:cNvPr>
          <p:cNvSpPr/>
          <p:nvPr/>
        </p:nvSpPr>
        <p:spPr>
          <a:xfrm>
            <a:off x="7535345" y="177717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6132F4B4-458B-425D-A8CC-6C0C377343BF}"/>
              </a:ext>
            </a:extLst>
          </p:cNvPr>
          <p:cNvCxnSpPr>
            <a:cxnSpLocks/>
            <a:stCxn id="72" idx="0"/>
            <a:endCxn id="68" idx="0"/>
          </p:cNvCxnSpPr>
          <p:nvPr/>
        </p:nvCxnSpPr>
        <p:spPr>
          <a:xfrm rot="5400000" flipH="1" flipV="1">
            <a:off x="6443185" y="655936"/>
            <a:ext cx="63023" cy="2305511"/>
          </a:xfrm>
          <a:prstGeom prst="bentConnector3">
            <a:avLst>
              <a:gd name="adj1" fmla="val 462725"/>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F73DB915-5814-4877-A63A-A51414A90AAE}"/>
              </a:ext>
            </a:extLst>
          </p:cNvPr>
          <p:cNvSpPr/>
          <p:nvPr/>
        </p:nvSpPr>
        <p:spPr>
          <a:xfrm>
            <a:off x="5229834" y="184020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A4A62B34-C031-4C31-8714-ED441D770162}"/>
              </a:ext>
            </a:extLst>
          </p:cNvPr>
          <p:cNvSpPr/>
          <p:nvPr/>
        </p:nvSpPr>
        <p:spPr>
          <a:xfrm>
            <a:off x="4809103" y="192156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descr="This figure shows the empty original list">
            <a:extLst>
              <a:ext uri="{FF2B5EF4-FFF2-40B4-BE49-F238E27FC236}">
                <a16:creationId xmlns:a16="http://schemas.microsoft.com/office/drawing/2014/main" id="{84FEFEA1-25F9-43A4-4864-381652B23749}"/>
              </a:ext>
            </a:extLst>
          </p:cNvPr>
          <p:cNvGrpSpPr/>
          <p:nvPr/>
        </p:nvGrpSpPr>
        <p:grpSpPr>
          <a:xfrm>
            <a:off x="633052" y="1442085"/>
            <a:ext cx="2919116" cy="923330"/>
            <a:chOff x="1894663" y="1710943"/>
            <a:chExt cx="2919116" cy="923330"/>
          </a:xfrm>
        </p:grpSpPr>
        <p:sp>
          <p:nvSpPr>
            <p:cNvPr id="80" name="TextBox 79">
              <a:extLst>
                <a:ext uri="{FF2B5EF4-FFF2-40B4-BE49-F238E27FC236}">
                  <a16:creationId xmlns:a16="http://schemas.microsoft.com/office/drawing/2014/main" id="{1124DF2D-6778-C13B-B760-7A0C6FE4646D}"/>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85" name="TextBox 84">
              <a:extLst>
                <a:ext uri="{FF2B5EF4-FFF2-40B4-BE49-F238E27FC236}">
                  <a16:creationId xmlns:a16="http://schemas.microsoft.com/office/drawing/2014/main" id="{6A7707BC-824A-9EB2-B8C6-9A0AB476C445}"/>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86" name="Rectangle 85">
              <a:extLst>
                <a:ext uri="{FF2B5EF4-FFF2-40B4-BE49-F238E27FC236}">
                  <a16:creationId xmlns:a16="http://schemas.microsoft.com/office/drawing/2014/main" id="{72AC9A6C-B307-ACFE-D918-1FA8DC28809D}"/>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406DBC67-B1CC-2F37-5D19-E47F56C5713B}"/>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059329CE-AF82-B55A-C705-96A3276BE6BF}"/>
                </a:ext>
              </a:extLst>
            </p:cNvPr>
            <p:cNvCxnSpPr>
              <a:stCxn id="80" idx="3"/>
              <a:endCxn id="85"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4EA08E4A-4ECD-7582-E4C8-B228967F8277}"/>
                </a:ext>
              </a:extLst>
            </p:cNvPr>
            <p:cNvGrpSpPr/>
            <p:nvPr/>
          </p:nvGrpSpPr>
          <p:grpSpPr>
            <a:xfrm>
              <a:off x="4228361" y="1752675"/>
              <a:ext cx="585418" cy="632116"/>
              <a:chOff x="4658147" y="4558296"/>
              <a:chExt cx="585418" cy="632116"/>
            </a:xfrm>
          </p:grpSpPr>
          <p:sp>
            <p:nvSpPr>
              <p:cNvPr id="95" name="TextBox 94">
                <a:extLst>
                  <a:ext uri="{FF2B5EF4-FFF2-40B4-BE49-F238E27FC236}">
                    <a16:creationId xmlns:a16="http://schemas.microsoft.com/office/drawing/2014/main" id="{05A438E4-C1C7-551E-B489-D24AC2A57148}"/>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96" name="TextBox 95">
                <a:extLst>
                  <a:ext uri="{FF2B5EF4-FFF2-40B4-BE49-F238E27FC236}">
                    <a16:creationId xmlns:a16="http://schemas.microsoft.com/office/drawing/2014/main" id="{130080A7-B2BB-E25C-0C08-FD712EB2159E}"/>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91" name="Straight Arrow Connector 90">
              <a:extLst>
                <a:ext uri="{FF2B5EF4-FFF2-40B4-BE49-F238E27FC236}">
                  <a16:creationId xmlns:a16="http://schemas.microsoft.com/office/drawing/2014/main" id="{9F971299-6176-9875-E7B8-9E88ABCF33E1}"/>
                </a:ext>
              </a:extLst>
            </p:cNvPr>
            <p:cNvCxnSpPr>
              <a:cxnSpLocks/>
            </p:cNvCxnSpPr>
            <p:nvPr/>
          </p:nvCxnSpPr>
          <p:spPr>
            <a:xfrm>
              <a:off x="3534126" y="1908065"/>
              <a:ext cx="7058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3653867-95DE-D138-C934-513711B1EFD1}"/>
                </a:ext>
              </a:extLst>
            </p:cNvPr>
            <p:cNvCxnSpPr>
              <a:cxnSpLocks/>
              <a:stCxn id="94"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BB7160A7-AD3D-16AE-FD9F-8DC783AE3C9D}"/>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7FB83E6-CA6D-A992-C6E8-6B2A27DC4792}"/>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TextBox 97">
            <a:extLst>
              <a:ext uri="{FF2B5EF4-FFF2-40B4-BE49-F238E27FC236}">
                <a16:creationId xmlns:a16="http://schemas.microsoft.com/office/drawing/2014/main" id="{D5627E47-416A-ED2B-331E-DCEDF1F1E624}"/>
              </a:ext>
            </a:extLst>
          </p:cNvPr>
          <p:cNvSpPr txBox="1"/>
          <p:nvPr/>
        </p:nvSpPr>
        <p:spPr>
          <a:xfrm>
            <a:off x="8858502" y="855216"/>
            <a:ext cx="1191801" cy="369332"/>
          </a:xfrm>
          <a:prstGeom prst="rect">
            <a:avLst/>
          </a:prstGeom>
          <a:noFill/>
        </p:spPr>
        <p:txBody>
          <a:bodyPr wrap="none" rtlCol="0">
            <a:spAutoFit/>
          </a:bodyPr>
          <a:lstStyle/>
          <a:p>
            <a:r>
              <a:rPr lang="en-US" dirty="0" err="1"/>
              <a:t>next_node</a:t>
            </a:r>
            <a:endParaRPr lang="en-US" dirty="0"/>
          </a:p>
        </p:txBody>
      </p:sp>
      <p:cxnSp>
        <p:nvCxnSpPr>
          <p:cNvPr id="99" name="Straight Arrow Connector 98">
            <a:extLst>
              <a:ext uri="{FF2B5EF4-FFF2-40B4-BE49-F238E27FC236}">
                <a16:creationId xmlns:a16="http://schemas.microsoft.com/office/drawing/2014/main" id="{AB14E654-8678-B8D5-B077-B28BFA1926BF}"/>
              </a:ext>
            </a:extLst>
          </p:cNvPr>
          <p:cNvCxnSpPr>
            <a:cxnSpLocks/>
            <a:stCxn id="98" idx="2"/>
            <a:endCxn id="64" idx="0"/>
          </p:cNvCxnSpPr>
          <p:nvPr/>
        </p:nvCxnSpPr>
        <p:spPr>
          <a:xfrm flipH="1">
            <a:off x="9386423" y="1224548"/>
            <a:ext cx="67980" cy="5452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F131A9A9-C54A-C6C0-3DA9-5E3609F72747}"/>
              </a:ext>
            </a:extLst>
          </p:cNvPr>
          <p:cNvSpPr txBox="1"/>
          <p:nvPr/>
        </p:nvSpPr>
        <p:spPr>
          <a:xfrm>
            <a:off x="9097385" y="1789235"/>
            <a:ext cx="636356" cy="307777"/>
          </a:xfrm>
          <a:prstGeom prst="rect">
            <a:avLst/>
          </a:prstGeom>
          <a:noFill/>
        </p:spPr>
        <p:txBody>
          <a:bodyPr wrap="square">
            <a:spAutoFit/>
          </a:bodyPr>
          <a:lstStyle/>
          <a:p>
            <a:r>
              <a:rPr lang="en-US" sz="1400" b="1" dirty="0"/>
              <a:t>None</a:t>
            </a:r>
          </a:p>
        </p:txBody>
      </p:sp>
      <p:sp>
        <p:nvSpPr>
          <p:cNvPr id="102" name="TextBox 101">
            <a:extLst>
              <a:ext uri="{FF2B5EF4-FFF2-40B4-BE49-F238E27FC236}">
                <a16:creationId xmlns:a16="http://schemas.microsoft.com/office/drawing/2014/main" id="{1BDCCA0B-A679-14FC-96D5-A74B8D214FD2}"/>
              </a:ext>
            </a:extLst>
          </p:cNvPr>
          <p:cNvSpPr txBox="1"/>
          <p:nvPr/>
        </p:nvSpPr>
        <p:spPr>
          <a:xfrm>
            <a:off x="7753351" y="1798200"/>
            <a:ext cx="636356" cy="307777"/>
          </a:xfrm>
          <a:prstGeom prst="rect">
            <a:avLst/>
          </a:prstGeom>
          <a:noFill/>
        </p:spPr>
        <p:txBody>
          <a:bodyPr wrap="square">
            <a:spAutoFit/>
          </a:bodyPr>
          <a:lstStyle/>
          <a:p>
            <a:r>
              <a:rPr lang="en-US" sz="1400" b="1" dirty="0">
                <a:solidFill>
                  <a:srgbClr val="FF0000"/>
                </a:solidFill>
              </a:rPr>
              <a:t>None</a:t>
            </a:r>
          </a:p>
        </p:txBody>
      </p:sp>
      <p:sp>
        <p:nvSpPr>
          <p:cNvPr id="112" name="TextBox 111">
            <a:extLst>
              <a:ext uri="{FF2B5EF4-FFF2-40B4-BE49-F238E27FC236}">
                <a16:creationId xmlns:a16="http://schemas.microsoft.com/office/drawing/2014/main" id="{CA45DE33-7DAF-01C3-A239-EE023046C124}"/>
              </a:ext>
            </a:extLst>
          </p:cNvPr>
          <p:cNvSpPr txBox="1"/>
          <p:nvPr/>
        </p:nvSpPr>
        <p:spPr>
          <a:xfrm>
            <a:off x="6327316" y="1824814"/>
            <a:ext cx="636356" cy="307777"/>
          </a:xfrm>
          <a:prstGeom prst="rect">
            <a:avLst/>
          </a:prstGeom>
          <a:noFill/>
        </p:spPr>
        <p:txBody>
          <a:bodyPr wrap="square">
            <a:spAutoFit/>
          </a:bodyPr>
          <a:lstStyle/>
          <a:p>
            <a:r>
              <a:rPr lang="en-US" sz="1400" b="1" dirty="0"/>
              <a:t>None</a:t>
            </a:r>
          </a:p>
        </p:txBody>
      </p:sp>
      <p:cxnSp>
        <p:nvCxnSpPr>
          <p:cNvPr id="116" name="Connector: Elbow 115">
            <a:extLst>
              <a:ext uri="{FF2B5EF4-FFF2-40B4-BE49-F238E27FC236}">
                <a16:creationId xmlns:a16="http://schemas.microsoft.com/office/drawing/2014/main" id="{173ADF56-F091-D335-73BD-222EF12E3AF0}"/>
              </a:ext>
            </a:extLst>
          </p:cNvPr>
          <p:cNvCxnSpPr>
            <a:cxnSpLocks/>
            <a:stCxn id="49" idx="3"/>
            <a:endCxn id="8" idx="2"/>
          </p:cNvCxnSpPr>
          <p:nvPr/>
        </p:nvCxnSpPr>
        <p:spPr>
          <a:xfrm flipV="1">
            <a:off x="3753307" y="2127954"/>
            <a:ext cx="1505915" cy="1136611"/>
          </a:xfrm>
          <a:prstGeom prst="bentConnector2">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03961F9A-BE5D-42A9-9844-428B1335522B}"/>
              </a:ext>
            </a:extLst>
          </p:cNvPr>
          <p:cNvCxnSpPr>
            <a:cxnSpLocks/>
            <a:endCxn id="63" idx="1"/>
          </p:cNvCxnSpPr>
          <p:nvPr/>
        </p:nvCxnSpPr>
        <p:spPr>
          <a:xfrm>
            <a:off x="8234069" y="1954445"/>
            <a:ext cx="524298" cy="0"/>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8684F63B-33AA-4843-F079-DA3E8F80DF56}"/>
              </a:ext>
            </a:extLst>
          </p:cNvPr>
          <p:cNvCxnSpPr>
            <a:stCxn id="98" idx="2"/>
          </p:cNvCxnSpPr>
          <p:nvPr/>
        </p:nvCxnSpPr>
        <p:spPr>
          <a:xfrm flipH="1">
            <a:off x="8234069" y="1224548"/>
            <a:ext cx="1220334" cy="486804"/>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144" name="Group 143">
            <a:extLst>
              <a:ext uri="{FF2B5EF4-FFF2-40B4-BE49-F238E27FC236}">
                <a16:creationId xmlns:a16="http://schemas.microsoft.com/office/drawing/2014/main" id="{6A24F9C6-8CD4-E50A-D4D5-989883FD5FD9}"/>
              </a:ext>
              <a:ext uri="{C183D7F6-B498-43B3-948B-1728B52AA6E4}">
                <adec:decorative xmlns:adec="http://schemas.microsoft.com/office/drawing/2017/decorative" val="1"/>
              </a:ext>
            </a:extLst>
          </p:cNvPr>
          <p:cNvGrpSpPr/>
          <p:nvPr/>
        </p:nvGrpSpPr>
        <p:grpSpPr>
          <a:xfrm>
            <a:off x="483551" y="5628041"/>
            <a:ext cx="3192509" cy="948446"/>
            <a:chOff x="279606" y="5645073"/>
            <a:chExt cx="3192509" cy="948446"/>
          </a:xfrm>
        </p:grpSpPr>
        <p:grpSp>
          <p:nvGrpSpPr>
            <p:cNvPr id="145" name="Group 144">
              <a:extLst>
                <a:ext uri="{FF2B5EF4-FFF2-40B4-BE49-F238E27FC236}">
                  <a16:creationId xmlns:a16="http://schemas.microsoft.com/office/drawing/2014/main" id="{3B90DFF8-1875-3BC3-EAB3-E1C06502CF88}"/>
                </a:ext>
              </a:extLst>
            </p:cNvPr>
            <p:cNvGrpSpPr/>
            <p:nvPr/>
          </p:nvGrpSpPr>
          <p:grpSpPr>
            <a:xfrm>
              <a:off x="378739" y="5645073"/>
              <a:ext cx="3093376" cy="369332"/>
              <a:chOff x="4680011" y="1838933"/>
              <a:chExt cx="3093376" cy="369332"/>
            </a:xfrm>
          </p:grpSpPr>
          <p:sp>
            <p:nvSpPr>
              <p:cNvPr id="153" name="TextBox 152">
                <a:extLst>
                  <a:ext uri="{FF2B5EF4-FFF2-40B4-BE49-F238E27FC236}">
                    <a16:creationId xmlns:a16="http://schemas.microsoft.com/office/drawing/2014/main" id="{6BCA15BF-8396-8A02-493F-88484BC39EE2}"/>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154" name="Straight Arrow Connector 153">
                <a:extLst>
                  <a:ext uri="{FF2B5EF4-FFF2-40B4-BE49-F238E27FC236}">
                    <a16:creationId xmlns:a16="http://schemas.microsoft.com/office/drawing/2014/main" id="{9F3E1F75-8EC1-36CA-F29A-215F5143449C}"/>
                  </a:ext>
                </a:extLst>
              </p:cNvPr>
              <p:cNvCxnSpPr>
                <a:cxnSpLocks/>
                <a:endCxn id="153"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a16="http://schemas.microsoft.com/office/drawing/2014/main" id="{2977FDAF-3EF0-CAC9-6CB6-48FFFDE63DAE}"/>
                </a:ext>
              </a:extLst>
            </p:cNvPr>
            <p:cNvGrpSpPr/>
            <p:nvPr/>
          </p:nvGrpSpPr>
          <p:grpSpPr>
            <a:xfrm>
              <a:off x="378739" y="5934630"/>
              <a:ext cx="2699807" cy="369332"/>
              <a:chOff x="4680011" y="2100359"/>
              <a:chExt cx="2699807" cy="369332"/>
            </a:xfrm>
          </p:grpSpPr>
          <p:sp>
            <p:nvSpPr>
              <p:cNvPr id="151" name="TextBox 150">
                <a:extLst>
                  <a:ext uri="{FF2B5EF4-FFF2-40B4-BE49-F238E27FC236}">
                    <a16:creationId xmlns:a16="http://schemas.microsoft.com/office/drawing/2014/main" id="{F1D0F01A-FCFD-11A8-E7E2-0E554973B3F2}"/>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152" name="Straight Arrow Connector 151">
                <a:extLst>
                  <a:ext uri="{FF2B5EF4-FFF2-40B4-BE49-F238E27FC236}">
                    <a16:creationId xmlns:a16="http://schemas.microsoft.com/office/drawing/2014/main" id="{ED5771A6-9340-1EB4-B0E6-A324046B9C4B}"/>
                  </a:ext>
                </a:extLst>
              </p:cNvPr>
              <p:cNvCxnSpPr>
                <a:cxnSpLocks/>
                <a:endCxn id="151"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2D871679-1B2E-2CDC-C3C6-70010BFA3E70}"/>
                </a:ext>
              </a:extLst>
            </p:cNvPr>
            <p:cNvGrpSpPr/>
            <p:nvPr/>
          </p:nvGrpSpPr>
          <p:grpSpPr>
            <a:xfrm>
              <a:off x="378739" y="6224187"/>
              <a:ext cx="2337271" cy="369332"/>
              <a:chOff x="4758431" y="3161942"/>
              <a:chExt cx="2337271" cy="369332"/>
            </a:xfrm>
          </p:grpSpPr>
          <p:sp>
            <p:nvSpPr>
              <p:cNvPr id="149" name="TextBox 148">
                <a:extLst>
                  <a:ext uri="{FF2B5EF4-FFF2-40B4-BE49-F238E27FC236}">
                    <a16:creationId xmlns:a16="http://schemas.microsoft.com/office/drawing/2014/main" id="{68401912-B885-8563-BBC5-8CA5ED114843}"/>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150" name="Straight Arrow Connector 149">
                <a:extLst>
                  <a:ext uri="{FF2B5EF4-FFF2-40B4-BE49-F238E27FC236}">
                    <a16:creationId xmlns:a16="http://schemas.microsoft.com/office/drawing/2014/main" id="{219333B4-B961-DD40-83BC-601FAE99965A}"/>
                  </a:ext>
                </a:extLst>
              </p:cNvPr>
              <p:cNvCxnSpPr>
                <a:cxnSpLocks/>
                <a:endCxn id="149"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148" name="Rectangle 147">
              <a:extLst>
                <a:ext uri="{FF2B5EF4-FFF2-40B4-BE49-F238E27FC236}">
                  <a16:creationId xmlns:a16="http://schemas.microsoft.com/office/drawing/2014/main" id="{66CD9AB9-13E8-2039-5219-006DEBB470BE}"/>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Oval 1">
            <a:extLst>
              <a:ext uri="{FF2B5EF4-FFF2-40B4-BE49-F238E27FC236}">
                <a16:creationId xmlns:a16="http://schemas.microsoft.com/office/drawing/2014/main" id="{B30335F2-3323-BBDB-FCD5-ED6CA61E2E64}"/>
              </a:ext>
            </a:extLst>
          </p:cNvPr>
          <p:cNvSpPr/>
          <p:nvPr/>
        </p:nvSpPr>
        <p:spPr>
          <a:xfrm>
            <a:off x="8920508" y="1450681"/>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4" name="Oval 3">
            <a:extLst>
              <a:ext uri="{FF2B5EF4-FFF2-40B4-BE49-F238E27FC236}">
                <a16:creationId xmlns:a16="http://schemas.microsoft.com/office/drawing/2014/main" id="{7971E77A-7E52-E7D0-EB68-347D7D2A53E3}"/>
              </a:ext>
            </a:extLst>
          </p:cNvPr>
          <p:cNvSpPr/>
          <p:nvPr/>
        </p:nvSpPr>
        <p:spPr>
          <a:xfrm>
            <a:off x="7899990" y="2182475"/>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5" name="Oval 4">
            <a:extLst>
              <a:ext uri="{FF2B5EF4-FFF2-40B4-BE49-F238E27FC236}">
                <a16:creationId xmlns:a16="http://schemas.microsoft.com/office/drawing/2014/main" id="{EFA00A79-06BB-8087-B290-E2F67DE7C775}"/>
              </a:ext>
            </a:extLst>
          </p:cNvPr>
          <p:cNvSpPr/>
          <p:nvPr/>
        </p:nvSpPr>
        <p:spPr>
          <a:xfrm>
            <a:off x="4874725" y="227625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6" name="Oval 5">
            <a:extLst>
              <a:ext uri="{FF2B5EF4-FFF2-40B4-BE49-F238E27FC236}">
                <a16:creationId xmlns:a16="http://schemas.microsoft.com/office/drawing/2014/main" id="{A90B51A2-74BB-4834-895D-140967417C51}"/>
              </a:ext>
            </a:extLst>
          </p:cNvPr>
          <p:cNvSpPr/>
          <p:nvPr/>
        </p:nvSpPr>
        <p:spPr>
          <a:xfrm>
            <a:off x="6532083" y="3587730"/>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16" name="Oval 15">
            <a:extLst>
              <a:ext uri="{FF2B5EF4-FFF2-40B4-BE49-F238E27FC236}">
                <a16:creationId xmlns:a16="http://schemas.microsoft.com/office/drawing/2014/main" id="{7C221CA9-EA66-6F4E-8F45-F20E9F3915F0}"/>
              </a:ext>
            </a:extLst>
          </p:cNvPr>
          <p:cNvSpPr/>
          <p:nvPr/>
        </p:nvSpPr>
        <p:spPr>
          <a:xfrm>
            <a:off x="6532083" y="392813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7" name="Oval 16">
            <a:extLst>
              <a:ext uri="{FF2B5EF4-FFF2-40B4-BE49-F238E27FC236}">
                <a16:creationId xmlns:a16="http://schemas.microsoft.com/office/drawing/2014/main" id="{8061FFB7-AB85-3DEF-BDC4-750B952256A5}"/>
              </a:ext>
            </a:extLst>
          </p:cNvPr>
          <p:cNvSpPr/>
          <p:nvPr/>
        </p:nvSpPr>
        <p:spPr>
          <a:xfrm>
            <a:off x="7365942" y="5565191"/>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8" name="Oval 17">
            <a:extLst>
              <a:ext uri="{FF2B5EF4-FFF2-40B4-BE49-F238E27FC236}">
                <a16:creationId xmlns:a16="http://schemas.microsoft.com/office/drawing/2014/main" id="{4F341522-0B70-B2D8-A465-80F93DEF4D54}"/>
              </a:ext>
            </a:extLst>
          </p:cNvPr>
          <p:cNvSpPr/>
          <p:nvPr/>
        </p:nvSpPr>
        <p:spPr>
          <a:xfrm>
            <a:off x="7365942" y="5917598"/>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9" name="Oval 18">
            <a:extLst>
              <a:ext uri="{FF2B5EF4-FFF2-40B4-BE49-F238E27FC236}">
                <a16:creationId xmlns:a16="http://schemas.microsoft.com/office/drawing/2014/main" id="{F875444C-2AAF-5D3F-D7AB-E888A698A2FD}"/>
              </a:ext>
            </a:extLst>
          </p:cNvPr>
          <p:cNvSpPr/>
          <p:nvPr/>
        </p:nvSpPr>
        <p:spPr>
          <a:xfrm>
            <a:off x="7286773" y="2320974"/>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cxnSp>
        <p:nvCxnSpPr>
          <p:cNvPr id="23" name="Straight Arrow Connector 22">
            <a:extLst>
              <a:ext uri="{FF2B5EF4-FFF2-40B4-BE49-F238E27FC236}">
                <a16:creationId xmlns:a16="http://schemas.microsoft.com/office/drawing/2014/main" id="{1465B440-748C-DF4F-1B64-BCC4CF4D4FA5}"/>
              </a:ext>
            </a:extLst>
          </p:cNvPr>
          <p:cNvCxnSpPr>
            <a:stCxn id="56" idx="2"/>
          </p:cNvCxnSpPr>
          <p:nvPr/>
        </p:nvCxnSpPr>
        <p:spPr>
          <a:xfrm flipH="1">
            <a:off x="7815365" y="1152046"/>
            <a:ext cx="171441" cy="487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C34074B-2244-CCCF-A1E4-90B02EA4B442}"/>
              </a:ext>
            </a:extLst>
          </p:cNvPr>
          <p:cNvSpPr/>
          <p:nvPr/>
        </p:nvSpPr>
        <p:spPr>
          <a:xfrm>
            <a:off x="3373554" y="3759478"/>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5" name="Oval 24">
            <a:extLst>
              <a:ext uri="{FF2B5EF4-FFF2-40B4-BE49-F238E27FC236}">
                <a16:creationId xmlns:a16="http://schemas.microsoft.com/office/drawing/2014/main" id="{ACB0D914-2E43-90D3-C102-EDC4055BA75E}"/>
              </a:ext>
            </a:extLst>
          </p:cNvPr>
          <p:cNvSpPr/>
          <p:nvPr/>
        </p:nvSpPr>
        <p:spPr>
          <a:xfrm>
            <a:off x="7136851" y="623681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TextBox 25">
            <a:extLst>
              <a:ext uri="{FF2B5EF4-FFF2-40B4-BE49-F238E27FC236}">
                <a16:creationId xmlns:a16="http://schemas.microsoft.com/office/drawing/2014/main" id="{EA196DDD-A3AF-620D-3A4D-83980F682AFE}"/>
              </a:ext>
            </a:extLst>
          </p:cNvPr>
          <p:cNvSpPr txBox="1"/>
          <p:nvPr/>
        </p:nvSpPr>
        <p:spPr>
          <a:xfrm>
            <a:off x="4991484" y="1790080"/>
            <a:ext cx="636356" cy="307777"/>
          </a:xfrm>
          <a:prstGeom prst="rect">
            <a:avLst/>
          </a:prstGeom>
          <a:noFill/>
        </p:spPr>
        <p:txBody>
          <a:bodyPr wrap="square">
            <a:spAutoFit/>
          </a:bodyPr>
          <a:lstStyle/>
          <a:p>
            <a:r>
              <a:rPr lang="en-US" sz="1400" b="1" dirty="0">
                <a:solidFill>
                  <a:schemeClr val="bg1">
                    <a:lumMod val="75000"/>
                  </a:schemeClr>
                </a:solidFill>
              </a:rPr>
              <a:t>None</a:t>
            </a:r>
          </a:p>
        </p:txBody>
      </p:sp>
    </p:spTree>
    <p:extLst>
      <p:ext uri="{BB962C8B-B14F-4D97-AF65-F5344CB8AC3E}">
        <p14:creationId xmlns:p14="http://schemas.microsoft.com/office/powerpoint/2010/main" val="3209715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e node with value 10 is at the beginning of the evensList by virtue of the evensList head pointer referencing it. This node's tail pointer is referencing the node with value 14. ">
            <a:extLst>
              <a:ext uri="{FF2B5EF4-FFF2-40B4-BE49-F238E27FC236}">
                <a16:creationId xmlns:a16="http://schemas.microsoft.com/office/drawing/2014/main" id="{5DD54024-0FA6-4B0A-80C0-89C1918A30D1}"/>
              </a:ext>
            </a:extLst>
          </p:cNvPr>
          <p:cNvGrpSpPr/>
          <p:nvPr/>
        </p:nvGrpSpPr>
        <p:grpSpPr>
          <a:xfrm>
            <a:off x="4692394" y="3211228"/>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666D4FE-5B5C-4459-A6CC-4806EAED419B}"/>
              </a:ext>
            </a:extLst>
          </p:cNvPr>
          <p:cNvGrpSpPr/>
          <p:nvPr/>
        </p:nvGrpSpPr>
        <p:grpSpPr>
          <a:xfrm>
            <a:off x="4666771" y="4665931"/>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e node with value 14 is now at the end of the evensList by virtue of the evensList tail pointer referencing it. It is also being referenced by the next pointer of the the node with value 10. It's next pointer is referencing the None object. The current pointer is also still referencing this node. ">
            <a:extLst>
              <a:ext uri="{FF2B5EF4-FFF2-40B4-BE49-F238E27FC236}">
                <a16:creationId xmlns:a16="http://schemas.microsoft.com/office/drawing/2014/main" id="{78FAFC49-D14E-4702-91EB-44670C059031}"/>
              </a:ext>
            </a:extLst>
          </p:cNvPr>
          <p:cNvGrpSpPr/>
          <p:nvPr/>
        </p:nvGrpSpPr>
        <p:grpSpPr>
          <a:xfrm>
            <a:off x="6101568" y="3213863"/>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9162661" y="25759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is figure shows the new state of the evensList with its head pointer referencing the node with the value 10 and its tail pointer referencing the node with value 14. Its count is now set to 2. ">
            <a:extLst>
              <a:ext uri="{FF2B5EF4-FFF2-40B4-BE49-F238E27FC236}">
                <a16:creationId xmlns:a16="http://schemas.microsoft.com/office/drawing/2014/main" id="{5B7DF3C0-759F-4156-9C70-2495727DD711}"/>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2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shows the oddsList with head and tail referencing the node with 13 and the count set to 1. ">
            <a:extLst>
              <a:ext uri="{FF2B5EF4-FFF2-40B4-BE49-F238E27FC236}">
                <a16:creationId xmlns:a16="http://schemas.microsoft.com/office/drawing/2014/main" id="{B026C760-1433-4994-951F-A89EE9F55E5F}"/>
              </a:ext>
            </a:extLst>
          </p:cNvPr>
          <p:cNvSpPr txBox="1"/>
          <p:nvPr/>
        </p:nvSpPr>
        <p:spPr>
          <a:xfrm>
            <a:off x="3313651" y="4505625"/>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698779" y="4782624"/>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6608307" y="1271989"/>
            <a:ext cx="873637" cy="369332"/>
          </a:xfrm>
          <a:prstGeom prst="rect">
            <a:avLst/>
          </a:prstGeom>
          <a:noFill/>
        </p:spPr>
        <p:txBody>
          <a:bodyPr wrap="none" rtlCol="0">
            <a:spAutoFit/>
          </a:bodyPr>
          <a:lstStyle/>
          <a:p>
            <a:r>
              <a:rPr lang="en-US" dirty="0"/>
              <a:t>current</a:t>
            </a:r>
          </a:p>
        </p:txBody>
      </p:sp>
      <p:cxnSp>
        <p:nvCxnSpPr>
          <p:cNvPr id="58" name="Straight Arrow Connector 57">
            <a:extLst>
              <a:ext uri="{FF2B5EF4-FFF2-40B4-BE49-F238E27FC236}">
                <a16:creationId xmlns:a16="http://schemas.microsoft.com/office/drawing/2014/main" id="{3BED915F-60A0-480B-A1A5-A8D9CE23C21C}"/>
              </a:ext>
            </a:extLst>
          </p:cNvPr>
          <p:cNvCxnSpPr>
            <a:cxnSpLocks/>
            <a:stCxn id="56" idx="2"/>
            <a:endCxn id="51" idx="0"/>
          </p:cNvCxnSpPr>
          <p:nvPr/>
        </p:nvCxnSpPr>
        <p:spPr>
          <a:xfrm flipH="1">
            <a:off x="6496340" y="1641321"/>
            <a:ext cx="548786" cy="1568619"/>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12B4E316-46E9-40F5-A68E-C79A22B98903}"/>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404143" y="339150"/>
            <a:ext cx="5149871" cy="461665"/>
          </a:xfrm>
          <a:prstGeom prst="rect">
            <a:avLst/>
          </a:prstGeom>
          <a:noFill/>
        </p:spPr>
        <p:txBody>
          <a:bodyPr wrap="none" rtlCol="0">
            <a:spAutoFit/>
          </a:bodyPr>
          <a:lstStyle/>
          <a:p>
            <a:r>
              <a:rPr lang="en-US" sz="2400" dirty="0"/>
              <a:t>Effect of adding node 14 to </a:t>
            </a:r>
            <a:r>
              <a:rPr lang="en-US" sz="2200" b="1" dirty="0" err="1">
                <a:latin typeface="Courier New" panose="02070309020205020404" pitchFamily="49" charset="0"/>
                <a:cs typeface="Courier New" panose="02070309020205020404" pitchFamily="49" charset="0"/>
              </a:rPr>
              <a:t>evensList</a:t>
            </a:r>
            <a:endParaRPr lang="en-US" sz="2200" b="1" dirty="0">
              <a:latin typeface="Courier New" panose="02070309020205020404" pitchFamily="49" charset="0"/>
              <a:cs typeface="Courier New" panose="02070309020205020404" pitchFamily="49" charset="0"/>
            </a:endParaRPr>
          </a:p>
        </p:txBody>
      </p:sp>
      <p:sp>
        <p:nvSpPr>
          <p:cNvPr id="51" name="Rectangle 50">
            <a:extLst>
              <a:ext uri="{FF2B5EF4-FFF2-40B4-BE49-F238E27FC236}">
                <a16:creationId xmlns:a16="http://schemas.microsoft.com/office/drawing/2014/main" id="{72B536CB-E470-4958-A9F2-86ED980F3E2F}"/>
              </a:ext>
            </a:extLst>
          </p:cNvPr>
          <p:cNvSpPr/>
          <p:nvPr/>
        </p:nvSpPr>
        <p:spPr>
          <a:xfrm>
            <a:off x="6384372" y="3209940"/>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is the node with the value 18. It is referenced by the next_node cursor and it's next pointer is still referencing the None object. ">
            <a:extLst>
              <a:ext uri="{FF2B5EF4-FFF2-40B4-BE49-F238E27FC236}">
                <a16:creationId xmlns:a16="http://schemas.microsoft.com/office/drawing/2014/main" id="{9E0AED43-7C17-4C80-A567-137193B013AA}"/>
              </a:ext>
            </a:extLst>
          </p:cNvPr>
          <p:cNvGrpSpPr/>
          <p:nvPr/>
        </p:nvGrpSpPr>
        <p:grpSpPr>
          <a:xfrm>
            <a:off x="9457614" y="2036455"/>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9519170" y="223328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86E77C6B-884D-40CA-899F-81B5C689F01F}"/>
              </a:ext>
            </a:extLst>
          </p:cNvPr>
          <p:cNvSpPr/>
          <p:nvPr/>
        </p:nvSpPr>
        <p:spPr>
          <a:xfrm>
            <a:off x="4382946" y="569196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18534" y="4967290"/>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DD6B1DD-7A5F-4B33-905B-798A3C0F0BDC}"/>
              </a:ext>
            </a:extLst>
          </p:cNvPr>
          <p:cNvCxnSpPr>
            <a:cxnSpLocks/>
          </p:cNvCxnSpPr>
          <p:nvPr/>
        </p:nvCxnSpPr>
        <p:spPr>
          <a:xfrm>
            <a:off x="3818534" y="3263767"/>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0C017C4-0DF5-480D-B39D-14B1DFD8E9C6}"/>
              </a:ext>
            </a:extLst>
          </p:cNvPr>
          <p:cNvCxnSpPr>
            <a:cxnSpLocks/>
            <a:stCxn id="75" idx="3"/>
          </p:cNvCxnSpPr>
          <p:nvPr/>
        </p:nvCxnSpPr>
        <p:spPr>
          <a:xfrm>
            <a:off x="3818534" y="4697969"/>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5757DA-7358-C1BE-4702-E7C11590055F}"/>
              </a:ext>
            </a:extLst>
          </p:cNvPr>
          <p:cNvSpPr/>
          <p:nvPr/>
        </p:nvSpPr>
        <p:spPr>
          <a:xfrm>
            <a:off x="5861750" y="5067301"/>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3D9EDF8-3125-722A-C46E-1FEA1F3484EC}"/>
              </a:ext>
            </a:extLst>
          </p:cNvPr>
          <p:cNvSpPr/>
          <p:nvPr/>
        </p:nvSpPr>
        <p:spPr>
          <a:xfrm>
            <a:off x="3561868" y="3476876"/>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0105ADA-FE64-2D5D-3E40-FFFD3DE995CE}"/>
              </a:ext>
            </a:extLst>
          </p:cNvPr>
          <p:cNvSpPr/>
          <p:nvPr/>
        </p:nvSpPr>
        <p:spPr>
          <a:xfrm>
            <a:off x="7195071" y="3607696"/>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2B0F686E-290C-DB84-522A-2CB5142F070D}"/>
              </a:ext>
            </a:extLst>
          </p:cNvPr>
          <p:cNvCxnSpPr>
            <a:cxnSpLocks/>
            <a:stCxn id="8" idx="3"/>
            <a:endCxn id="14" idx="1"/>
          </p:cNvCxnSpPr>
          <p:nvPr/>
        </p:nvCxnSpPr>
        <p:spPr>
          <a:xfrm>
            <a:off x="5529802" y="3395894"/>
            <a:ext cx="571766" cy="2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5D646B4-8DF1-D19C-371E-A9AF761969B9}"/>
              </a:ext>
            </a:extLst>
          </p:cNvPr>
          <p:cNvSpPr/>
          <p:nvPr/>
        </p:nvSpPr>
        <p:spPr>
          <a:xfrm>
            <a:off x="3575643" y="3395894"/>
            <a:ext cx="209836" cy="2576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Elbow 37">
            <a:extLst>
              <a:ext uri="{FF2B5EF4-FFF2-40B4-BE49-F238E27FC236}">
                <a16:creationId xmlns:a16="http://schemas.microsoft.com/office/drawing/2014/main" id="{FA3C148A-67E3-405A-EE4E-29E5CCE3B3E7}"/>
              </a:ext>
            </a:extLst>
          </p:cNvPr>
          <p:cNvCxnSpPr>
            <a:cxnSpLocks/>
            <a:stCxn id="33" idx="3"/>
            <a:endCxn id="14" idx="2"/>
          </p:cNvCxnSpPr>
          <p:nvPr/>
        </p:nvCxnSpPr>
        <p:spPr>
          <a:xfrm>
            <a:off x="3785479" y="3524742"/>
            <a:ext cx="2525441" cy="58453"/>
          </a:xfrm>
          <a:prstGeom prst="bentConnector4">
            <a:avLst>
              <a:gd name="adj1" fmla="val 28630"/>
              <a:gd name="adj2" fmla="val 491083"/>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B7D26B7-0492-E6D9-A545-001E496AC693}"/>
              </a:ext>
            </a:extLst>
          </p:cNvPr>
          <p:cNvSpPr txBox="1"/>
          <p:nvPr/>
        </p:nvSpPr>
        <p:spPr>
          <a:xfrm>
            <a:off x="9263960" y="1087323"/>
            <a:ext cx="1191801" cy="369332"/>
          </a:xfrm>
          <a:prstGeom prst="rect">
            <a:avLst/>
          </a:prstGeom>
          <a:noFill/>
          <a:ln>
            <a:noFill/>
          </a:ln>
        </p:spPr>
        <p:txBody>
          <a:bodyPr wrap="none" rtlCol="0">
            <a:spAutoFit/>
          </a:bodyPr>
          <a:lstStyle/>
          <a:p>
            <a:r>
              <a:rPr lang="en-US" dirty="0" err="1"/>
              <a:t>next_node</a:t>
            </a:r>
            <a:endParaRPr lang="en-US" dirty="0"/>
          </a:p>
        </p:txBody>
      </p:sp>
      <p:cxnSp>
        <p:nvCxnSpPr>
          <p:cNvPr id="18" name="Straight Arrow Connector 17">
            <a:extLst>
              <a:ext uri="{FF2B5EF4-FFF2-40B4-BE49-F238E27FC236}">
                <a16:creationId xmlns:a16="http://schemas.microsoft.com/office/drawing/2014/main" id="{F5E40D12-7D37-CC8A-D1B2-623DBEC36753}"/>
              </a:ext>
            </a:extLst>
          </p:cNvPr>
          <p:cNvCxnSpPr>
            <a:cxnSpLocks/>
            <a:stCxn id="4" idx="2"/>
          </p:cNvCxnSpPr>
          <p:nvPr/>
        </p:nvCxnSpPr>
        <p:spPr>
          <a:xfrm flipH="1">
            <a:off x="9791881" y="1456655"/>
            <a:ext cx="67980" cy="54523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22EF50E-E7E2-E4B9-6313-38D3C00CEBE4}"/>
              </a:ext>
            </a:extLst>
          </p:cNvPr>
          <p:cNvSpPr txBox="1"/>
          <p:nvPr/>
        </p:nvSpPr>
        <p:spPr>
          <a:xfrm>
            <a:off x="9791881" y="2059355"/>
            <a:ext cx="636356" cy="307777"/>
          </a:xfrm>
          <a:prstGeom prst="rect">
            <a:avLst/>
          </a:prstGeom>
          <a:noFill/>
        </p:spPr>
        <p:txBody>
          <a:bodyPr wrap="square">
            <a:spAutoFit/>
          </a:bodyPr>
          <a:lstStyle/>
          <a:p>
            <a:r>
              <a:rPr lang="en-US" sz="1400" b="1" dirty="0"/>
              <a:t>None</a:t>
            </a:r>
          </a:p>
        </p:txBody>
      </p:sp>
      <p:sp>
        <p:nvSpPr>
          <p:cNvPr id="23" name="TextBox 22">
            <a:extLst>
              <a:ext uri="{FF2B5EF4-FFF2-40B4-BE49-F238E27FC236}">
                <a16:creationId xmlns:a16="http://schemas.microsoft.com/office/drawing/2014/main" id="{BDEB1C35-55DA-8B9F-C23D-F736A61E2B70}"/>
              </a:ext>
            </a:extLst>
          </p:cNvPr>
          <p:cNvSpPr txBox="1"/>
          <p:nvPr/>
        </p:nvSpPr>
        <p:spPr>
          <a:xfrm>
            <a:off x="6452555" y="3277913"/>
            <a:ext cx="636356" cy="307777"/>
          </a:xfrm>
          <a:prstGeom prst="rect">
            <a:avLst/>
          </a:prstGeom>
          <a:noFill/>
        </p:spPr>
        <p:txBody>
          <a:bodyPr wrap="square">
            <a:spAutoFit/>
          </a:bodyPr>
          <a:lstStyle/>
          <a:p>
            <a:r>
              <a:rPr lang="en-US" sz="1400" b="1" dirty="0"/>
              <a:t>None</a:t>
            </a:r>
          </a:p>
        </p:txBody>
      </p:sp>
      <p:sp>
        <p:nvSpPr>
          <p:cNvPr id="24" name="TextBox 23">
            <a:extLst>
              <a:ext uri="{FF2B5EF4-FFF2-40B4-BE49-F238E27FC236}">
                <a16:creationId xmlns:a16="http://schemas.microsoft.com/office/drawing/2014/main" id="{5254E5D4-7861-713F-782F-114765FA7019}"/>
              </a:ext>
            </a:extLst>
          </p:cNvPr>
          <p:cNvSpPr txBox="1"/>
          <p:nvPr/>
        </p:nvSpPr>
        <p:spPr>
          <a:xfrm>
            <a:off x="5002272" y="4705505"/>
            <a:ext cx="636356" cy="307777"/>
          </a:xfrm>
          <a:prstGeom prst="rect">
            <a:avLst/>
          </a:prstGeom>
          <a:noFill/>
        </p:spPr>
        <p:txBody>
          <a:bodyPr wrap="square">
            <a:spAutoFit/>
          </a:bodyPr>
          <a:lstStyle/>
          <a:p>
            <a:r>
              <a:rPr lang="en-US" sz="1400" b="1" dirty="0"/>
              <a:t>None</a:t>
            </a:r>
          </a:p>
        </p:txBody>
      </p:sp>
      <p:grpSp>
        <p:nvGrpSpPr>
          <p:cNvPr id="26" name="Group 25" descr="This figure shows the empty original list">
            <a:extLst>
              <a:ext uri="{FF2B5EF4-FFF2-40B4-BE49-F238E27FC236}">
                <a16:creationId xmlns:a16="http://schemas.microsoft.com/office/drawing/2014/main" id="{227C1394-36B7-DD2D-70E1-F4C4C75C6201}"/>
              </a:ext>
            </a:extLst>
          </p:cNvPr>
          <p:cNvGrpSpPr/>
          <p:nvPr/>
        </p:nvGrpSpPr>
        <p:grpSpPr>
          <a:xfrm>
            <a:off x="2290027" y="1496353"/>
            <a:ext cx="2919116" cy="923330"/>
            <a:chOff x="1894663" y="1710943"/>
            <a:chExt cx="2919116" cy="923330"/>
          </a:xfrm>
        </p:grpSpPr>
        <p:sp>
          <p:nvSpPr>
            <p:cNvPr id="28" name="TextBox 27">
              <a:extLst>
                <a:ext uri="{FF2B5EF4-FFF2-40B4-BE49-F238E27FC236}">
                  <a16:creationId xmlns:a16="http://schemas.microsoft.com/office/drawing/2014/main" id="{EE5A1DA8-6479-4224-A4C2-91D894E2B8F5}"/>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29" name="TextBox 28">
              <a:extLst>
                <a:ext uri="{FF2B5EF4-FFF2-40B4-BE49-F238E27FC236}">
                  <a16:creationId xmlns:a16="http://schemas.microsoft.com/office/drawing/2014/main" id="{9A95966B-8FA8-6AD3-1192-FB3999667049}"/>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32" name="Rectangle 31">
              <a:extLst>
                <a:ext uri="{FF2B5EF4-FFF2-40B4-BE49-F238E27FC236}">
                  <a16:creationId xmlns:a16="http://schemas.microsoft.com/office/drawing/2014/main" id="{8B5D4A39-059C-0AED-B72D-3F3975E838F0}"/>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AD63EA2-302C-68DA-A09F-C3746FA24C11}"/>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04E062EE-E45D-640F-EE91-A6C0A7A89D78}"/>
                </a:ext>
              </a:extLst>
            </p:cNvPr>
            <p:cNvCxnSpPr>
              <a:stCxn id="28" idx="3"/>
              <a:endCxn id="29"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1B5EB2EF-2926-66C0-9F2F-37026CADFF95}"/>
                </a:ext>
              </a:extLst>
            </p:cNvPr>
            <p:cNvGrpSpPr/>
            <p:nvPr/>
          </p:nvGrpSpPr>
          <p:grpSpPr>
            <a:xfrm>
              <a:off x="4228361" y="1752675"/>
              <a:ext cx="585418" cy="632116"/>
              <a:chOff x="4658147" y="4558296"/>
              <a:chExt cx="585418" cy="632116"/>
            </a:xfrm>
          </p:grpSpPr>
          <p:sp>
            <p:nvSpPr>
              <p:cNvPr id="47" name="TextBox 46">
                <a:extLst>
                  <a:ext uri="{FF2B5EF4-FFF2-40B4-BE49-F238E27FC236}">
                    <a16:creationId xmlns:a16="http://schemas.microsoft.com/office/drawing/2014/main" id="{F046BCC5-20C4-F925-C37A-F5FD9E89FFBA}"/>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59" name="TextBox 58">
                <a:extLst>
                  <a:ext uri="{FF2B5EF4-FFF2-40B4-BE49-F238E27FC236}">
                    <a16:creationId xmlns:a16="http://schemas.microsoft.com/office/drawing/2014/main" id="{00F049CF-980C-2606-AD74-068EF71B74BA}"/>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42" name="Straight Arrow Connector 41">
              <a:extLst>
                <a:ext uri="{FF2B5EF4-FFF2-40B4-BE49-F238E27FC236}">
                  <a16:creationId xmlns:a16="http://schemas.microsoft.com/office/drawing/2014/main" id="{71D636EB-9F07-97A5-4E38-3E2B8B3F6A24}"/>
                </a:ext>
              </a:extLst>
            </p:cNvPr>
            <p:cNvCxnSpPr>
              <a:cxnSpLocks/>
            </p:cNvCxnSpPr>
            <p:nvPr/>
          </p:nvCxnSpPr>
          <p:spPr>
            <a:xfrm>
              <a:off x="3534126" y="1908065"/>
              <a:ext cx="7058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3AF5287-85BE-6649-3974-1B301002311C}"/>
                </a:ext>
              </a:extLst>
            </p:cNvPr>
            <p:cNvCxnSpPr>
              <a:cxnSpLocks/>
              <a:stCxn id="46"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CF38372E-3C61-D2E8-0D54-656B0B82A279}"/>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AD5C370-3C6A-E914-F949-6F3DF8F42165}"/>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AB418920-3F81-B9ED-3BEB-8692A3F5E8E4}"/>
              </a:ext>
            </a:extLst>
          </p:cNvPr>
          <p:cNvSpPr txBox="1"/>
          <p:nvPr/>
        </p:nvSpPr>
        <p:spPr>
          <a:xfrm>
            <a:off x="8032606" y="3079101"/>
            <a:ext cx="2140516" cy="369332"/>
          </a:xfrm>
          <a:prstGeom prst="rect">
            <a:avLst/>
          </a:prstGeom>
          <a:noFill/>
        </p:spPr>
        <p:txBody>
          <a:bodyPr wrap="square">
            <a:spAutoFit/>
          </a:bodyPr>
          <a:lstStyle/>
          <a:p>
            <a:r>
              <a:rPr lang="en-US" sz="1800" dirty="0"/>
              <a:t>current = </a:t>
            </a:r>
            <a:r>
              <a:rPr lang="en-US" sz="1800" dirty="0" err="1"/>
              <a:t>next_node</a:t>
            </a:r>
            <a:endParaRPr lang="en-US" dirty="0"/>
          </a:p>
        </p:txBody>
      </p:sp>
      <p:grpSp>
        <p:nvGrpSpPr>
          <p:cNvPr id="3" name="Group 2">
            <a:extLst>
              <a:ext uri="{FF2B5EF4-FFF2-40B4-BE49-F238E27FC236}">
                <a16:creationId xmlns:a16="http://schemas.microsoft.com/office/drawing/2014/main" id="{0FE5D775-AB4D-BABE-0E8E-64A5E2214872}"/>
              </a:ext>
            </a:extLst>
          </p:cNvPr>
          <p:cNvGrpSpPr/>
          <p:nvPr/>
        </p:nvGrpSpPr>
        <p:grpSpPr>
          <a:xfrm>
            <a:off x="8280063" y="5019961"/>
            <a:ext cx="3192509" cy="948446"/>
            <a:chOff x="279606" y="5645073"/>
            <a:chExt cx="3192509" cy="948446"/>
          </a:xfrm>
        </p:grpSpPr>
        <p:grpSp>
          <p:nvGrpSpPr>
            <p:cNvPr id="5" name="Group 4">
              <a:extLst>
                <a:ext uri="{FF2B5EF4-FFF2-40B4-BE49-F238E27FC236}">
                  <a16:creationId xmlns:a16="http://schemas.microsoft.com/office/drawing/2014/main" id="{E49E2CEE-9A3A-9772-F560-0DEF1E4F8926}"/>
                </a:ext>
              </a:extLst>
            </p:cNvPr>
            <p:cNvGrpSpPr/>
            <p:nvPr/>
          </p:nvGrpSpPr>
          <p:grpSpPr>
            <a:xfrm>
              <a:off x="378739" y="5645073"/>
              <a:ext cx="3093376" cy="369332"/>
              <a:chOff x="4680011" y="1838933"/>
              <a:chExt cx="3093376" cy="369332"/>
            </a:xfrm>
          </p:grpSpPr>
          <p:sp>
            <p:nvSpPr>
              <p:cNvPr id="48" name="TextBox 47">
                <a:extLst>
                  <a:ext uri="{FF2B5EF4-FFF2-40B4-BE49-F238E27FC236}">
                    <a16:creationId xmlns:a16="http://schemas.microsoft.com/office/drawing/2014/main" id="{9F6B82B3-9A2A-ED19-86CE-9A62778CA913}"/>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60" name="Straight Arrow Connector 59">
                <a:extLst>
                  <a:ext uri="{FF2B5EF4-FFF2-40B4-BE49-F238E27FC236}">
                    <a16:creationId xmlns:a16="http://schemas.microsoft.com/office/drawing/2014/main" id="{088E1FBF-DB9E-2DF1-9B37-8FD302B5037B}"/>
                  </a:ext>
                </a:extLst>
              </p:cNvPr>
              <p:cNvCxnSpPr>
                <a:cxnSpLocks/>
                <a:endCxn id="48"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9EB35B97-25A5-E640-2CD7-BEB2E4B07692}"/>
                </a:ext>
              </a:extLst>
            </p:cNvPr>
            <p:cNvGrpSpPr/>
            <p:nvPr/>
          </p:nvGrpSpPr>
          <p:grpSpPr>
            <a:xfrm>
              <a:off x="378739" y="5934630"/>
              <a:ext cx="2699807" cy="369332"/>
              <a:chOff x="4680011" y="2100359"/>
              <a:chExt cx="2699807" cy="369332"/>
            </a:xfrm>
          </p:grpSpPr>
          <p:sp>
            <p:nvSpPr>
              <p:cNvPr id="35" name="TextBox 34">
                <a:extLst>
                  <a:ext uri="{FF2B5EF4-FFF2-40B4-BE49-F238E27FC236}">
                    <a16:creationId xmlns:a16="http://schemas.microsoft.com/office/drawing/2014/main" id="{6F3AB5B0-BF23-A17B-12A5-FFFA83400888}"/>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44" name="Straight Arrow Connector 43">
                <a:extLst>
                  <a:ext uri="{FF2B5EF4-FFF2-40B4-BE49-F238E27FC236}">
                    <a16:creationId xmlns:a16="http://schemas.microsoft.com/office/drawing/2014/main" id="{EE0EBE81-EC76-DF9C-0537-47EDFA5E9DB5}"/>
                  </a:ext>
                </a:extLst>
              </p:cNvPr>
              <p:cNvCxnSpPr>
                <a:cxnSpLocks/>
                <a:endCxn id="35"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BB9593C7-F252-49F8-B760-73733B613683}"/>
                </a:ext>
              </a:extLst>
            </p:cNvPr>
            <p:cNvGrpSpPr/>
            <p:nvPr/>
          </p:nvGrpSpPr>
          <p:grpSpPr>
            <a:xfrm>
              <a:off x="378739" y="6224187"/>
              <a:ext cx="2337271" cy="369332"/>
              <a:chOff x="4758431" y="3161942"/>
              <a:chExt cx="2337271" cy="369332"/>
            </a:xfrm>
          </p:grpSpPr>
          <p:sp>
            <p:nvSpPr>
              <p:cNvPr id="25" name="TextBox 24">
                <a:extLst>
                  <a:ext uri="{FF2B5EF4-FFF2-40B4-BE49-F238E27FC236}">
                    <a16:creationId xmlns:a16="http://schemas.microsoft.com/office/drawing/2014/main" id="{D139FBC0-1B41-581B-91BA-43467F9BDF79}"/>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34" name="Straight Arrow Connector 33">
                <a:extLst>
                  <a:ext uri="{FF2B5EF4-FFF2-40B4-BE49-F238E27FC236}">
                    <a16:creationId xmlns:a16="http://schemas.microsoft.com/office/drawing/2014/main" id="{345F65B7-B950-EBF5-74DB-5C5C3F7E9066}"/>
                  </a:ext>
                </a:extLst>
              </p:cNvPr>
              <p:cNvCxnSpPr>
                <a:cxnSpLocks/>
                <a:endCxn id="25"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E20A4AE9-3895-EB7F-7CED-7FAF2F70E853}"/>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5" name="Straight Arrow Connector 64">
            <a:extLst>
              <a:ext uri="{FF2B5EF4-FFF2-40B4-BE49-F238E27FC236}">
                <a16:creationId xmlns:a16="http://schemas.microsoft.com/office/drawing/2014/main" id="{9AA3445E-59E7-D726-5418-ED17D86CD8F6}"/>
              </a:ext>
            </a:extLst>
          </p:cNvPr>
          <p:cNvCxnSpPr>
            <a:stCxn id="56" idx="2"/>
          </p:cNvCxnSpPr>
          <p:nvPr/>
        </p:nvCxnSpPr>
        <p:spPr>
          <a:xfrm>
            <a:off x="7045126" y="1641321"/>
            <a:ext cx="2229502" cy="5288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056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DD54024-0FA6-4B0A-80C0-89C1918A30D1}"/>
              </a:ext>
            </a:extLst>
          </p:cNvPr>
          <p:cNvGrpSpPr/>
          <p:nvPr/>
        </p:nvGrpSpPr>
        <p:grpSpPr>
          <a:xfrm>
            <a:off x="4520791" y="1877949"/>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666D4FE-5B5C-4459-A6CC-4806EAED419B}"/>
              </a:ext>
            </a:extLst>
          </p:cNvPr>
          <p:cNvGrpSpPr/>
          <p:nvPr/>
        </p:nvGrpSpPr>
        <p:grpSpPr>
          <a:xfrm>
            <a:off x="5874207" y="1886724"/>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8FAFC49-D14E-4702-91EB-44670C059031}"/>
              </a:ext>
            </a:extLst>
          </p:cNvPr>
          <p:cNvGrpSpPr/>
          <p:nvPr/>
        </p:nvGrpSpPr>
        <p:grpSpPr>
          <a:xfrm>
            <a:off x="7286286" y="1886724"/>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7347842" y="2083554"/>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ABB1F49-B15B-4590-9BF8-FF54B16EDEF4}"/>
              </a:ext>
            </a:extLst>
          </p:cNvPr>
          <p:cNvSpPr/>
          <p:nvPr/>
        </p:nvSpPr>
        <p:spPr>
          <a:xfrm>
            <a:off x="7344435" y="331010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B7DF3C0-759F-4156-9C70-2495727DD711}"/>
              </a:ext>
            </a:extLst>
          </p:cNvPr>
          <p:cNvSpPr txBox="1"/>
          <p:nvPr/>
        </p:nvSpPr>
        <p:spPr>
          <a:xfrm>
            <a:off x="2529357" y="2931752"/>
            <a:ext cx="1113575"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a:t>
            </a:r>
            <a:r>
              <a:rPr lang="en-US" dirty="0">
                <a:solidFill>
                  <a:schemeClr val="bg2">
                    <a:lumMod val="50000"/>
                  </a:schemeClr>
                </a:solidFill>
              </a:rPr>
              <a:t>2</a:t>
            </a:r>
            <a:r>
              <a:rPr lang="en-US" dirty="0"/>
              <a:t> </a:t>
            </a:r>
            <a:r>
              <a:rPr lang="en-US" dirty="0">
                <a:solidFill>
                  <a:srgbClr val="FF0000"/>
                </a:solidFill>
              </a:rPr>
              <a:t>3</a:t>
            </a:r>
            <a:r>
              <a:rPr lang="en-US" dirty="0"/>
              <a:t>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934408" y="3024085"/>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1977129" y="3208751"/>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object shows the oddsList with head and tail referencing the node with 13 and the count set to 1. ">
            <a:extLst>
              <a:ext uri="{FF2B5EF4-FFF2-40B4-BE49-F238E27FC236}">
                <a16:creationId xmlns:a16="http://schemas.microsoft.com/office/drawing/2014/main" id="{B026C760-1433-4994-951F-A89EE9F55E5F}"/>
              </a:ext>
            </a:extLst>
          </p:cNvPr>
          <p:cNvSpPr txBox="1"/>
          <p:nvPr/>
        </p:nvSpPr>
        <p:spPr>
          <a:xfrm>
            <a:off x="2504029" y="4358276"/>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a:t>
            </a:r>
            <a:r>
              <a:rPr lang="en-US" dirty="0">
                <a:solidFill>
                  <a:schemeClr val="accent1"/>
                </a:solidFill>
              </a:rPr>
              <a:t>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934408" y="4450609"/>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1889157" y="4635275"/>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7983707" y="541582"/>
            <a:ext cx="873637" cy="369332"/>
          </a:xfrm>
          <a:prstGeom prst="rect">
            <a:avLst/>
          </a:prstGeom>
          <a:noFill/>
        </p:spPr>
        <p:txBody>
          <a:bodyPr wrap="none" rtlCol="0">
            <a:spAutoFit/>
          </a:bodyPr>
          <a:lstStyle/>
          <a:p>
            <a:r>
              <a:rPr lang="en-US" dirty="0"/>
              <a:t>current</a:t>
            </a:r>
          </a:p>
        </p:txBody>
      </p:sp>
      <p:cxnSp>
        <p:nvCxnSpPr>
          <p:cNvPr id="58" name="Straight Arrow Connector 57">
            <a:extLst>
              <a:ext uri="{FF2B5EF4-FFF2-40B4-BE49-F238E27FC236}">
                <a16:creationId xmlns:a16="http://schemas.microsoft.com/office/drawing/2014/main" id="{3BED915F-60A0-480B-A1A5-A8D9CE23C21C}"/>
              </a:ext>
            </a:extLst>
          </p:cNvPr>
          <p:cNvCxnSpPr>
            <a:cxnSpLocks/>
            <a:stCxn id="56" idx="2"/>
            <a:endCxn id="63" idx="0"/>
          </p:cNvCxnSpPr>
          <p:nvPr/>
        </p:nvCxnSpPr>
        <p:spPr>
          <a:xfrm>
            <a:off x="8420526" y="910914"/>
            <a:ext cx="436818" cy="97819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9F930EE-F7DF-4445-93A2-B64172472586}"/>
              </a:ext>
            </a:extLst>
          </p:cNvPr>
          <p:cNvSpPr/>
          <p:nvPr/>
        </p:nvSpPr>
        <p:spPr>
          <a:xfrm>
            <a:off x="2871967" y="300953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2B4E316-46E9-40F5-A68E-C79A22B98903}"/>
              </a:ext>
            </a:extLst>
          </p:cNvPr>
          <p:cNvSpPr/>
          <p:nvPr/>
        </p:nvSpPr>
        <p:spPr>
          <a:xfrm>
            <a:off x="2824699" y="3301084"/>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2824699" y="4458287"/>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2824699" y="473528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203480" y="439504"/>
            <a:ext cx="4319067" cy="461665"/>
          </a:xfrm>
          <a:prstGeom prst="rect">
            <a:avLst/>
          </a:prstGeom>
          <a:noFill/>
        </p:spPr>
        <p:txBody>
          <a:bodyPr wrap="none" rtlCol="0">
            <a:spAutoFit/>
          </a:bodyPr>
          <a:lstStyle/>
          <a:p>
            <a:r>
              <a:rPr lang="en-US" sz="2400" dirty="0"/>
              <a:t>Adding node with 18 to </a:t>
            </a:r>
            <a:r>
              <a:rPr lang="en-US" sz="2400" dirty="0" err="1"/>
              <a:t>evensList</a:t>
            </a:r>
            <a:endParaRPr lang="en-US" sz="2400" dirty="0"/>
          </a:p>
        </p:txBody>
      </p:sp>
      <p:sp>
        <p:nvSpPr>
          <p:cNvPr id="51" name="Rectangle 50">
            <a:extLst>
              <a:ext uri="{FF2B5EF4-FFF2-40B4-BE49-F238E27FC236}">
                <a16:creationId xmlns:a16="http://schemas.microsoft.com/office/drawing/2014/main" id="{72B536CB-E470-4958-A9F2-86ED980F3E2F}"/>
              </a:ext>
            </a:extLst>
          </p:cNvPr>
          <p:cNvSpPr/>
          <p:nvPr/>
        </p:nvSpPr>
        <p:spPr>
          <a:xfrm>
            <a:off x="5574750" y="3062591"/>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is the node with 18. The current cursor has been moved from  node 14 to this node. The next_node cursor has been moved from this node and is now referencing the None object, indicating that there are no other nodes to process.  Node 18 is  now at the end of the evensList so the tail pointer has been moved from node 14 to this node. The next pointer of the node with 18 is still none, and the tail reference of the evensList is now poining to this node. ">
            <a:extLst>
              <a:ext uri="{FF2B5EF4-FFF2-40B4-BE49-F238E27FC236}">
                <a16:creationId xmlns:a16="http://schemas.microsoft.com/office/drawing/2014/main" id="{9E0AED43-7C17-4C80-A567-137193B013AA}"/>
              </a:ext>
            </a:extLst>
          </p:cNvPr>
          <p:cNvGrpSpPr/>
          <p:nvPr/>
        </p:nvGrpSpPr>
        <p:grpSpPr>
          <a:xfrm>
            <a:off x="8647992" y="1889106"/>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4DEF1691-BF77-48DF-969B-0D7AA9CAF337}"/>
              </a:ext>
            </a:extLst>
          </p:cNvPr>
          <p:cNvSpPr/>
          <p:nvPr/>
        </p:nvSpPr>
        <p:spPr>
          <a:xfrm>
            <a:off x="8709548" y="2085936"/>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15AF271-37F2-40CB-89AC-9528F1965A28}"/>
              </a:ext>
            </a:extLst>
          </p:cNvPr>
          <p:cNvSpPr txBox="1"/>
          <p:nvPr/>
        </p:nvSpPr>
        <p:spPr>
          <a:xfrm>
            <a:off x="6773187" y="3539392"/>
            <a:ext cx="5188227" cy="3060838"/>
          </a:xfrm>
          <a:prstGeom prst="rect">
            <a:avLst/>
          </a:prstGeom>
          <a:noFill/>
        </p:spPr>
        <p:txBody>
          <a:bodyPr wrap="square">
            <a:spAutoFit/>
          </a:bodyPr>
          <a:lstStyle/>
          <a:p>
            <a:r>
              <a:rPr lang="en-US" sz="2000" dirty="0" err="1"/>
              <a:t>next_node</a:t>
            </a:r>
            <a:r>
              <a:rPr lang="en-US" sz="2000" dirty="0"/>
              <a:t> = </a:t>
            </a:r>
            <a:r>
              <a:rPr lang="en-US" sz="2000" dirty="0" err="1"/>
              <a:t>current.next</a:t>
            </a:r>
            <a:endParaRPr lang="en-US" sz="2000" dirty="0"/>
          </a:p>
          <a:p>
            <a:r>
              <a:rPr lang="en-US" sz="2000" dirty="0" err="1"/>
              <a:t>current.next</a:t>
            </a:r>
            <a:r>
              <a:rPr lang="en-US" sz="2000" dirty="0"/>
              <a:t> = none</a:t>
            </a:r>
          </a:p>
          <a:p>
            <a:pPr>
              <a:lnSpc>
                <a:spcPct val="110000"/>
              </a:lnSpc>
            </a:pPr>
            <a:r>
              <a:rPr lang="en-US" sz="2000" dirty="0"/>
              <a:t> if </a:t>
            </a:r>
            <a:r>
              <a:rPr lang="en-US" sz="2000" dirty="0" err="1"/>
              <a:t>current.data</a:t>
            </a:r>
            <a:r>
              <a:rPr lang="en-US" sz="2000" dirty="0"/>
              <a:t> is even:</a:t>
            </a:r>
          </a:p>
          <a:p>
            <a:pPr>
              <a:lnSpc>
                <a:spcPct val="110000"/>
              </a:lnSpc>
            </a:pPr>
            <a:r>
              <a:rPr lang="en-US" sz="2000" dirty="0"/>
              <a:t>          if </a:t>
            </a:r>
            <a:r>
              <a:rPr lang="en-US" sz="2000" dirty="0" err="1"/>
              <a:t>even_list.tail</a:t>
            </a:r>
            <a:r>
              <a:rPr lang="en-US" sz="2000" dirty="0"/>
              <a:t> is None:</a:t>
            </a:r>
          </a:p>
          <a:p>
            <a:pPr>
              <a:lnSpc>
                <a:spcPct val="110000"/>
              </a:lnSpc>
            </a:pPr>
            <a:r>
              <a:rPr lang="en-US" sz="2000" dirty="0"/>
              <a:t>               </a:t>
            </a:r>
            <a:r>
              <a:rPr lang="en-US" sz="2000" dirty="0" err="1"/>
              <a:t>even_list.head</a:t>
            </a:r>
            <a:r>
              <a:rPr lang="en-US" sz="2000" dirty="0"/>
              <a:t> = </a:t>
            </a:r>
            <a:r>
              <a:rPr lang="en-US" sz="2000" dirty="0" err="1"/>
              <a:t>even_list.tail</a:t>
            </a:r>
            <a:r>
              <a:rPr lang="en-US" sz="2000" dirty="0"/>
              <a:t> = current</a:t>
            </a:r>
          </a:p>
          <a:p>
            <a:pPr>
              <a:lnSpc>
                <a:spcPct val="110000"/>
              </a:lnSpc>
            </a:pPr>
            <a:r>
              <a:rPr lang="en-US" sz="2000" dirty="0"/>
              <a:t>          else:</a:t>
            </a:r>
          </a:p>
          <a:p>
            <a:pPr>
              <a:lnSpc>
                <a:spcPct val="110000"/>
              </a:lnSpc>
            </a:pPr>
            <a:r>
              <a:rPr lang="en-US" sz="2000" dirty="0"/>
              <a:t>               </a:t>
            </a:r>
            <a:r>
              <a:rPr lang="en-US" sz="2000" dirty="0" err="1"/>
              <a:t>even_list.tail.next</a:t>
            </a:r>
            <a:r>
              <a:rPr lang="en-US" sz="2000" dirty="0"/>
              <a:t> = current</a:t>
            </a:r>
          </a:p>
          <a:p>
            <a:pPr>
              <a:lnSpc>
                <a:spcPct val="110000"/>
              </a:lnSpc>
            </a:pPr>
            <a:r>
              <a:rPr lang="en-US" sz="2000" dirty="0"/>
              <a:t>               </a:t>
            </a:r>
            <a:r>
              <a:rPr lang="en-US" sz="2000" dirty="0" err="1"/>
              <a:t>even_list.tail</a:t>
            </a:r>
            <a:r>
              <a:rPr lang="en-US" sz="2000" dirty="0"/>
              <a:t> = current</a:t>
            </a:r>
          </a:p>
          <a:p>
            <a:pPr>
              <a:lnSpc>
                <a:spcPct val="110000"/>
              </a:lnSpc>
            </a:pPr>
            <a:r>
              <a:rPr lang="en-US" sz="2000" dirty="0"/>
              <a:t>          </a:t>
            </a:r>
            <a:r>
              <a:rPr lang="en-US" sz="2000" dirty="0" err="1"/>
              <a:t>even_list.count</a:t>
            </a:r>
            <a:r>
              <a:rPr lang="en-US" sz="2000" dirty="0"/>
              <a:t> += 1</a:t>
            </a:r>
          </a:p>
        </p:txBody>
      </p:sp>
      <p:sp>
        <p:nvSpPr>
          <p:cNvPr id="70" name="Rectangle 69">
            <a:extLst>
              <a:ext uri="{FF2B5EF4-FFF2-40B4-BE49-F238E27FC236}">
                <a16:creationId xmlns:a16="http://schemas.microsoft.com/office/drawing/2014/main" id="{BA36430C-9C1E-4615-8C77-84A07A781864}"/>
              </a:ext>
            </a:extLst>
          </p:cNvPr>
          <p:cNvSpPr/>
          <p:nvPr/>
        </p:nvSpPr>
        <p:spPr>
          <a:xfrm>
            <a:off x="4527030" y="198620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Connector: Elbow 40">
            <a:extLst>
              <a:ext uri="{FF2B5EF4-FFF2-40B4-BE49-F238E27FC236}">
                <a16:creationId xmlns:a16="http://schemas.microsoft.com/office/drawing/2014/main" id="{BA6ABD6C-A715-49BE-800B-B8DA0A25C901}"/>
              </a:ext>
            </a:extLst>
          </p:cNvPr>
          <p:cNvCxnSpPr>
            <a:cxnSpLocks/>
            <a:stCxn id="61" idx="3"/>
            <a:endCxn id="70" idx="1"/>
          </p:cNvCxnSpPr>
          <p:nvPr/>
        </p:nvCxnSpPr>
        <p:spPr>
          <a:xfrm flipV="1">
            <a:off x="3056180" y="2078538"/>
            <a:ext cx="1470850" cy="10233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07D8874-CFE4-4B59-88C9-C4C82269445B}"/>
              </a:ext>
            </a:extLst>
          </p:cNvPr>
          <p:cNvSpPr/>
          <p:nvPr/>
        </p:nvSpPr>
        <p:spPr>
          <a:xfrm>
            <a:off x="7489999" y="2051862"/>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Connector: Elbow 43">
            <a:extLst>
              <a:ext uri="{FF2B5EF4-FFF2-40B4-BE49-F238E27FC236}">
                <a16:creationId xmlns:a16="http://schemas.microsoft.com/office/drawing/2014/main" id="{267D55AC-F39D-4614-844D-A38B7317CBD7}"/>
              </a:ext>
            </a:extLst>
          </p:cNvPr>
          <p:cNvCxnSpPr>
            <a:cxnSpLocks/>
            <a:stCxn id="62" idx="3"/>
            <a:endCxn id="107" idx="2"/>
          </p:cNvCxnSpPr>
          <p:nvPr/>
        </p:nvCxnSpPr>
        <p:spPr>
          <a:xfrm flipV="1">
            <a:off x="3008912" y="2220387"/>
            <a:ext cx="4937854" cy="1173030"/>
          </a:xfrm>
          <a:prstGeom prst="bentConnector2">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BF126B92-7F48-4A0A-97B0-59EB751C7D81}"/>
              </a:ext>
            </a:extLst>
          </p:cNvPr>
          <p:cNvSpPr/>
          <p:nvPr/>
        </p:nvSpPr>
        <p:spPr>
          <a:xfrm>
            <a:off x="5872180" y="1990030"/>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onnector: Elbow 2">
            <a:extLst>
              <a:ext uri="{FF2B5EF4-FFF2-40B4-BE49-F238E27FC236}">
                <a16:creationId xmlns:a16="http://schemas.microsoft.com/office/drawing/2014/main" id="{5FF3A1C9-37B4-4BCC-B912-491AA0616140}"/>
              </a:ext>
            </a:extLst>
          </p:cNvPr>
          <p:cNvCxnSpPr>
            <a:cxnSpLocks/>
            <a:stCxn id="75" idx="3"/>
            <a:endCxn id="59" idx="1"/>
          </p:cNvCxnSpPr>
          <p:nvPr/>
        </p:nvCxnSpPr>
        <p:spPr>
          <a:xfrm flipV="1">
            <a:off x="3008912" y="2082363"/>
            <a:ext cx="2863268" cy="2468257"/>
          </a:xfrm>
          <a:prstGeom prst="bentConnector3">
            <a:avLst>
              <a:gd name="adj1" fmla="val 87923"/>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F4E71769-93FF-4CE9-98BD-39147F46FDD8}"/>
              </a:ext>
            </a:extLst>
          </p:cNvPr>
          <p:cNvSpPr/>
          <p:nvPr/>
        </p:nvSpPr>
        <p:spPr>
          <a:xfrm>
            <a:off x="6224433" y="206649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Elbow 20">
            <a:extLst>
              <a:ext uri="{FF2B5EF4-FFF2-40B4-BE49-F238E27FC236}">
                <a16:creationId xmlns:a16="http://schemas.microsoft.com/office/drawing/2014/main" id="{09AC322F-725C-4902-AF33-2545D591B585}"/>
              </a:ext>
            </a:extLst>
          </p:cNvPr>
          <p:cNvCxnSpPr>
            <a:cxnSpLocks/>
            <a:stCxn id="76" idx="3"/>
            <a:endCxn id="67" idx="2"/>
          </p:cNvCxnSpPr>
          <p:nvPr/>
        </p:nvCxnSpPr>
        <p:spPr>
          <a:xfrm flipV="1">
            <a:off x="3008912" y="2251165"/>
            <a:ext cx="3307628" cy="25764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1957CE2A-99D8-44D8-9734-0689BA366346}"/>
              </a:ext>
            </a:extLst>
          </p:cNvPr>
          <p:cNvSpPr/>
          <p:nvPr/>
        </p:nvSpPr>
        <p:spPr>
          <a:xfrm>
            <a:off x="7424970" y="189650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6132F4B4-458B-425D-A8CC-6C0C377343BF}"/>
              </a:ext>
            </a:extLst>
          </p:cNvPr>
          <p:cNvCxnSpPr>
            <a:cxnSpLocks/>
            <a:stCxn id="72" idx="0"/>
            <a:endCxn id="68" idx="0"/>
          </p:cNvCxnSpPr>
          <p:nvPr/>
        </p:nvCxnSpPr>
        <p:spPr>
          <a:xfrm rot="5400000" flipH="1" flipV="1">
            <a:off x="6332810" y="775263"/>
            <a:ext cx="63023" cy="2305511"/>
          </a:xfrm>
          <a:prstGeom prst="bentConnector3">
            <a:avLst>
              <a:gd name="adj1" fmla="val 462725"/>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F73DB915-5814-4877-A63A-A51414A90AAE}"/>
              </a:ext>
            </a:extLst>
          </p:cNvPr>
          <p:cNvSpPr/>
          <p:nvPr/>
        </p:nvSpPr>
        <p:spPr>
          <a:xfrm>
            <a:off x="5119459" y="1959529"/>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A4A62B34-C031-4C31-8714-ED441D770162}"/>
              </a:ext>
            </a:extLst>
          </p:cNvPr>
          <p:cNvSpPr/>
          <p:nvPr/>
        </p:nvSpPr>
        <p:spPr>
          <a:xfrm>
            <a:off x="1307644" y="883611"/>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240CF905-4F9D-454F-8D48-43F20DD55DC4}"/>
              </a:ext>
            </a:extLst>
          </p:cNvPr>
          <p:cNvCxnSpPr>
            <a:cxnSpLocks/>
          </p:cNvCxnSpPr>
          <p:nvPr/>
        </p:nvCxnSpPr>
        <p:spPr>
          <a:xfrm>
            <a:off x="8130235" y="2071390"/>
            <a:ext cx="517757" cy="10973"/>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172E4BCB-3CFE-4624-B918-80F09FE1A065}"/>
              </a:ext>
            </a:extLst>
          </p:cNvPr>
          <p:cNvCxnSpPr>
            <a:cxnSpLocks/>
            <a:stCxn id="30" idx="3"/>
            <a:endCxn id="80" idx="2"/>
          </p:cNvCxnSpPr>
          <p:nvPr/>
        </p:nvCxnSpPr>
        <p:spPr>
          <a:xfrm flipV="1">
            <a:off x="7568370" y="2264492"/>
            <a:ext cx="1331333" cy="1138592"/>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F67BDF6C-7760-4B6F-B10F-A30B39B19E57}"/>
              </a:ext>
            </a:extLst>
          </p:cNvPr>
          <p:cNvSpPr/>
          <p:nvPr/>
        </p:nvSpPr>
        <p:spPr>
          <a:xfrm>
            <a:off x="8787735" y="2078538"/>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descr="This figure shows the empty original list">
            <a:extLst>
              <a:ext uri="{FF2B5EF4-FFF2-40B4-BE49-F238E27FC236}">
                <a16:creationId xmlns:a16="http://schemas.microsoft.com/office/drawing/2014/main" id="{D69657FC-8373-20F1-566D-EC5F1F8804AE}"/>
              </a:ext>
            </a:extLst>
          </p:cNvPr>
          <p:cNvGrpSpPr/>
          <p:nvPr/>
        </p:nvGrpSpPr>
        <p:grpSpPr>
          <a:xfrm>
            <a:off x="231757" y="1543318"/>
            <a:ext cx="2919116" cy="923330"/>
            <a:chOff x="1894663" y="1710943"/>
            <a:chExt cx="2919116" cy="923330"/>
          </a:xfrm>
        </p:grpSpPr>
        <p:sp>
          <p:nvSpPr>
            <p:cNvPr id="77" name="TextBox 76">
              <a:extLst>
                <a:ext uri="{FF2B5EF4-FFF2-40B4-BE49-F238E27FC236}">
                  <a16:creationId xmlns:a16="http://schemas.microsoft.com/office/drawing/2014/main" id="{F2C596AB-4ABA-99E1-9801-015708B59621}"/>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78" name="TextBox 77">
              <a:extLst>
                <a:ext uri="{FF2B5EF4-FFF2-40B4-BE49-F238E27FC236}">
                  <a16:creationId xmlns:a16="http://schemas.microsoft.com/office/drawing/2014/main" id="{94D0C17F-1457-D7E9-16E3-34C0038C2A11}"/>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88" name="Rectangle 87">
              <a:extLst>
                <a:ext uri="{FF2B5EF4-FFF2-40B4-BE49-F238E27FC236}">
                  <a16:creationId xmlns:a16="http://schemas.microsoft.com/office/drawing/2014/main" id="{0E990A77-3002-AB0E-A41F-48BFA629C48A}"/>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7D98157-16AE-1948-9DF4-16D0462F5CD6}"/>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Arrow Connector 89">
              <a:extLst>
                <a:ext uri="{FF2B5EF4-FFF2-40B4-BE49-F238E27FC236}">
                  <a16:creationId xmlns:a16="http://schemas.microsoft.com/office/drawing/2014/main" id="{18E293D1-E6B6-03C7-4F6F-F0F0A8577655}"/>
                </a:ext>
              </a:extLst>
            </p:cNvPr>
            <p:cNvCxnSpPr>
              <a:stCxn id="77" idx="3"/>
              <a:endCxn id="78"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76DA2324-4FC9-E6F7-4D2C-75ED7FD762EB}"/>
                </a:ext>
              </a:extLst>
            </p:cNvPr>
            <p:cNvGrpSpPr/>
            <p:nvPr/>
          </p:nvGrpSpPr>
          <p:grpSpPr>
            <a:xfrm>
              <a:off x="4228361" y="1752675"/>
              <a:ext cx="585418" cy="632116"/>
              <a:chOff x="4658147" y="4558296"/>
              <a:chExt cx="585418" cy="632116"/>
            </a:xfrm>
          </p:grpSpPr>
          <p:sp>
            <p:nvSpPr>
              <p:cNvPr id="96" name="TextBox 95">
                <a:extLst>
                  <a:ext uri="{FF2B5EF4-FFF2-40B4-BE49-F238E27FC236}">
                    <a16:creationId xmlns:a16="http://schemas.microsoft.com/office/drawing/2014/main" id="{3DBB5E33-504E-5879-FE6D-7A1D5A9A94BC}"/>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97" name="TextBox 96">
                <a:extLst>
                  <a:ext uri="{FF2B5EF4-FFF2-40B4-BE49-F238E27FC236}">
                    <a16:creationId xmlns:a16="http://schemas.microsoft.com/office/drawing/2014/main" id="{ACA6EFF5-6AA9-E05A-848A-23183A775D41}"/>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92" name="Straight Arrow Connector 91">
              <a:extLst>
                <a:ext uri="{FF2B5EF4-FFF2-40B4-BE49-F238E27FC236}">
                  <a16:creationId xmlns:a16="http://schemas.microsoft.com/office/drawing/2014/main" id="{952952CE-34C3-903E-F59A-3E02A5463EA1}"/>
                </a:ext>
              </a:extLst>
            </p:cNvPr>
            <p:cNvCxnSpPr>
              <a:cxnSpLocks/>
            </p:cNvCxnSpPr>
            <p:nvPr/>
          </p:nvCxnSpPr>
          <p:spPr>
            <a:xfrm>
              <a:off x="3534126" y="1908065"/>
              <a:ext cx="7058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E0BDFF2-DC62-A547-B6D2-C05BB62FF5BC}"/>
                </a:ext>
              </a:extLst>
            </p:cNvPr>
            <p:cNvCxnSpPr>
              <a:cxnSpLocks/>
              <a:stCxn id="95"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73407CB7-79EA-7BC4-052A-F188AA0BE786}"/>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EAB5976-50AC-AA28-5887-9C79FD2F3305}"/>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9" name="TextBox 98">
            <a:extLst>
              <a:ext uri="{FF2B5EF4-FFF2-40B4-BE49-F238E27FC236}">
                <a16:creationId xmlns:a16="http://schemas.microsoft.com/office/drawing/2014/main" id="{277389C6-6C19-6A81-E1B9-1AC5D6454D72}"/>
              </a:ext>
            </a:extLst>
          </p:cNvPr>
          <p:cNvSpPr txBox="1"/>
          <p:nvPr/>
        </p:nvSpPr>
        <p:spPr>
          <a:xfrm>
            <a:off x="8982259" y="1912006"/>
            <a:ext cx="636356" cy="307777"/>
          </a:xfrm>
          <a:prstGeom prst="rect">
            <a:avLst/>
          </a:prstGeom>
          <a:noFill/>
        </p:spPr>
        <p:txBody>
          <a:bodyPr wrap="square">
            <a:spAutoFit/>
          </a:bodyPr>
          <a:lstStyle/>
          <a:p>
            <a:r>
              <a:rPr lang="en-US" sz="1400" b="1" dirty="0">
                <a:solidFill>
                  <a:srgbClr val="FF0000"/>
                </a:solidFill>
              </a:rPr>
              <a:t>None</a:t>
            </a:r>
          </a:p>
        </p:txBody>
      </p:sp>
      <p:sp>
        <p:nvSpPr>
          <p:cNvPr id="100" name="TextBox 99">
            <a:extLst>
              <a:ext uri="{FF2B5EF4-FFF2-40B4-BE49-F238E27FC236}">
                <a16:creationId xmlns:a16="http://schemas.microsoft.com/office/drawing/2014/main" id="{7AD86244-0A15-E54E-543F-3BC08C0D2DCA}"/>
              </a:ext>
            </a:extLst>
          </p:cNvPr>
          <p:cNvSpPr txBox="1"/>
          <p:nvPr/>
        </p:nvSpPr>
        <p:spPr>
          <a:xfrm>
            <a:off x="9066696" y="843595"/>
            <a:ext cx="1191801" cy="369332"/>
          </a:xfrm>
          <a:prstGeom prst="rect">
            <a:avLst/>
          </a:prstGeom>
          <a:noFill/>
          <a:ln>
            <a:noFill/>
          </a:ln>
        </p:spPr>
        <p:txBody>
          <a:bodyPr wrap="none" rtlCol="0">
            <a:spAutoFit/>
          </a:bodyPr>
          <a:lstStyle/>
          <a:p>
            <a:r>
              <a:rPr lang="en-US" dirty="0" err="1"/>
              <a:t>next_node</a:t>
            </a:r>
            <a:endParaRPr lang="en-US" dirty="0"/>
          </a:p>
        </p:txBody>
      </p:sp>
      <p:cxnSp>
        <p:nvCxnSpPr>
          <p:cNvPr id="101" name="Straight Arrow Connector 100">
            <a:extLst>
              <a:ext uri="{FF2B5EF4-FFF2-40B4-BE49-F238E27FC236}">
                <a16:creationId xmlns:a16="http://schemas.microsoft.com/office/drawing/2014/main" id="{3E110872-F796-1FD3-571A-E4851569C571}"/>
              </a:ext>
            </a:extLst>
          </p:cNvPr>
          <p:cNvCxnSpPr>
            <a:cxnSpLocks/>
            <a:stCxn id="100" idx="2"/>
          </p:cNvCxnSpPr>
          <p:nvPr/>
        </p:nvCxnSpPr>
        <p:spPr>
          <a:xfrm>
            <a:off x="9662597" y="1212927"/>
            <a:ext cx="375966" cy="4531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344A3C9E-D247-3316-CB72-FE304E081C19}"/>
              </a:ext>
            </a:extLst>
          </p:cNvPr>
          <p:cNvCxnSpPr>
            <a:cxnSpLocks/>
            <a:stCxn id="100" idx="2"/>
          </p:cNvCxnSpPr>
          <p:nvPr/>
        </p:nvCxnSpPr>
        <p:spPr>
          <a:xfrm flipH="1">
            <a:off x="9121722" y="1212927"/>
            <a:ext cx="540875" cy="599658"/>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281BA1C7-F2CD-8435-0135-0BCE8CDD0353}"/>
              </a:ext>
            </a:extLst>
          </p:cNvPr>
          <p:cNvSpPr txBox="1"/>
          <p:nvPr/>
        </p:nvSpPr>
        <p:spPr>
          <a:xfrm>
            <a:off x="6218653" y="1956715"/>
            <a:ext cx="636356" cy="307777"/>
          </a:xfrm>
          <a:prstGeom prst="rect">
            <a:avLst/>
          </a:prstGeom>
          <a:noFill/>
        </p:spPr>
        <p:txBody>
          <a:bodyPr wrap="square">
            <a:spAutoFit/>
          </a:bodyPr>
          <a:lstStyle/>
          <a:p>
            <a:r>
              <a:rPr lang="en-US" sz="1400" b="1" dirty="0"/>
              <a:t>None</a:t>
            </a:r>
          </a:p>
        </p:txBody>
      </p:sp>
      <p:sp>
        <p:nvSpPr>
          <p:cNvPr id="107" name="TextBox 106">
            <a:extLst>
              <a:ext uri="{FF2B5EF4-FFF2-40B4-BE49-F238E27FC236}">
                <a16:creationId xmlns:a16="http://schemas.microsoft.com/office/drawing/2014/main" id="{F82CCA78-9447-4859-4B7C-5B68B88CDB3F}"/>
              </a:ext>
            </a:extLst>
          </p:cNvPr>
          <p:cNvSpPr txBox="1"/>
          <p:nvPr/>
        </p:nvSpPr>
        <p:spPr>
          <a:xfrm>
            <a:off x="7628588" y="1912610"/>
            <a:ext cx="636356" cy="307777"/>
          </a:xfrm>
          <a:prstGeom prst="rect">
            <a:avLst/>
          </a:prstGeom>
          <a:noFill/>
        </p:spPr>
        <p:txBody>
          <a:bodyPr wrap="square">
            <a:spAutoFit/>
          </a:bodyPr>
          <a:lstStyle/>
          <a:p>
            <a:r>
              <a:rPr lang="en-US" sz="1400" b="1" dirty="0">
                <a:solidFill>
                  <a:schemeClr val="bg2">
                    <a:lumMod val="75000"/>
                  </a:schemeClr>
                </a:solidFill>
              </a:rPr>
              <a:t>None</a:t>
            </a:r>
          </a:p>
        </p:txBody>
      </p:sp>
      <p:sp>
        <p:nvSpPr>
          <p:cNvPr id="108" name="TextBox 107">
            <a:extLst>
              <a:ext uri="{FF2B5EF4-FFF2-40B4-BE49-F238E27FC236}">
                <a16:creationId xmlns:a16="http://schemas.microsoft.com/office/drawing/2014/main" id="{9954E685-044F-63F4-DBC0-C8F5750C5587}"/>
              </a:ext>
            </a:extLst>
          </p:cNvPr>
          <p:cNvSpPr txBox="1"/>
          <p:nvPr/>
        </p:nvSpPr>
        <p:spPr>
          <a:xfrm>
            <a:off x="9861366" y="1709384"/>
            <a:ext cx="636356" cy="307777"/>
          </a:xfrm>
          <a:prstGeom prst="rect">
            <a:avLst/>
          </a:prstGeom>
          <a:noFill/>
          <a:ln>
            <a:solidFill>
              <a:schemeClr val="accent1"/>
            </a:solidFill>
          </a:ln>
        </p:spPr>
        <p:txBody>
          <a:bodyPr wrap="square">
            <a:spAutoFit/>
          </a:bodyPr>
          <a:lstStyle/>
          <a:p>
            <a:r>
              <a:rPr lang="en-US" sz="1400" b="1" dirty="0"/>
              <a:t>None</a:t>
            </a:r>
          </a:p>
        </p:txBody>
      </p:sp>
      <p:grpSp>
        <p:nvGrpSpPr>
          <p:cNvPr id="109" name="Group 108">
            <a:extLst>
              <a:ext uri="{FF2B5EF4-FFF2-40B4-BE49-F238E27FC236}">
                <a16:creationId xmlns:a16="http://schemas.microsoft.com/office/drawing/2014/main" id="{41D62B4A-1EC1-2422-CE6F-5E5F3CAD4FE4}"/>
              </a:ext>
            </a:extLst>
          </p:cNvPr>
          <p:cNvGrpSpPr/>
          <p:nvPr/>
        </p:nvGrpSpPr>
        <p:grpSpPr>
          <a:xfrm>
            <a:off x="450423" y="5595254"/>
            <a:ext cx="3192509" cy="948446"/>
            <a:chOff x="279606" y="5645073"/>
            <a:chExt cx="3192509" cy="948446"/>
          </a:xfrm>
        </p:grpSpPr>
        <p:grpSp>
          <p:nvGrpSpPr>
            <p:cNvPr id="110" name="Group 109">
              <a:extLst>
                <a:ext uri="{FF2B5EF4-FFF2-40B4-BE49-F238E27FC236}">
                  <a16:creationId xmlns:a16="http://schemas.microsoft.com/office/drawing/2014/main" id="{D0D52838-BB06-C688-8B9C-BC085133D5F6}"/>
                </a:ext>
              </a:extLst>
            </p:cNvPr>
            <p:cNvGrpSpPr/>
            <p:nvPr/>
          </p:nvGrpSpPr>
          <p:grpSpPr>
            <a:xfrm>
              <a:off x="378739" y="5645073"/>
              <a:ext cx="3093376" cy="369332"/>
              <a:chOff x="4680011" y="1838933"/>
              <a:chExt cx="3093376" cy="369332"/>
            </a:xfrm>
          </p:grpSpPr>
          <p:sp>
            <p:nvSpPr>
              <p:cNvPr id="118" name="TextBox 117">
                <a:extLst>
                  <a:ext uri="{FF2B5EF4-FFF2-40B4-BE49-F238E27FC236}">
                    <a16:creationId xmlns:a16="http://schemas.microsoft.com/office/drawing/2014/main" id="{C3E58ED7-0847-E988-B07D-512B24E1B963}"/>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119" name="Straight Arrow Connector 118">
                <a:extLst>
                  <a:ext uri="{FF2B5EF4-FFF2-40B4-BE49-F238E27FC236}">
                    <a16:creationId xmlns:a16="http://schemas.microsoft.com/office/drawing/2014/main" id="{2BFE5527-4C05-F8B2-C5B2-EACEFC34AFDA}"/>
                  </a:ext>
                </a:extLst>
              </p:cNvPr>
              <p:cNvCxnSpPr>
                <a:cxnSpLocks/>
                <a:endCxn id="118"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8343DC1C-248D-2F8A-DAA2-DDB427EF8F69}"/>
                </a:ext>
              </a:extLst>
            </p:cNvPr>
            <p:cNvGrpSpPr/>
            <p:nvPr/>
          </p:nvGrpSpPr>
          <p:grpSpPr>
            <a:xfrm>
              <a:off x="378739" y="5934630"/>
              <a:ext cx="2699807" cy="369332"/>
              <a:chOff x="4680011" y="2100359"/>
              <a:chExt cx="2699807" cy="369332"/>
            </a:xfrm>
          </p:grpSpPr>
          <p:sp>
            <p:nvSpPr>
              <p:cNvPr id="116" name="TextBox 115">
                <a:extLst>
                  <a:ext uri="{FF2B5EF4-FFF2-40B4-BE49-F238E27FC236}">
                    <a16:creationId xmlns:a16="http://schemas.microsoft.com/office/drawing/2014/main" id="{2C3DC334-5F05-B59E-8A34-0A94AD9F1953}"/>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117" name="Straight Arrow Connector 116">
                <a:extLst>
                  <a:ext uri="{FF2B5EF4-FFF2-40B4-BE49-F238E27FC236}">
                    <a16:creationId xmlns:a16="http://schemas.microsoft.com/office/drawing/2014/main" id="{8A6A0FE7-B967-6A29-8820-390B40B7517C}"/>
                  </a:ext>
                </a:extLst>
              </p:cNvPr>
              <p:cNvCxnSpPr>
                <a:cxnSpLocks/>
                <a:endCxn id="116"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02296834-ACD7-5579-B6B2-72BD5AF8524F}"/>
                </a:ext>
              </a:extLst>
            </p:cNvPr>
            <p:cNvGrpSpPr/>
            <p:nvPr/>
          </p:nvGrpSpPr>
          <p:grpSpPr>
            <a:xfrm>
              <a:off x="378739" y="6224187"/>
              <a:ext cx="2337271" cy="369332"/>
              <a:chOff x="4758431" y="3161942"/>
              <a:chExt cx="2337271" cy="369332"/>
            </a:xfrm>
          </p:grpSpPr>
          <p:sp>
            <p:nvSpPr>
              <p:cNvPr id="114" name="TextBox 113">
                <a:extLst>
                  <a:ext uri="{FF2B5EF4-FFF2-40B4-BE49-F238E27FC236}">
                    <a16:creationId xmlns:a16="http://schemas.microsoft.com/office/drawing/2014/main" id="{04ABA920-91EA-4FA5-DD92-91BDF91139F5}"/>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115" name="Straight Arrow Connector 114">
                <a:extLst>
                  <a:ext uri="{FF2B5EF4-FFF2-40B4-BE49-F238E27FC236}">
                    <a16:creationId xmlns:a16="http://schemas.microsoft.com/office/drawing/2014/main" id="{9CAF489D-2DE6-4234-B5B9-3F9F3AD08F36}"/>
                  </a:ext>
                </a:extLst>
              </p:cNvPr>
              <p:cNvCxnSpPr>
                <a:cxnSpLocks/>
                <a:endCxn id="114"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113" name="Rectangle 112">
              <a:extLst>
                <a:ext uri="{FF2B5EF4-FFF2-40B4-BE49-F238E27FC236}">
                  <a16:creationId xmlns:a16="http://schemas.microsoft.com/office/drawing/2014/main" id="{D49DE4D5-6FF5-5DE5-7436-0579093B9087}"/>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Oval 15">
            <a:extLst>
              <a:ext uri="{FF2B5EF4-FFF2-40B4-BE49-F238E27FC236}">
                <a16:creationId xmlns:a16="http://schemas.microsoft.com/office/drawing/2014/main" id="{B4936892-5976-B823-D190-F24CA9D5E5ED}"/>
              </a:ext>
            </a:extLst>
          </p:cNvPr>
          <p:cNvSpPr/>
          <p:nvPr/>
        </p:nvSpPr>
        <p:spPr>
          <a:xfrm>
            <a:off x="9485400" y="1504550"/>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17" name="Oval 16">
            <a:extLst>
              <a:ext uri="{FF2B5EF4-FFF2-40B4-BE49-F238E27FC236}">
                <a16:creationId xmlns:a16="http://schemas.microsoft.com/office/drawing/2014/main" id="{ACB55936-9065-5FD7-4813-F29C5CA553DC}"/>
              </a:ext>
            </a:extLst>
          </p:cNvPr>
          <p:cNvSpPr/>
          <p:nvPr/>
        </p:nvSpPr>
        <p:spPr>
          <a:xfrm>
            <a:off x="9168830" y="231461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8" name="Oval 17">
            <a:extLst>
              <a:ext uri="{FF2B5EF4-FFF2-40B4-BE49-F238E27FC236}">
                <a16:creationId xmlns:a16="http://schemas.microsoft.com/office/drawing/2014/main" id="{F3404E75-CB66-D648-F67A-56A104C86D15}"/>
              </a:ext>
            </a:extLst>
          </p:cNvPr>
          <p:cNvSpPr/>
          <p:nvPr/>
        </p:nvSpPr>
        <p:spPr>
          <a:xfrm>
            <a:off x="8164946" y="2191868"/>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9" name="Oval 18">
            <a:extLst>
              <a:ext uri="{FF2B5EF4-FFF2-40B4-BE49-F238E27FC236}">
                <a16:creationId xmlns:a16="http://schemas.microsoft.com/office/drawing/2014/main" id="{346A9520-A3D1-5F94-A48D-A7918DD5F7D5}"/>
              </a:ext>
            </a:extLst>
          </p:cNvPr>
          <p:cNvSpPr/>
          <p:nvPr/>
        </p:nvSpPr>
        <p:spPr>
          <a:xfrm>
            <a:off x="6532083" y="3587730"/>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22" name="Oval 21">
            <a:extLst>
              <a:ext uri="{FF2B5EF4-FFF2-40B4-BE49-F238E27FC236}">
                <a16:creationId xmlns:a16="http://schemas.microsoft.com/office/drawing/2014/main" id="{7395D1D2-2F8A-FF34-2724-E76AD559FDF5}"/>
              </a:ext>
            </a:extLst>
          </p:cNvPr>
          <p:cNvSpPr/>
          <p:nvPr/>
        </p:nvSpPr>
        <p:spPr>
          <a:xfrm>
            <a:off x="6532083" y="392813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23" name="Oval 22">
            <a:extLst>
              <a:ext uri="{FF2B5EF4-FFF2-40B4-BE49-F238E27FC236}">
                <a16:creationId xmlns:a16="http://schemas.microsoft.com/office/drawing/2014/main" id="{68DC54FA-1E7D-21E3-6F19-B6EE1720F9F4}"/>
              </a:ext>
            </a:extLst>
          </p:cNvPr>
          <p:cNvSpPr/>
          <p:nvPr/>
        </p:nvSpPr>
        <p:spPr>
          <a:xfrm>
            <a:off x="7365942" y="5565191"/>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24" name="Oval 23">
            <a:extLst>
              <a:ext uri="{FF2B5EF4-FFF2-40B4-BE49-F238E27FC236}">
                <a16:creationId xmlns:a16="http://schemas.microsoft.com/office/drawing/2014/main" id="{19542961-0079-F251-AD62-D8854556CB37}"/>
              </a:ext>
            </a:extLst>
          </p:cNvPr>
          <p:cNvSpPr/>
          <p:nvPr/>
        </p:nvSpPr>
        <p:spPr>
          <a:xfrm>
            <a:off x="7365942" y="5917598"/>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25" name="Oval 24">
            <a:extLst>
              <a:ext uri="{FF2B5EF4-FFF2-40B4-BE49-F238E27FC236}">
                <a16:creationId xmlns:a16="http://schemas.microsoft.com/office/drawing/2014/main" id="{C5D107F0-DD7A-60EA-07A2-AAEACB686D3D}"/>
              </a:ext>
            </a:extLst>
          </p:cNvPr>
          <p:cNvSpPr/>
          <p:nvPr/>
        </p:nvSpPr>
        <p:spPr>
          <a:xfrm>
            <a:off x="8547821" y="3080264"/>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28" name="Oval 27">
            <a:extLst>
              <a:ext uri="{FF2B5EF4-FFF2-40B4-BE49-F238E27FC236}">
                <a16:creationId xmlns:a16="http://schemas.microsoft.com/office/drawing/2014/main" id="{F9A27DF0-9555-A354-158C-81CE5AEE4486}"/>
              </a:ext>
            </a:extLst>
          </p:cNvPr>
          <p:cNvSpPr/>
          <p:nvPr/>
        </p:nvSpPr>
        <p:spPr>
          <a:xfrm>
            <a:off x="3325509" y="3920996"/>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9" name="Oval 28">
            <a:extLst>
              <a:ext uri="{FF2B5EF4-FFF2-40B4-BE49-F238E27FC236}">
                <a16:creationId xmlns:a16="http://schemas.microsoft.com/office/drawing/2014/main" id="{E085B6E9-C814-74FA-CF2E-719CF0989E3B}"/>
              </a:ext>
            </a:extLst>
          </p:cNvPr>
          <p:cNvSpPr/>
          <p:nvPr/>
        </p:nvSpPr>
        <p:spPr>
          <a:xfrm>
            <a:off x="7136851" y="6236817"/>
            <a:ext cx="263214" cy="276999"/>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Tree>
    <p:extLst>
      <p:ext uri="{BB962C8B-B14F-4D97-AF65-F5344CB8AC3E}">
        <p14:creationId xmlns:p14="http://schemas.microsoft.com/office/powerpoint/2010/main" val="121488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descr="The node with value 10 is now at the head of the evensList and points to the node with value 14. ">
            <a:extLst>
              <a:ext uri="{FF2B5EF4-FFF2-40B4-BE49-F238E27FC236}">
                <a16:creationId xmlns:a16="http://schemas.microsoft.com/office/drawing/2014/main" id="{5DD54024-0FA6-4B0A-80C0-89C1918A30D1}"/>
              </a:ext>
            </a:extLst>
          </p:cNvPr>
          <p:cNvGrpSpPr/>
          <p:nvPr/>
        </p:nvGrpSpPr>
        <p:grpSpPr>
          <a:xfrm>
            <a:off x="4692394" y="3211228"/>
            <a:ext cx="837408" cy="369332"/>
            <a:chOff x="5327780" y="2034073"/>
            <a:chExt cx="837408" cy="369332"/>
          </a:xfrm>
        </p:grpSpPr>
        <p:sp>
          <p:nvSpPr>
            <p:cNvPr id="7" name="TextBox 6">
              <a:extLst>
                <a:ext uri="{FF2B5EF4-FFF2-40B4-BE49-F238E27FC236}">
                  <a16:creationId xmlns:a16="http://schemas.microsoft.com/office/drawing/2014/main" id="{792B5BFC-99D4-4383-9745-6E80D0A1C8E6}"/>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10</a:t>
              </a:r>
            </a:p>
          </p:txBody>
        </p:sp>
        <p:sp>
          <p:nvSpPr>
            <p:cNvPr id="8" name="Rectangle 7">
              <a:extLst>
                <a:ext uri="{FF2B5EF4-FFF2-40B4-BE49-F238E27FC236}">
                  <a16:creationId xmlns:a16="http://schemas.microsoft.com/office/drawing/2014/main" id="{42F07108-DC4B-4895-AE68-5A68445AECB9}"/>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descr="The node with value 13 is now the only node in the oddsList. ">
            <a:extLst>
              <a:ext uri="{FF2B5EF4-FFF2-40B4-BE49-F238E27FC236}">
                <a16:creationId xmlns:a16="http://schemas.microsoft.com/office/drawing/2014/main" id="{4666D4FE-5B5C-4459-A6CC-4806EAED419B}"/>
              </a:ext>
            </a:extLst>
          </p:cNvPr>
          <p:cNvGrpSpPr/>
          <p:nvPr/>
        </p:nvGrpSpPr>
        <p:grpSpPr>
          <a:xfrm>
            <a:off x="4666771" y="4665931"/>
            <a:ext cx="837408" cy="369332"/>
            <a:chOff x="5327780" y="2034073"/>
            <a:chExt cx="837408" cy="369332"/>
          </a:xfrm>
        </p:grpSpPr>
        <p:sp>
          <p:nvSpPr>
            <p:cNvPr id="11" name="TextBox 10">
              <a:extLst>
                <a:ext uri="{FF2B5EF4-FFF2-40B4-BE49-F238E27FC236}">
                  <a16:creationId xmlns:a16="http://schemas.microsoft.com/office/drawing/2014/main" id="{DB8B81A6-B40B-42A8-BCCB-23FD5F2601AE}"/>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13</a:t>
              </a:r>
            </a:p>
          </p:txBody>
        </p:sp>
        <p:sp>
          <p:nvSpPr>
            <p:cNvPr id="12" name="Rectangle 11">
              <a:extLst>
                <a:ext uri="{FF2B5EF4-FFF2-40B4-BE49-F238E27FC236}">
                  <a16:creationId xmlns:a16="http://schemas.microsoft.com/office/drawing/2014/main" id="{1439C19C-AC43-45F0-83F6-55E0D097F76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descr="The node with value 14 is being referenced by the node with value 10 and its next pointer is referencing the node with value 18. ">
            <a:extLst>
              <a:ext uri="{FF2B5EF4-FFF2-40B4-BE49-F238E27FC236}">
                <a16:creationId xmlns:a16="http://schemas.microsoft.com/office/drawing/2014/main" id="{78FAFC49-D14E-4702-91EB-44670C059031}"/>
              </a:ext>
            </a:extLst>
          </p:cNvPr>
          <p:cNvGrpSpPr/>
          <p:nvPr/>
        </p:nvGrpSpPr>
        <p:grpSpPr>
          <a:xfrm>
            <a:off x="6101568" y="3213863"/>
            <a:ext cx="837408" cy="369332"/>
            <a:chOff x="5327780" y="2034073"/>
            <a:chExt cx="837408" cy="369332"/>
          </a:xfrm>
        </p:grpSpPr>
        <p:sp>
          <p:nvSpPr>
            <p:cNvPr id="14" name="TextBox 13">
              <a:extLst>
                <a:ext uri="{FF2B5EF4-FFF2-40B4-BE49-F238E27FC236}">
                  <a16:creationId xmlns:a16="http://schemas.microsoft.com/office/drawing/2014/main" id="{81E7CF3E-0383-4211-BE35-85E1C3018929}"/>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14</a:t>
              </a:r>
            </a:p>
          </p:txBody>
        </p:sp>
        <p:sp>
          <p:nvSpPr>
            <p:cNvPr id="15" name="Rectangle 14">
              <a:extLst>
                <a:ext uri="{FF2B5EF4-FFF2-40B4-BE49-F238E27FC236}">
                  <a16:creationId xmlns:a16="http://schemas.microsoft.com/office/drawing/2014/main" id="{DEC6AB36-1AA6-4834-9871-67ECA5CCD3A2}"/>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E2E4AEA-41E6-4371-991A-E1B9BFF03A8B}"/>
              </a:ext>
            </a:extLst>
          </p:cNvPr>
          <p:cNvSpPr/>
          <p:nvPr/>
        </p:nvSpPr>
        <p:spPr>
          <a:xfrm>
            <a:off x="8157464" y="2230903"/>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descr="The head pointer of the evensList is referencing the node with the value 10. It's tail pointer is referencing the node with value 18. Its count is 3. The values of all the nodes in this list are even. ">
            <a:extLst>
              <a:ext uri="{FF2B5EF4-FFF2-40B4-BE49-F238E27FC236}">
                <a16:creationId xmlns:a16="http://schemas.microsoft.com/office/drawing/2014/main" id="{5B7DF3C0-759F-4156-9C70-2495727DD711}"/>
              </a:ext>
            </a:extLst>
          </p:cNvPr>
          <p:cNvSpPr txBox="1"/>
          <p:nvPr/>
        </p:nvSpPr>
        <p:spPr>
          <a:xfrm>
            <a:off x="3338979" y="3079101"/>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3 </a:t>
            </a:r>
          </a:p>
        </p:txBody>
      </p:sp>
      <p:sp>
        <p:nvSpPr>
          <p:cNvPr id="50" name="TextBox 49">
            <a:extLst>
              <a:ext uri="{FF2B5EF4-FFF2-40B4-BE49-F238E27FC236}">
                <a16:creationId xmlns:a16="http://schemas.microsoft.com/office/drawing/2014/main" id="{D83F8BF1-3BF5-40FE-AA87-051F1A18AC81}"/>
              </a:ext>
            </a:extLst>
          </p:cNvPr>
          <p:cNvSpPr txBox="1"/>
          <p:nvPr/>
        </p:nvSpPr>
        <p:spPr>
          <a:xfrm>
            <a:off x="1744030" y="3171434"/>
            <a:ext cx="1042721" cy="369332"/>
          </a:xfrm>
          <a:prstGeom prst="rect">
            <a:avLst/>
          </a:prstGeom>
          <a:noFill/>
        </p:spPr>
        <p:txBody>
          <a:bodyPr wrap="none" rtlCol="0">
            <a:spAutoFit/>
          </a:bodyPr>
          <a:lstStyle/>
          <a:p>
            <a:r>
              <a:rPr lang="en-US" dirty="0" err="1"/>
              <a:t>evensList</a:t>
            </a:r>
            <a:endParaRPr lang="en-US" dirty="0"/>
          </a:p>
        </p:txBody>
      </p:sp>
      <p:cxnSp>
        <p:nvCxnSpPr>
          <p:cNvPr id="52" name="Straight Arrow Connector 51">
            <a:extLst>
              <a:ext uri="{FF2B5EF4-FFF2-40B4-BE49-F238E27FC236}">
                <a16:creationId xmlns:a16="http://schemas.microsoft.com/office/drawing/2014/main" id="{3C35868B-A7E6-48FE-9EEC-A931828A0D57}"/>
              </a:ext>
            </a:extLst>
          </p:cNvPr>
          <p:cNvCxnSpPr>
            <a:stCxn id="50" idx="3"/>
            <a:endCxn id="49" idx="1"/>
          </p:cNvCxnSpPr>
          <p:nvPr/>
        </p:nvCxnSpPr>
        <p:spPr>
          <a:xfrm>
            <a:off x="2786751" y="3356100"/>
            <a:ext cx="552228" cy="1846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descr="This shows that the oddsList ended up with one node, the node with the value 13. ">
            <a:extLst>
              <a:ext uri="{FF2B5EF4-FFF2-40B4-BE49-F238E27FC236}">
                <a16:creationId xmlns:a16="http://schemas.microsoft.com/office/drawing/2014/main" id="{B026C760-1433-4994-951F-A89EE9F55E5F}"/>
              </a:ext>
            </a:extLst>
          </p:cNvPr>
          <p:cNvSpPr txBox="1"/>
          <p:nvPr/>
        </p:nvSpPr>
        <p:spPr>
          <a:xfrm>
            <a:off x="3313651" y="4505625"/>
            <a:ext cx="890757"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1</a:t>
            </a:r>
          </a:p>
        </p:txBody>
      </p:sp>
      <p:sp>
        <p:nvSpPr>
          <p:cNvPr id="54" name="TextBox 53">
            <a:extLst>
              <a:ext uri="{FF2B5EF4-FFF2-40B4-BE49-F238E27FC236}">
                <a16:creationId xmlns:a16="http://schemas.microsoft.com/office/drawing/2014/main" id="{B4B22E1C-3658-43CF-87EB-0BBA2BD07290}"/>
              </a:ext>
            </a:extLst>
          </p:cNvPr>
          <p:cNvSpPr txBox="1"/>
          <p:nvPr/>
        </p:nvSpPr>
        <p:spPr>
          <a:xfrm>
            <a:off x="1744030" y="4597958"/>
            <a:ext cx="954749" cy="369332"/>
          </a:xfrm>
          <a:prstGeom prst="rect">
            <a:avLst/>
          </a:prstGeom>
          <a:noFill/>
        </p:spPr>
        <p:txBody>
          <a:bodyPr wrap="none" rtlCol="0">
            <a:spAutoFit/>
          </a:bodyPr>
          <a:lstStyle/>
          <a:p>
            <a:r>
              <a:rPr lang="en-US" dirty="0" err="1"/>
              <a:t>oddsList</a:t>
            </a:r>
            <a:endParaRPr lang="en-US" dirty="0"/>
          </a:p>
        </p:txBody>
      </p:sp>
      <p:cxnSp>
        <p:nvCxnSpPr>
          <p:cNvPr id="55" name="Straight Arrow Connector 54">
            <a:extLst>
              <a:ext uri="{FF2B5EF4-FFF2-40B4-BE49-F238E27FC236}">
                <a16:creationId xmlns:a16="http://schemas.microsoft.com/office/drawing/2014/main" id="{BFFD2841-16CD-4180-98A4-15DE13CCD1FC}"/>
              </a:ext>
            </a:extLst>
          </p:cNvPr>
          <p:cNvCxnSpPr>
            <a:stCxn id="54" idx="3"/>
            <a:endCxn id="53" idx="1"/>
          </p:cNvCxnSpPr>
          <p:nvPr/>
        </p:nvCxnSpPr>
        <p:spPr>
          <a:xfrm>
            <a:off x="2698779" y="4782624"/>
            <a:ext cx="614872"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3D3CECE-820D-437B-BADC-C84FB6D55C45}"/>
              </a:ext>
            </a:extLst>
          </p:cNvPr>
          <p:cNvSpPr txBox="1"/>
          <p:nvPr/>
        </p:nvSpPr>
        <p:spPr>
          <a:xfrm>
            <a:off x="7097842" y="1762670"/>
            <a:ext cx="873637" cy="369332"/>
          </a:xfrm>
          <a:prstGeom prst="rect">
            <a:avLst/>
          </a:prstGeom>
          <a:noFill/>
        </p:spPr>
        <p:txBody>
          <a:bodyPr wrap="none" rtlCol="0">
            <a:spAutoFit/>
          </a:bodyPr>
          <a:lstStyle/>
          <a:p>
            <a:r>
              <a:rPr lang="en-US" dirty="0"/>
              <a:t>current</a:t>
            </a:r>
          </a:p>
        </p:txBody>
      </p:sp>
      <p:cxnSp>
        <p:nvCxnSpPr>
          <p:cNvPr id="58" name="Straight Arrow Connector 57">
            <a:extLst>
              <a:ext uri="{FF2B5EF4-FFF2-40B4-BE49-F238E27FC236}">
                <a16:creationId xmlns:a16="http://schemas.microsoft.com/office/drawing/2014/main" id="{3BED915F-60A0-480B-A1A5-A8D9CE23C21C}"/>
              </a:ext>
            </a:extLst>
          </p:cNvPr>
          <p:cNvCxnSpPr>
            <a:cxnSpLocks/>
            <a:stCxn id="56" idx="2"/>
          </p:cNvCxnSpPr>
          <p:nvPr/>
        </p:nvCxnSpPr>
        <p:spPr>
          <a:xfrm>
            <a:off x="7534661" y="2132002"/>
            <a:ext cx="514701" cy="979691"/>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12B4E316-46E9-40F5-A68E-C79A22B98903}"/>
              </a:ext>
            </a:extLst>
          </p:cNvPr>
          <p:cNvSpPr/>
          <p:nvPr/>
        </p:nvSpPr>
        <p:spPr>
          <a:xfrm>
            <a:off x="3634321" y="3448433"/>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87D46C9-5C6A-4B11-9279-8275D2A4482D}"/>
              </a:ext>
            </a:extLst>
          </p:cNvPr>
          <p:cNvSpPr/>
          <p:nvPr/>
        </p:nvSpPr>
        <p:spPr>
          <a:xfrm>
            <a:off x="3634321" y="4605636"/>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E0812C8-54C2-4126-9F08-95E04988E229}"/>
              </a:ext>
            </a:extLst>
          </p:cNvPr>
          <p:cNvSpPr/>
          <p:nvPr/>
        </p:nvSpPr>
        <p:spPr>
          <a:xfrm>
            <a:off x="3634321" y="4882635"/>
            <a:ext cx="184213"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9628C0B-D8A0-4FC7-98F7-6DE8E1E306EA}"/>
              </a:ext>
            </a:extLst>
          </p:cNvPr>
          <p:cNvSpPr txBox="1"/>
          <p:nvPr/>
        </p:nvSpPr>
        <p:spPr>
          <a:xfrm>
            <a:off x="404143" y="339150"/>
            <a:ext cx="5149871" cy="461665"/>
          </a:xfrm>
          <a:prstGeom prst="rect">
            <a:avLst/>
          </a:prstGeom>
          <a:noFill/>
        </p:spPr>
        <p:txBody>
          <a:bodyPr wrap="none" rtlCol="0">
            <a:spAutoFit/>
          </a:bodyPr>
          <a:lstStyle/>
          <a:p>
            <a:r>
              <a:rPr lang="en-US" sz="2400" dirty="0"/>
              <a:t>Effect of adding node 18 to </a:t>
            </a:r>
            <a:r>
              <a:rPr lang="en-US" sz="2200" b="1" dirty="0" err="1">
                <a:latin typeface="Courier New" panose="02070309020205020404" pitchFamily="49" charset="0"/>
                <a:cs typeface="Courier New" panose="02070309020205020404" pitchFamily="49" charset="0"/>
              </a:rPr>
              <a:t>evensList</a:t>
            </a:r>
            <a:endParaRPr lang="en-US" sz="2200" b="1" dirty="0">
              <a:latin typeface="Courier New" panose="02070309020205020404" pitchFamily="49" charset="0"/>
              <a:cs typeface="Courier New" panose="02070309020205020404" pitchFamily="49" charset="0"/>
            </a:endParaRPr>
          </a:p>
        </p:txBody>
      </p:sp>
      <p:sp>
        <p:nvSpPr>
          <p:cNvPr id="51" name="Rectangle 50">
            <a:extLst>
              <a:ext uri="{FF2B5EF4-FFF2-40B4-BE49-F238E27FC236}">
                <a16:creationId xmlns:a16="http://schemas.microsoft.com/office/drawing/2014/main" id="{72B536CB-E470-4958-A9F2-86ED980F3E2F}"/>
              </a:ext>
            </a:extLst>
          </p:cNvPr>
          <p:cNvSpPr/>
          <p:nvPr/>
        </p:nvSpPr>
        <p:spPr>
          <a:xfrm>
            <a:off x="6384372" y="3209940"/>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descr="This node with value 18 is now at the end of the evensList. It is referenced by the node with value 14. ">
            <a:extLst>
              <a:ext uri="{FF2B5EF4-FFF2-40B4-BE49-F238E27FC236}">
                <a16:creationId xmlns:a16="http://schemas.microsoft.com/office/drawing/2014/main" id="{9E0AED43-7C17-4C80-A567-137193B013AA}"/>
              </a:ext>
            </a:extLst>
          </p:cNvPr>
          <p:cNvGrpSpPr/>
          <p:nvPr/>
        </p:nvGrpSpPr>
        <p:grpSpPr>
          <a:xfrm>
            <a:off x="7630658" y="3209940"/>
            <a:ext cx="837408" cy="369332"/>
            <a:chOff x="5327780" y="2034073"/>
            <a:chExt cx="837408" cy="369332"/>
          </a:xfrm>
        </p:grpSpPr>
        <p:sp>
          <p:nvSpPr>
            <p:cNvPr id="63" name="TextBox 62">
              <a:extLst>
                <a:ext uri="{FF2B5EF4-FFF2-40B4-BE49-F238E27FC236}">
                  <a16:creationId xmlns:a16="http://schemas.microsoft.com/office/drawing/2014/main" id="{6F2B6BB5-0A11-4B44-875D-66363F70C492}"/>
                </a:ext>
              </a:extLst>
            </p:cNvPr>
            <p:cNvSpPr txBox="1"/>
            <p:nvPr/>
          </p:nvSpPr>
          <p:spPr>
            <a:xfrm>
              <a:off x="5327780" y="2034073"/>
              <a:ext cx="418704" cy="369332"/>
            </a:xfrm>
            <a:prstGeom prst="rect">
              <a:avLst/>
            </a:prstGeom>
            <a:noFill/>
            <a:ln>
              <a:solidFill>
                <a:schemeClr val="accent1"/>
              </a:solidFill>
            </a:ln>
          </p:spPr>
          <p:txBody>
            <a:bodyPr wrap="none" rtlCol="0">
              <a:spAutoFit/>
            </a:bodyPr>
            <a:lstStyle/>
            <a:p>
              <a:r>
                <a:rPr lang="en-US" dirty="0"/>
                <a:t>18</a:t>
              </a:r>
            </a:p>
          </p:txBody>
        </p:sp>
        <p:sp>
          <p:nvSpPr>
            <p:cNvPr id="64" name="Rectangle 63">
              <a:extLst>
                <a:ext uri="{FF2B5EF4-FFF2-40B4-BE49-F238E27FC236}">
                  <a16:creationId xmlns:a16="http://schemas.microsoft.com/office/drawing/2014/main" id="{C25E0F87-6A02-455F-8585-3C9E49CCE593}"/>
                </a:ext>
              </a:extLst>
            </p:cNvPr>
            <p:cNvSpPr/>
            <p:nvPr/>
          </p:nvSpPr>
          <p:spPr>
            <a:xfrm>
              <a:off x="5746484" y="2034073"/>
              <a:ext cx="418704"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86E77C6B-884D-40CA-899F-81B5C689F01F}"/>
              </a:ext>
            </a:extLst>
          </p:cNvPr>
          <p:cNvSpPr/>
          <p:nvPr/>
        </p:nvSpPr>
        <p:spPr>
          <a:xfrm>
            <a:off x="4382946" y="5691967"/>
            <a:ext cx="223935" cy="185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83A3A520-1B53-40BE-A048-ECD1CB5F9F61}"/>
              </a:ext>
            </a:extLst>
          </p:cNvPr>
          <p:cNvCxnSpPr>
            <a:cxnSpLocks/>
            <a:stCxn id="76" idx="3"/>
          </p:cNvCxnSpPr>
          <p:nvPr/>
        </p:nvCxnSpPr>
        <p:spPr>
          <a:xfrm flipV="1">
            <a:off x="3818534" y="4967290"/>
            <a:ext cx="848237" cy="76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DD6B1DD-7A5F-4B33-905B-798A3C0F0BDC}"/>
              </a:ext>
            </a:extLst>
          </p:cNvPr>
          <p:cNvCxnSpPr>
            <a:cxnSpLocks/>
          </p:cNvCxnSpPr>
          <p:nvPr/>
        </p:nvCxnSpPr>
        <p:spPr>
          <a:xfrm>
            <a:off x="3890682" y="3263767"/>
            <a:ext cx="77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0C017C4-0DF5-480D-B39D-14B1DFD8E9C6}"/>
              </a:ext>
            </a:extLst>
          </p:cNvPr>
          <p:cNvCxnSpPr>
            <a:cxnSpLocks/>
            <a:stCxn id="75" idx="3"/>
          </p:cNvCxnSpPr>
          <p:nvPr/>
        </p:nvCxnSpPr>
        <p:spPr>
          <a:xfrm>
            <a:off x="3818534" y="4697969"/>
            <a:ext cx="8482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5757DA-7358-C1BE-4702-E7C11590055F}"/>
              </a:ext>
            </a:extLst>
          </p:cNvPr>
          <p:cNvSpPr/>
          <p:nvPr/>
        </p:nvSpPr>
        <p:spPr>
          <a:xfrm>
            <a:off x="5861750" y="5067301"/>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3D9EDF8-3125-722A-C46E-1FEA1F3484EC}"/>
              </a:ext>
            </a:extLst>
          </p:cNvPr>
          <p:cNvSpPr/>
          <p:nvPr/>
        </p:nvSpPr>
        <p:spPr>
          <a:xfrm>
            <a:off x="3561868" y="3476876"/>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0105ADA-FE64-2D5D-3E40-FFFD3DE995CE}"/>
              </a:ext>
            </a:extLst>
          </p:cNvPr>
          <p:cNvSpPr/>
          <p:nvPr/>
        </p:nvSpPr>
        <p:spPr>
          <a:xfrm>
            <a:off x="7195071" y="3607696"/>
            <a:ext cx="209836" cy="2616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2B0F686E-290C-DB84-522A-2CB5142F070D}"/>
              </a:ext>
            </a:extLst>
          </p:cNvPr>
          <p:cNvCxnSpPr>
            <a:cxnSpLocks/>
            <a:stCxn id="8" idx="3"/>
            <a:endCxn id="14" idx="1"/>
          </p:cNvCxnSpPr>
          <p:nvPr/>
        </p:nvCxnSpPr>
        <p:spPr>
          <a:xfrm>
            <a:off x="5529802" y="3395894"/>
            <a:ext cx="571766" cy="2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A051837-A340-2B24-A99B-BA82DF83B1A9}"/>
              </a:ext>
            </a:extLst>
          </p:cNvPr>
          <p:cNvSpPr/>
          <p:nvPr/>
        </p:nvSpPr>
        <p:spPr>
          <a:xfrm>
            <a:off x="3563401" y="3417119"/>
            <a:ext cx="236376" cy="2354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Connector: Elbow 21">
            <a:extLst>
              <a:ext uri="{FF2B5EF4-FFF2-40B4-BE49-F238E27FC236}">
                <a16:creationId xmlns:a16="http://schemas.microsoft.com/office/drawing/2014/main" id="{DD4CF0CA-BE99-2B3C-80A7-C988BCC8C931}"/>
              </a:ext>
            </a:extLst>
          </p:cNvPr>
          <p:cNvCxnSpPr>
            <a:cxnSpLocks/>
            <a:stCxn id="4" idx="3"/>
            <a:endCxn id="63" idx="2"/>
          </p:cNvCxnSpPr>
          <p:nvPr/>
        </p:nvCxnSpPr>
        <p:spPr>
          <a:xfrm>
            <a:off x="3799777" y="3534852"/>
            <a:ext cx="4040233" cy="44420"/>
          </a:xfrm>
          <a:prstGeom prst="bentConnector4">
            <a:avLst>
              <a:gd name="adj1" fmla="val 15768"/>
              <a:gd name="adj2" fmla="val 6146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A9B683-4285-7FE5-33F7-959AFB0DA74F}"/>
              </a:ext>
            </a:extLst>
          </p:cNvPr>
          <p:cNvCxnSpPr>
            <a:stCxn id="15" idx="3"/>
            <a:endCxn id="63" idx="1"/>
          </p:cNvCxnSpPr>
          <p:nvPr/>
        </p:nvCxnSpPr>
        <p:spPr>
          <a:xfrm flipV="1">
            <a:off x="6938976" y="3394606"/>
            <a:ext cx="691682" cy="3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 name="Group 1" descr="This is final state of the split. The original list is empty. ">
            <a:extLst>
              <a:ext uri="{FF2B5EF4-FFF2-40B4-BE49-F238E27FC236}">
                <a16:creationId xmlns:a16="http://schemas.microsoft.com/office/drawing/2014/main" id="{59B0347C-797F-C13E-CA8C-C25BE7FC55C9}"/>
              </a:ext>
            </a:extLst>
          </p:cNvPr>
          <p:cNvGrpSpPr/>
          <p:nvPr/>
        </p:nvGrpSpPr>
        <p:grpSpPr>
          <a:xfrm>
            <a:off x="1363519" y="1467425"/>
            <a:ext cx="2919116" cy="923330"/>
            <a:chOff x="1894663" y="1710943"/>
            <a:chExt cx="2919116" cy="923330"/>
          </a:xfrm>
        </p:grpSpPr>
        <p:sp>
          <p:nvSpPr>
            <p:cNvPr id="3" name="TextBox 2">
              <a:extLst>
                <a:ext uri="{FF2B5EF4-FFF2-40B4-BE49-F238E27FC236}">
                  <a16:creationId xmlns:a16="http://schemas.microsoft.com/office/drawing/2014/main" id="{5DF3B2B1-387D-C79F-D596-05DC61752056}"/>
                </a:ext>
              </a:extLst>
            </p:cNvPr>
            <p:cNvSpPr txBox="1"/>
            <p:nvPr/>
          </p:nvSpPr>
          <p:spPr>
            <a:xfrm>
              <a:off x="1894663" y="1803276"/>
              <a:ext cx="454612" cy="369332"/>
            </a:xfrm>
            <a:prstGeom prst="rect">
              <a:avLst/>
            </a:prstGeom>
            <a:noFill/>
          </p:spPr>
          <p:txBody>
            <a:bodyPr wrap="none" rtlCol="0">
              <a:spAutoFit/>
            </a:bodyPr>
            <a:lstStyle/>
            <a:p>
              <a:r>
                <a:rPr lang="en-US" dirty="0"/>
                <a:t>list</a:t>
              </a:r>
            </a:p>
          </p:txBody>
        </p:sp>
        <p:sp>
          <p:nvSpPr>
            <p:cNvPr id="18" name="TextBox 17">
              <a:extLst>
                <a:ext uri="{FF2B5EF4-FFF2-40B4-BE49-F238E27FC236}">
                  <a16:creationId xmlns:a16="http://schemas.microsoft.com/office/drawing/2014/main" id="{2CA18246-59F0-42D0-35DE-F8E062259CE3}"/>
                </a:ext>
              </a:extLst>
            </p:cNvPr>
            <p:cNvSpPr txBox="1"/>
            <p:nvPr/>
          </p:nvSpPr>
          <p:spPr>
            <a:xfrm>
              <a:off x="2876175" y="1710943"/>
              <a:ext cx="943656" cy="923330"/>
            </a:xfrm>
            <a:prstGeom prst="rect">
              <a:avLst/>
            </a:prstGeom>
            <a:noFill/>
            <a:ln>
              <a:solidFill>
                <a:schemeClr val="accent1"/>
              </a:solidFill>
            </a:ln>
          </p:spPr>
          <p:txBody>
            <a:bodyPr wrap="none" rtlCol="0">
              <a:spAutoFit/>
            </a:bodyPr>
            <a:lstStyle/>
            <a:p>
              <a:r>
                <a:rPr lang="en-US" dirty="0"/>
                <a:t>head</a:t>
              </a:r>
            </a:p>
            <a:p>
              <a:r>
                <a:rPr lang="en-US" dirty="0"/>
                <a:t>tail</a:t>
              </a:r>
            </a:p>
            <a:p>
              <a:r>
                <a:rPr lang="en-US" dirty="0"/>
                <a:t>count 0 </a:t>
              </a:r>
            </a:p>
          </p:txBody>
        </p:sp>
        <p:sp>
          <p:nvSpPr>
            <p:cNvPr id="23" name="Rectangle 22">
              <a:extLst>
                <a:ext uri="{FF2B5EF4-FFF2-40B4-BE49-F238E27FC236}">
                  <a16:creationId xmlns:a16="http://schemas.microsoft.com/office/drawing/2014/main" id="{72002674-50A2-7010-2C83-519ED70412BB}"/>
                </a:ext>
              </a:extLst>
            </p:cNvPr>
            <p:cNvSpPr/>
            <p:nvPr/>
          </p:nvSpPr>
          <p:spPr>
            <a:xfrm>
              <a:off x="3146809" y="2080275"/>
              <a:ext cx="194608" cy="196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0D527AA-1F3C-61FD-08D8-039E486B704E}"/>
                </a:ext>
              </a:extLst>
            </p:cNvPr>
            <p:cNvSpPr/>
            <p:nvPr/>
          </p:nvSpPr>
          <p:spPr>
            <a:xfrm>
              <a:off x="3244113" y="1833686"/>
              <a:ext cx="139964" cy="17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CD615779-AD17-4816-2A9C-5ABA36463664}"/>
                </a:ext>
              </a:extLst>
            </p:cNvPr>
            <p:cNvCxnSpPr>
              <a:stCxn id="3" idx="3"/>
              <a:endCxn id="18" idx="1"/>
            </p:cNvCxnSpPr>
            <p:nvPr/>
          </p:nvCxnSpPr>
          <p:spPr>
            <a:xfrm>
              <a:off x="2349275" y="1987942"/>
              <a:ext cx="5269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8F534CE-FCAB-8381-5B10-86B4EFA839F1}"/>
                </a:ext>
              </a:extLst>
            </p:cNvPr>
            <p:cNvGrpSpPr/>
            <p:nvPr/>
          </p:nvGrpSpPr>
          <p:grpSpPr>
            <a:xfrm>
              <a:off x="4228361" y="1752675"/>
              <a:ext cx="585418" cy="632116"/>
              <a:chOff x="4658147" y="4558296"/>
              <a:chExt cx="585418" cy="632116"/>
            </a:xfrm>
          </p:grpSpPr>
          <p:sp>
            <p:nvSpPr>
              <p:cNvPr id="38" name="TextBox 37">
                <a:extLst>
                  <a:ext uri="{FF2B5EF4-FFF2-40B4-BE49-F238E27FC236}">
                    <a16:creationId xmlns:a16="http://schemas.microsoft.com/office/drawing/2014/main" id="{25A799E3-5923-5157-512C-5A3012EED674}"/>
                  </a:ext>
                </a:extLst>
              </p:cNvPr>
              <p:cNvSpPr txBox="1"/>
              <p:nvPr/>
            </p:nvSpPr>
            <p:spPr>
              <a:xfrm>
                <a:off x="4658148" y="4558296"/>
                <a:ext cx="585417" cy="307777"/>
              </a:xfrm>
              <a:prstGeom prst="rect">
                <a:avLst/>
              </a:prstGeom>
              <a:noFill/>
              <a:ln>
                <a:solidFill>
                  <a:schemeClr val="accent1"/>
                </a:solidFill>
              </a:ln>
            </p:spPr>
            <p:txBody>
              <a:bodyPr wrap="square">
                <a:spAutoFit/>
              </a:bodyPr>
              <a:lstStyle/>
              <a:p>
                <a:r>
                  <a:rPr lang="en-US" sz="1400" b="1" dirty="0"/>
                  <a:t>None</a:t>
                </a:r>
              </a:p>
            </p:txBody>
          </p:sp>
          <p:sp>
            <p:nvSpPr>
              <p:cNvPr id="40" name="TextBox 39">
                <a:extLst>
                  <a:ext uri="{FF2B5EF4-FFF2-40B4-BE49-F238E27FC236}">
                    <a16:creationId xmlns:a16="http://schemas.microsoft.com/office/drawing/2014/main" id="{5C93BBCD-0D3C-200D-C68B-3CAEA4D19F74}"/>
                  </a:ext>
                </a:extLst>
              </p:cNvPr>
              <p:cNvSpPr txBox="1"/>
              <p:nvPr/>
            </p:nvSpPr>
            <p:spPr>
              <a:xfrm>
                <a:off x="4658147" y="4882635"/>
                <a:ext cx="585417" cy="307777"/>
              </a:xfrm>
              <a:prstGeom prst="rect">
                <a:avLst/>
              </a:prstGeom>
              <a:noFill/>
              <a:ln>
                <a:solidFill>
                  <a:schemeClr val="accent1"/>
                </a:solidFill>
              </a:ln>
            </p:spPr>
            <p:txBody>
              <a:bodyPr wrap="square">
                <a:spAutoFit/>
              </a:bodyPr>
              <a:lstStyle/>
              <a:p>
                <a:r>
                  <a:rPr lang="en-US" sz="1400" b="1" dirty="0"/>
                  <a:t>None</a:t>
                </a:r>
              </a:p>
            </p:txBody>
          </p:sp>
        </p:grpSp>
        <p:cxnSp>
          <p:nvCxnSpPr>
            <p:cNvPr id="30" name="Straight Arrow Connector 29">
              <a:extLst>
                <a:ext uri="{FF2B5EF4-FFF2-40B4-BE49-F238E27FC236}">
                  <a16:creationId xmlns:a16="http://schemas.microsoft.com/office/drawing/2014/main" id="{FFE19BB1-3798-175C-53E8-04AC3BAF308F}"/>
                </a:ext>
              </a:extLst>
            </p:cNvPr>
            <p:cNvCxnSpPr>
              <a:cxnSpLocks/>
            </p:cNvCxnSpPr>
            <p:nvPr/>
          </p:nvCxnSpPr>
          <p:spPr>
            <a:xfrm>
              <a:off x="3534126" y="1908065"/>
              <a:ext cx="7058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984CCAE-95A9-86A9-034E-D538E2852D24}"/>
                </a:ext>
              </a:extLst>
            </p:cNvPr>
            <p:cNvCxnSpPr>
              <a:cxnSpLocks/>
              <a:stCxn id="36" idx="3"/>
            </p:cNvCxnSpPr>
            <p:nvPr/>
          </p:nvCxnSpPr>
          <p:spPr>
            <a:xfrm>
              <a:off x="3347675" y="2129704"/>
              <a:ext cx="87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A455A01-2B34-9AAD-3081-E177F8DB65B6}"/>
                </a:ext>
              </a:extLst>
            </p:cNvPr>
            <p:cNvSpPr/>
            <p:nvPr/>
          </p:nvSpPr>
          <p:spPr>
            <a:xfrm>
              <a:off x="3250439" y="1835920"/>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3481AF9-E226-E34F-C7C1-EA22F465FAB4}"/>
                </a:ext>
              </a:extLst>
            </p:cNvPr>
            <p:cNvSpPr/>
            <p:nvPr/>
          </p:nvSpPr>
          <p:spPr>
            <a:xfrm>
              <a:off x="3247308" y="2057559"/>
              <a:ext cx="100367" cy="1442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6DCC8EFA-1D2B-590E-F961-F7B6D5F090FB}"/>
              </a:ext>
            </a:extLst>
          </p:cNvPr>
          <p:cNvSpPr txBox="1"/>
          <p:nvPr/>
        </p:nvSpPr>
        <p:spPr>
          <a:xfrm>
            <a:off x="8570204" y="1748766"/>
            <a:ext cx="636356" cy="307777"/>
          </a:xfrm>
          <a:prstGeom prst="rect">
            <a:avLst/>
          </a:prstGeom>
          <a:noFill/>
          <a:ln>
            <a:solidFill>
              <a:schemeClr val="tx1"/>
            </a:solidFill>
          </a:ln>
        </p:spPr>
        <p:txBody>
          <a:bodyPr wrap="square">
            <a:spAutoFit/>
          </a:bodyPr>
          <a:lstStyle/>
          <a:p>
            <a:r>
              <a:rPr lang="en-US" sz="1400" b="1" dirty="0"/>
              <a:t>None</a:t>
            </a:r>
          </a:p>
        </p:txBody>
      </p:sp>
      <p:sp>
        <p:nvSpPr>
          <p:cNvPr id="45" name="TextBox 44">
            <a:extLst>
              <a:ext uri="{FF2B5EF4-FFF2-40B4-BE49-F238E27FC236}">
                <a16:creationId xmlns:a16="http://schemas.microsoft.com/office/drawing/2014/main" id="{FB4E423C-20DD-76C3-9CB7-2F9BFA42016B}"/>
              </a:ext>
            </a:extLst>
          </p:cNvPr>
          <p:cNvSpPr txBox="1"/>
          <p:nvPr/>
        </p:nvSpPr>
        <p:spPr>
          <a:xfrm>
            <a:off x="7979257" y="3262530"/>
            <a:ext cx="636356" cy="307777"/>
          </a:xfrm>
          <a:prstGeom prst="rect">
            <a:avLst/>
          </a:prstGeom>
          <a:noFill/>
        </p:spPr>
        <p:txBody>
          <a:bodyPr wrap="square">
            <a:spAutoFit/>
          </a:bodyPr>
          <a:lstStyle/>
          <a:p>
            <a:r>
              <a:rPr lang="en-US" sz="1400" b="1" dirty="0"/>
              <a:t>None</a:t>
            </a:r>
          </a:p>
        </p:txBody>
      </p:sp>
      <p:sp>
        <p:nvSpPr>
          <p:cNvPr id="46" name="TextBox 45">
            <a:extLst>
              <a:ext uri="{FF2B5EF4-FFF2-40B4-BE49-F238E27FC236}">
                <a16:creationId xmlns:a16="http://schemas.microsoft.com/office/drawing/2014/main" id="{9CAF22A6-ED31-D127-3DE3-F5BEFEF4A64E}"/>
              </a:ext>
            </a:extLst>
          </p:cNvPr>
          <p:cNvSpPr txBox="1"/>
          <p:nvPr/>
        </p:nvSpPr>
        <p:spPr>
          <a:xfrm>
            <a:off x="5002272" y="4701741"/>
            <a:ext cx="636356" cy="307777"/>
          </a:xfrm>
          <a:prstGeom prst="rect">
            <a:avLst/>
          </a:prstGeom>
          <a:noFill/>
        </p:spPr>
        <p:txBody>
          <a:bodyPr wrap="square">
            <a:spAutoFit/>
          </a:bodyPr>
          <a:lstStyle/>
          <a:p>
            <a:r>
              <a:rPr lang="en-US" sz="1400" b="1" dirty="0"/>
              <a:t>None</a:t>
            </a:r>
          </a:p>
        </p:txBody>
      </p:sp>
      <p:sp>
        <p:nvSpPr>
          <p:cNvPr id="5" name="TextBox 4">
            <a:extLst>
              <a:ext uri="{FF2B5EF4-FFF2-40B4-BE49-F238E27FC236}">
                <a16:creationId xmlns:a16="http://schemas.microsoft.com/office/drawing/2014/main" id="{91CE37D9-2729-571A-2E18-FF0DC7AFB1F7}"/>
              </a:ext>
            </a:extLst>
          </p:cNvPr>
          <p:cNvSpPr txBox="1"/>
          <p:nvPr/>
        </p:nvSpPr>
        <p:spPr>
          <a:xfrm>
            <a:off x="8536426" y="909933"/>
            <a:ext cx="1191801" cy="369332"/>
          </a:xfrm>
          <a:prstGeom prst="rect">
            <a:avLst/>
          </a:prstGeom>
          <a:noFill/>
          <a:ln>
            <a:noFill/>
          </a:ln>
        </p:spPr>
        <p:txBody>
          <a:bodyPr wrap="none" rtlCol="0">
            <a:spAutoFit/>
          </a:bodyPr>
          <a:lstStyle/>
          <a:p>
            <a:r>
              <a:rPr lang="en-US" dirty="0" err="1"/>
              <a:t>next_node</a:t>
            </a:r>
            <a:endParaRPr lang="en-US" dirty="0"/>
          </a:p>
        </p:txBody>
      </p:sp>
      <p:cxnSp>
        <p:nvCxnSpPr>
          <p:cNvPr id="6" name="Straight Arrow Connector 5">
            <a:extLst>
              <a:ext uri="{FF2B5EF4-FFF2-40B4-BE49-F238E27FC236}">
                <a16:creationId xmlns:a16="http://schemas.microsoft.com/office/drawing/2014/main" id="{C6C8B942-9B76-B9F4-8D5A-186242C008DE}"/>
              </a:ext>
            </a:extLst>
          </p:cNvPr>
          <p:cNvCxnSpPr>
            <a:cxnSpLocks/>
            <a:stCxn id="5" idx="2"/>
          </p:cNvCxnSpPr>
          <p:nvPr/>
        </p:nvCxnSpPr>
        <p:spPr>
          <a:xfrm flipH="1">
            <a:off x="8931610" y="1279265"/>
            <a:ext cx="200717" cy="38528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26E4398-6F74-250E-AA1E-43CFC6AA5671}"/>
              </a:ext>
            </a:extLst>
          </p:cNvPr>
          <p:cNvCxnSpPr>
            <a:stCxn id="56" idx="2"/>
          </p:cNvCxnSpPr>
          <p:nvPr/>
        </p:nvCxnSpPr>
        <p:spPr>
          <a:xfrm flipV="1">
            <a:off x="7534661" y="1958331"/>
            <a:ext cx="933405" cy="1736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5AE3D7A-5976-610C-54B5-C3DC8F07309E}"/>
              </a:ext>
            </a:extLst>
          </p:cNvPr>
          <p:cNvSpPr txBox="1"/>
          <p:nvPr/>
        </p:nvSpPr>
        <p:spPr>
          <a:xfrm>
            <a:off x="8758366" y="2674145"/>
            <a:ext cx="2140516" cy="369332"/>
          </a:xfrm>
          <a:prstGeom prst="rect">
            <a:avLst/>
          </a:prstGeom>
          <a:noFill/>
        </p:spPr>
        <p:txBody>
          <a:bodyPr wrap="square">
            <a:spAutoFit/>
          </a:bodyPr>
          <a:lstStyle/>
          <a:p>
            <a:r>
              <a:rPr lang="en-US" sz="1800" dirty="0"/>
              <a:t>current = </a:t>
            </a:r>
            <a:r>
              <a:rPr lang="en-US" sz="1800" dirty="0" err="1"/>
              <a:t>next_node</a:t>
            </a:r>
            <a:endParaRPr lang="en-US" dirty="0"/>
          </a:p>
        </p:txBody>
      </p:sp>
      <p:grpSp>
        <p:nvGrpSpPr>
          <p:cNvPr id="47" name="Group 46">
            <a:extLst>
              <a:ext uri="{FF2B5EF4-FFF2-40B4-BE49-F238E27FC236}">
                <a16:creationId xmlns:a16="http://schemas.microsoft.com/office/drawing/2014/main" id="{6F53E295-BD1F-8F93-50B8-E110F14D0707}"/>
              </a:ext>
            </a:extLst>
          </p:cNvPr>
          <p:cNvGrpSpPr/>
          <p:nvPr/>
        </p:nvGrpSpPr>
        <p:grpSpPr>
          <a:xfrm>
            <a:off x="7840010" y="5035263"/>
            <a:ext cx="3192509" cy="948446"/>
            <a:chOff x="279606" y="5645073"/>
            <a:chExt cx="3192509" cy="948446"/>
          </a:xfrm>
        </p:grpSpPr>
        <p:grpSp>
          <p:nvGrpSpPr>
            <p:cNvPr id="48" name="Group 47">
              <a:extLst>
                <a:ext uri="{FF2B5EF4-FFF2-40B4-BE49-F238E27FC236}">
                  <a16:creationId xmlns:a16="http://schemas.microsoft.com/office/drawing/2014/main" id="{1906420D-D595-120C-7A90-61EFD04A8225}"/>
                </a:ext>
              </a:extLst>
            </p:cNvPr>
            <p:cNvGrpSpPr/>
            <p:nvPr/>
          </p:nvGrpSpPr>
          <p:grpSpPr>
            <a:xfrm>
              <a:off x="378739" y="5645073"/>
              <a:ext cx="3093376" cy="369332"/>
              <a:chOff x="4680011" y="1838933"/>
              <a:chExt cx="3093376" cy="369332"/>
            </a:xfrm>
          </p:grpSpPr>
          <p:sp>
            <p:nvSpPr>
              <p:cNvPr id="71" name="TextBox 70">
                <a:extLst>
                  <a:ext uri="{FF2B5EF4-FFF2-40B4-BE49-F238E27FC236}">
                    <a16:creationId xmlns:a16="http://schemas.microsoft.com/office/drawing/2014/main" id="{9DC83797-3B5B-D6B7-015E-CA86E6D5C23D}"/>
                  </a:ext>
                </a:extLst>
              </p:cNvPr>
              <p:cNvSpPr txBox="1"/>
              <p:nvPr/>
            </p:nvSpPr>
            <p:spPr>
              <a:xfrm>
                <a:off x="5453008" y="1838933"/>
                <a:ext cx="2320379" cy="369332"/>
              </a:xfrm>
              <a:prstGeom prst="rect">
                <a:avLst/>
              </a:prstGeom>
              <a:noFill/>
              <a:ln>
                <a:noFill/>
                <a:prstDash val="lgDash"/>
              </a:ln>
            </p:spPr>
            <p:txBody>
              <a:bodyPr wrap="none" rtlCol="0">
                <a:spAutoFit/>
              </a:bodyPr>
              <a:lstStyle/>
              <a:p>
                <a:r>
                  <a:rPr lang="en-US" dirty="0"/>
                  <a:t>Reference not affected</a:t>
                </a:r>
              </a:p>
            </p:txBody>
          </p:sp>
          <p:cxnSp>
            <p:nvCxnSpPr>
              <p:cNvPr id="72" name="Straight Arrow Connector 71">
                <a:extLst>
                  <a:ext uri="{FF2B5EF4-FFF2-40B4-BE49-F238E27FC236}">
                    <a16:creationId xmlns:a16="http://schemas.microsoft.com/office/drawing/2014/main" id="{5776C3E8-CC7B-29A0-9482-82E4CEE4349B}"/>
                  </a:ext>
                </a:extLst>
              </p:cNvPr>
              <p:cNvCxnSpPr>
                <a:cxnSpLocks/>
                <a:endCxn id="71" idx="1"/>
              </p:cNvCxnSpPr>
              <p:nvPr/>
            </p:nvCxnSpPr>
            <p:spPr>
              <a:xfrm>
                <a:off x="4680011" y="2023599"/>
                <a:ext cx="772997"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1CC391C3-D729-5E63-CBE7-20AE1312E5EA}"/>
                </a:ext>
              </a:extLst>
            </p:cNvPr>
            <p:cNvGrpSpPr/>
            <p:nvPr/>
          </p:nvGrpSpPr>
          <p:grpSpPr>
            <a:xfrm>
              <a:off x="378739" y="5934630"/>
              <a:ext cx="2699807" cy="369332"/>
              <a:chOff x="4680011" y="2100359"/>
              <a:chExt cx="2699807" cy="369332"/>
            </a:xfrm>
          </p:grpSpPr>
          <p:sp>
            <p:nvSpPr>
              <p:cNvPr id="68" name="TextBox 67">
                <a:extLst>
                  <a:ext uri="{FF2B5EF4-FFF2-40B4-BE49-F238E27FC236}">
                    <a16:creationId xmlns:a16="http://schemas.microsoft.com/office/drawing/2014/main" id="{F60122BA-4A8C-E455-9596-3CAA5DA9D8B4}"/>
                  </a:ext>
                </a:extLst>
              </p:cNvPr>
              <p:cNvSpPr txBox="1"/>
              <p:nvPr/>
            </p:nvSpPr>
            <p:spPr>
              <a:xfrm>
                <a:off x="5453008" y="2100359"/>
                <a:ext cx="1926810" cy="369332"/>
              </a:xfrm>
              <a:prstGeom prst="rect">
                <a:avLst/>
              </a:prstGeom>
              <a:noFill/>
              <a:ln>
                <a:noFill/>
                <a:prstDash val="lgDash"/>
              </a:ln>
            </p:spPr>
            <p:txBody>
              <a:bodyPr wrap="none" rtlCol="0">
                <a:spAutoFit/>
              </a:bodyPr>
              <a:lstStyle/>
              <a:p>
                <a:r>
                  <a:rPr lang="en-US" dirty="0"/>
                  <a:t>Affected reference</a:t>
                </a:r>
              </a:p>
            </p:txBody>
          </p:sp>
          <p:cxnSp>
            <p:nvCxnSpPr>
              <p:cNvPr id="69" name="Straight Arrow Connector 68">
                <a:extLst>
                  <a:ext uri="{FF2B5EF4-FFF2-40B4-BE49-F238E27FC236}">
                    <a16:creationId xmlns:a16="http://schemas.microsoft.com/office/drawing/2014/main" id="{4CBFDF19-756C-D315-4D0E-61B043208C67}"/>
                  </a:ext>
                </a:extLst>
              </p:cNvPr>
              <p:cNvCxnSpPr>
                <a:cxnSpLocks/>
                <a:endCxn id="68" idx="1"/>
              </p:cNvCxnSpPr>
              <p:nvPr/>
            </p:nvCxnSpPr>
            <p:spPr>
              <a:xfrm flipV="1">
                <a:off x="4680011" y="2285025"/>
                <a:ext cx="772997" cy="10382"/>
              </a:xfrm>
              <a:prstGeom prst="straightConnector1">
                <a:avLst/>
              </a:prstGeom>
              <a:ln>
                <a:solidFill>
                  <a:schemeClr val="bg2">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FE5C1912-C3A2-A0DB-F435-8B99C10D90FD}"/>
                </a:ext>
              </a:extLst>
            </p:cNvPr>
            <p:cNvGrpSpPr/>
            <p:nvPr/>
          </p:nvGrpSpPr>
          <p:grpSpPr>
            <a:xfrm>
              <a:off x="378739" y="6224187"/>
              <a:ext cx="2337271" cy="369332"/>
              <a:chOff x="4758431" y="3161942"/>
              <a:chExt cx="2337271" cy="369332"/>
            </a:xfrm>
          </p:grpSpPr>
          <p:sp>
            <p:nvSpPr>
              <p:cNvPr id="65" name="TextBox 64">
                <a:extLst>
                  <a:ext uri="{FF2B5EF4-FFF2-40B4-BE49-F238E27FC236}">
                    <a16:creationId xmlns:a16="http://schemas.microsoft.com/office/drawing/2014/main" id="{F09B001A-62E5-FBE6-E191-09F7F1E3DEC7}"/>
                  </a:ext>
                </a:extLst>
              </p:cNvPr>
              <p:cNvSpPr txBox="1"/>
              <p:nvPr/>
            </p:nvSpPr>
            <p:spPr>
              <a:xfrm>
                <a:off x="5531428" y="3161942"/>
                <a:ext cx="1564274" cy="369332"/>
              </a:xfrm>
              <a:prstGeom prst="rect">
                <a:avLst/>
              </a:prstGeom>
              <a:noFill/>
              <a:ln>
                <a:noFill/>
                <a:prstDash val="lgDash"/>
              </a:ln>
            </p:spPr>
            <p:txBody>
              <a:bodyPr wrap="none" rtlCol="0">
                <a:spAutoFit/>
              </a:bodyPr>
              <a:lstStyle/>
              <a:p>
                <a:r>
                  <a:rPr lang="en-US" dirty="0"/>
                  <a:t>New reference</a:t>
                </a:r>
              </a:p>
            </p:txBody>
          </p:sp>
          <p:cxnSp>
            <p:nvCxnSpPr>
              <p:cNvPr id="66" name="Straight Arrow Connector 65">
                <a:extLst>
                  <a:ext uri="{FF2B5EF4-FFF2-40B4-BE49-F238E27FC236}">
                    <a16:creationId xmlns:a16="http://schemas.microsoft.com/office/drawing/2014/main" id="{9BB46C3B-5DA4-F639-FC51-1E8AE4EC9BEC}"/>
                  </a:ext>
                </a:extLst>
              </p:cNvPr>
              <p:cNvCxnSpPr>
                <a:cxnSpLocks/>
                <a:endCxn id="65" idx="1"/>
              </p:cNvCxnSpPr>
              <p:nvPr/>
            </p:nvCxnSpPr>
            <p:spPr>
              <a:xfrm>
                <a:off x="4758431" y="3346608"/>
                <a:ext cx="772997" cy="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61" name="Rectangle 60">
              <a:extLst>
                <a:ext uri="{FF2B5EF4-FFF2-40B4-BE49-F238E27FC236}">
                  <a16:creationId xmlns:a16="http://schemas.microsoft.com/office/drawing/2014/main" id="{00D2AA3E-7E10-0B23-3E57-25801915F551}"/>
                </a:ext>
              </a:extLst>
            </p:cNvPr>
            <p:cNvSpPr/>
            <p:nvPr/>
          </p:nvSpPr>
          <p:spPr>
            <a:xfrm>
              <a:off x="279606" y="5645073"/>
              <a:ext cx="3138300" cy="948446"/>
            </a:xfrm>
            <a:prstGeom prst="rect">
              <a:avLst/>
            </a:prstGeom>
            <a:noFill/>
            <a:ln w="28575">
              <a:solidFill>
                <a:schemeClr val="accent1">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63570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1045</TotalTime>
  <Words>1003</Words>
  <Application>Microsoft Office PowerPoint</Application>
  <PresentationFormat>Widescreen</PresentationFormat>
  <Paragraphs>380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Courier New</vt:lpstr>
      <vt:lpstr>Office Theme</vt:lpstr>
      <vt:lpstr>splitEvensOdds Example</vt:lpstr>
      <vt:lpstr>Pseudocode Algorithm for split_even_odd()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sks</dc:creator>
  <cp:lastModifiedBy>Sally Schaffner</cp:lastModifiedBy>
  <cp:revision>50</cp:revision>
  <dcterms:created xsi:type="dcterms:W3CDTF">2019-11-04T22:48:41Z</dcterms:created>
  <dcterms:modified xsi:type="dcterms:W3CDTF">2025-10-24T01:59:49Z</dcterms:modified>
</cp:coreProperties>
</file>